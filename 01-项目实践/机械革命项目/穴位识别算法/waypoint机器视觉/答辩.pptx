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001" r:id="rId3"/>
    <p:sldId id="1002" r:id="rId5"/>
    <p:sldId id="1003" r:id="rId6"/>
    <p:sldId id="1004" r:id="rId7"/>
    <p:sldId id="1005" r:id="rId8"/>
    <p:sldId id="1006" r:id="rId9"/>
    <p:sldId id="1007" r:id="rId10"/>
    <p:sldId id="1008" r:id="rId11"/>
    <p:sldId id="1009" r:id="rId12"/>
    <p:sldId id="1010" r:id="rId13"/>
    <p:sldId id="1011" r:id="rId14"/>
    <p:sldId id="1012" r:id="rId15"/>
    <p:sldId id="1013" r:id="rId16"/>
    <p:sldId id="1014" r:id="rId17"/>
    <p:sldId id="1015" r:id="rId18"/>
    <p:sldId id="1016" r:id="rId19"/>
    <p:sldId id="1017" r:id="rId20"/>
    <p:sldId id="1018" r:id="rId21"/>
    <p:sldId id="5001" r:id="rId22"/>
    <p:sldId id="5002" r:id="rId23"/>
    <p:sldId id="5003" r:id="rId24"/>
    <p:sldId id="5004" r:id="rId25"/>
    <p:sldId id="5005" r:id="rId26"/>
    <p:sldId id="1019" r:id="rId27"/>
    <p:sldId id="1020" r:id="rId28"/>
    <p:sldId id="1021" r:id="rId29"/>
    <p:sldId id="5006" r:id="rId30"/>
    <p:sldId id="1022" r:id="rId31"/>
  </p:sldIdLst>
  <p:sldSz cx="12192000" cy="6858000"/>
  <p:notesSz cx="12192000" cy="6858000"/>
  <p:custDataLst>
    <p:tags r:id="rId35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12" userDrawn="1">
          <p15:clr>
            <a:srgbClr val="A4A3A4"/>
          </p15:clr>
        </p15:guide>
        <p15:guide id="2" pos="20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5D09"/>
    <a:srgbClr val="236011"/>
    <a:srgbClr val="558ED5"/>
    <a:srgbClr val="E7560A"/>
    <a:srgbClr val="EF5B09"/>
    <a:srgbClr val="EE5908"/>
    <a:srgbClr val="0460AE"/>
    <a:srgbClr val="0260AF"/>
    <a:srgbClr val="0461AF"/>
    <a:srgbClr val="6794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12"/>
        <p:guide pos="20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gs" Target="tags/tag7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"/>
        <c:varyColors val="0"/>
        <c:ser>
          <c:idx val="0"/>
          <c:order val="0"/>
          <c:tx>
            <c:strRef>
              <c:f>颈部</c:f>
              <c:strCache>
                <c:ptCount val="1"/>
                <c:pt idx="0">
                  <c:v>颈部</c:v>
                </c:pt>
              </c:strCache>
            </c:strRef>
          </c:tx>
          <c:spPr>
            <a:ln w="22860" cap="rnd" cmpd="sng" algn="ctr">
              <a:solidFill>
                <a:srgbClr val="006B59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</c:formatCode>
                <c:ptCount val="100"/>
                <c:pt idx="0">
                  <c:v>-0.602424952</c:v>
                </c:pt>
                <c:pt idx="1">
                  <c:v>-1.2409368118</c:v>
                </c:pt>
                <c:pt idx="2">
                  <c:v>-1.59311933</c:v>
                </c:pt>
                <c:pt idx="3">
                  <c:v>-1.6456994377</c:v>
                </c:pt>
                <c:pt idx="4">
                  <c:v>-1.6095948435</c:v>
                </c:pt>
                <c:pt idx="5">
                  <c:v>-1.8507808873</c:v>
                </c:pt>
                <c:pt idx="6">
                  <c:v>-1.6369524055</c:v>
                </c:pt>
                <c:pt idx="7">
                  <c:v>-1.9065783148</c:v>
                </c:pt>
                <c:pt idx="8">
                  <c:v>-1.6965879294</c:v>
                </c:pt>
                <c:pt idx="9">
                  <c:v>-2.0030507515</c:v>
                </c:pt>
                <c:pt idx="10">
                  <c:v>-1.7723703504</c:v>
                </c:pt>
                <c:pt idx="11">
                  <c:v>-2.0520763802</c:v>
                </c:pt>
                <c:pt idx="12">
                  <c:v>-2.0883098412</c:v>
                </c:pt>
                <c:pt idx="13">
                  <c:v>-1.9500071431</c:v>
                </c:pt>
                <c:pt idx="14">
                  <c:v>-2.0609802236</c:v>
                </c:pt>
                <c:pt idx="15">
                  <c:v>-2.1624115618</c:v>
                </c:pt>
                <c:pt idx="16">
                  <c:v>-2.2464169411</c:v>
                </c:pt>
                <c:pt idx="17">
                  <c:v>-1.8758219445</c:v>
                </c:pt>
                <c:pt idx="18">
                  <c:v>-1.8309136425</c:v>
                </c:pt>
                <c:pt idx="19">
                  <c:v>-2.1290111862</c:v>
                </c:pt>
                <c:pt idx="20">
                  <c:v>-1.9086848403</c:v>
                </c:pt>
                <c:pt idx="21">
                  <c:v>-1.9515581964</c:v>
                </c:pt>
                <c:pt idx="22">
                  <c:v>-2.3645162532</c:v>
                </c:pt>
                <c:pt idx="23">
                  <c:v>-2.2839966564</c:v>
                </c:pt>
                <c:pt idx="24">
                  <c:v>-2.0061230851</c:v>
                </c:pt>
                <c:pt idx="25">
                  <c:v>-2.1354889189</c:v>
                </c:pt>
                <c:pt idx="26">
                  <c:v>-1.8604357338</c:v>
                </c:pt>
                <c:pt idx="27">
                  <c:v>-1.9718355806</c:v>
                </c:pt>
                <c:pt idx="28">
                  <c:v>-2.1007268127</c:v>
                </c:pt>
                <c:pt idx="29">
                  <c:v>-1.9377941912</c:v>
                </c:pt>
                <c:pt idx="30">
                  <c:v>-2.1555228243</c:v>
                </c:pt>
                <c:pt idx="31">
                  <c:v>-2.0291883891</c:v>
                </c:pt>
                <c:pt idx="32">
                  <c:v>-2.0604807474</c:v>
                </c:pt>
                <c:pt idx="33">
                  <c:v>-1.9244530386</c:v>
                </c:pt>
                <c:pt idx="34">
                  <c:v>-1.9625735021</c:v>
                </c:pt>
                <c:pt idx="35">
                  <c:v>-2.30980392</c:v>
                </c:pt>
                <c:pt idx="36">
                  <c:v>-2.3526170299</c:v>
                </c:pt>
                <c:pt idx="37">
                  <c:v>-2.1732774798</c:v>
                </c:pt>
                <c:pt idx="38">
                  <c:v>-2.0762380392</c:v>
                </c:pt>
                <c:pt idx="39">
                  <c:v>-2.0757207139</c:v>
                </c:pt>
                <c:pt idx="40">
                  <c:v>-2.2013493546</c:v>
                </c:pt>
                <c:pt idx="41">
                  <c:v>-2.2204035087</c:v>
                </c:pt>
                <c:pt idx="42">
                  <c:v>-2.2596373105</c:v>
                </c:pt>
                <c:pt idx="43">
                  <c:v>-2.1284270645</c:v>
                </c:pt>
                <c:pt idx="44">
                  <c:v>-2.1095789812</c:v>
                </c:pt>
                <c:pt idx="45">
                  <c:v>-1.9969705294</c:v>
                </c:pt>
                <c:pt idx="46">
                  <c:v>-2.0584885674</c:v>
                </c:pt>
                <c:pt idx="47">
                  <c:v>-2.1992829217</c:v>
                </c:pt>
                <c:pt idx="48">
                  <c:v>-2.0447934625</c:v>
                </c:pt>
                <c:pt idx="49">
                  <c:v>-2.1598939055</c:v>
                </c:pt>
                <c:pt idx="50">
                  <c:v>-2.1837587</c:v>
                </c:pt>
                <c:pt idx="51">
                  <c:v>-2.2240256689</c:v>
                </c:pt>
                <c:pt idx="52">
                  <c:v>-2.2055119533</c:v>
                </c:pt>
                <c:pt idx="53">
                  <c:v>-2.053547735</c:v>
                </c:pt>
                <c:pt idx="54">
                  <c:v>-2.0282604091</c:v>
                </c:pt>
                <c:pt idx="55">
                  <c:v>-2.1830961606</c:v>
                </c:pt>
                <c:pt idx="56">
                  <c:v>-2.1687703061</c:v>
                </c:pt>
                <c:pt idx="57">
                  <c:v>-2.1062382379</c:v>
                </c:pt>
                <c:pt idx="58">
                  <c:v>-2.1255181823</c:v>
                </c:pt>
                <c:pt idx="59">
                  <c:v>-2.1278437273</c:v>
                </c:pt>
                <c:pt idx="60">
                  <c:v>-2.1307682803</c:v>
                </c:pt>
                <c:pt idx="61">
                  <c:v>-2.051098239</c:v>
                </c:pt>
                <c:pt idx="62">
                  <c:v>-2.1732774798</c:v>
                </c:pt>
                <c:pt idx="63">
                  <c:v>-2.1408617027</c:v>
                </c:pt>
                <c:pt idx="64">
                  <c:v>-2.1272611725</c:v>
                </c:pt>
                <c:pt idx="65">
                  <c:v>-2.1067932469</c:v>
                </c:pt>
                <c:pt idx="66">
                  <c:v>-2.0609802236</c:v>
                </c:pt>
                <c:pt idx="67">
                  <c:v>-2.1051303433</c:v>
                </c:pt>
                <c:pt idx="68">
                  <c:v>-2.2062096153</c:v>
                </c:pt>
                <c:pt idx="69">
                  <c:v>-2.124360063</c:v>
                </c:pt>
                <c:pt idx="70">
                  <c:v>-2.1567672219</c:v>
                </c:pt>
                <c:pt idx="71">
                  <c:v>-2.1129456219</c:v>
                </c:pt>
                <c:pt idx="72">
                  <c:v>-2.1745738822</c:v>
                </c:pt>
                <c:pt idx="73">
                  <c:v>-2.0846001648</c:v>
                </c:pt>
                <c:pt idx="74">
                  <c:v>-2.1408617027</c:v>
                </c:pt>
                <c:pt idx="75">
                  <c:v>-2.0520763802</c:v>
                </c:pt>
                <c:pt idx="76">
                  <c:v>-2.1034737825</c:v>
                </c:pt>
                <c:pt idx="77">
                  <c:v>-2.077274542</c:v>
                </c:pt>
                <c:pt idx="78">
                  <c:v>-2.0604807474</c:v>
                </c:pt>
                <c:pt idx="79">
                  <c:v>-2.0584885674</c:v>
                </c:pt>
                <c:pt idx="80">
                  <c:v>-2.0752040042</c:v>
                </c:pt>
                <c:pt idx="81">
                  <c:v>-2.1029229968</c:v>
                </c:pt>
                <c:pt idx="82">
                  <c:v>-2.1140736602</c:v>
                </c:pt>
                <c:pt idx="83">
                  <c:v>-2.0665127122</c:v>
                </c:pt>
                <c:pt idx="84">
                  <c:v>-2.0400051617</c:v>
                </c:pt>
                <c:pt idx="85">
                  <c:v>-2.1029229968</c:v>
                </c:pt>
                <c:pt idx="86">
                  <c:v>-2.117475462</c:v>
                </c:pt>
                <c:pt idx="87">
                  <c:v>-2.1220530484</c:v>
                </c:pt>
                <c:pt idx="88">
                  <c:v>-2.1232050238</c:v>
                </c:pt>
                <c:pt idx="89">
                  <c:v>-2.1249387366</c:v>
                </c:pt>
                <c:pt idx="90">
                  <c:v>-2.1536628879</c:v>
                </c:pt>
                <c:pt idx="91">
                  <c:v>-2.1249387366</c:v>
                </c:pt>
                <c:pt idx="92">
                  <c:v>-2.1561445774</c:v>
                </c:pt>
                <c:pt idx="93">
                  <c:v>-2.1438755558</c:v>
                </c:pt>
                <c:pt idx="94">
                  <c:v>-2.1062382379</c:v>
                </c:pt>
                <c:pt idx="95">
                  <c:v>-2.1390633793</c:v>
                </c:pt>
                <c:pt idx="96">
                  <c:v>-2.1511952989</c:v>
                </c:pt>
                <c:pt idx="97">
                  <c:v>-2.1469104701</c:v>
                </c:pt>
                <c:pt idx="98">
                  <c:v>-2.1674910873</c:v>
                </c:pt>
                <c:pt idx="99">
                  <c:v>-2.1408617027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脐部</c:f>
              <c:strCache>
                <c:ptCount val="1"/>
                <c:pt idx="0">
                  <c:v>脐部</c:v>
                </c:pt>
              </c:strCache>
            </c:strRef>
          </c:tx>
          <c:spPr>
            <a:ln w="22860" cap="rnd" cmpd="sng" algn="ctr">
              <a:solidFill>
                <a:srgbClr val="C57A34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</c:formatCode>
                <c:ptCount val="100"/>
                <c:pt idx="0">
                  <c:v>-0.8023886768</c:v>
                </c:pt>
                <c:pt idx="1">
                  <c:v>-1.5570501304</c:v>
                </c:pt>
                <c:pt idx="2">
                  <c:v>-1.9913998282</c:v>
                </c:pt>
                <c:pt idx="3">
                  <c:v>-1.960982678</c:v>
                </c:pt>
                <c:pt idx="4">
                  <c:v>-2.2949920407</c:v>
                </c:pt>
                <c:pt idx="5">
                  <c:v>-2.193820026</c:v>
                </c:pt>
                <c:pt idx="6">
                  <c:v>-2.4522252946</c:v>
                </c:pt>
                <c:pt idx="7">
                  <c:v>-2.651695137</c:v>
                </c:pt>
                <c:pt idx="8">
                  <c:v>-2.5142785735</c:v>
                </c:pt>
                <c:pt idx="9">
                  <c:v>-2.2644011003</c:v>
                </c:pt>
                <c:pt idx="10">
                  <c:v>-2.8386319978</c:v>
                </c:pt>
                <c:pt idx="11">
                  <c:v>-2.7495799977</c:v>
                </c:pt>
                <c:pt idx="12">
                  <c:v>-2.6216020991</c:v>
                </c:pt>
                <c:pt idx="13">
                  <c:v>-2.8210230527</c:v>
                </c:pt>
                <c:pt idx="14">
                  <c:v>-2.6695862267</c:v>
                </c:pt>
                <c:pt idx="15">
                  <c:v>-2.54515514</c:v>
                </c:pt>
                <c:pt idx="16">
                  <c:v>-2.7328282716</c:v>
                </c:pt>
                <c:pt idx="17">
                  <c:v>-2.5590909179</c:v>
                </c:pt>
                <c:pt idx="18">
                  <c:v>-2.5670307091</c:v>
                </c:pt>
                <c:pt idx="19">
                  <c:v>-2.7670038896</c:v>
                </c:pt>
                <c:pt idx="20">
                  <c:v>-2.507239611</c:v>
                </c:pt>
                <c:pt idx="21">
                  <c:v>-2.7328282716</c:v>
                </c:pt>
                <c:pt idx="22">
                  <c:v>-2.8268137316</c:v>
                </c:pt>
                <c:pt idx="23">
                  <c:v>-2.7644715531</c:v>
                </c:pt>
                <c:pt idx="24">
                  <c:v>-2.7721132954</c:v>
                </c:pt>
                <c:pt idx="25">
                  <c:v>-2.8477116556</c:v>
                </c:pt>
                <c:pt idx="26">
                  <c:v>-2.903089987</c:v>
                </c:pt>
                <c:pt idx="27">
                  <c:v>-2.8569851997</c:v>
                </c:pt>
                <c:pt idx="28">
                  <c:v>-3.0222763947</c:v>
                </c:pt>
                <c:pt idx="29">
                  <c:v>-3.0655015488</c:v>
                </c:pt>
                <c:pt idx="30">
                  <c:v>-2.9100948886</c:v>
                </c:pt>
                <c:pt idx="31">
                  <c:v>-2.8664610916</c:v>
                </c:pt>
                <c:pt idx="32">
                  <c:v>-3</c:v>
                </c:pt>
                <c:pt idx="33">
                  <c:v>-2.876148359</c:v>
                </c:pt>
                <c:pt idx="34">
                  <c:v>-2.9546770212</c:v>
                </c:pt>
                <c:pt idx="35">
                  <c:v>-2.9706162223</c:v>
                </c:pt>
                <c:pt idx="36">
                  <c:v>-2.9546770212</c:v>
                </c:pt>
                <c:pt idx="37">
                  <c:v>-3.2076083105</c:v>
                </c:pt>
                <c:pt idx="38">
                  <c:v>-3.0268721464</c:v>
                </c:pt>
                <c:pt idx="39">
                  <c:v>-3.017728767</c:v>
                </c:pt>
                <c:pt idx="40">
                  <c:v>-2.8927900304</c:v>
                </c:pt>
                <c:pt idx="41">
                  <c:v>-3</c:v>
                </c:pt>
                <c:pt idx="42">
                  <c:v>-3.0655015488</c:v>
                </c:pt>
                <c:pt idx="43">
                  <c:v>-3.0362121727</c:v>
                </c:pt>
                <c:pt idx="44">
                  <c:v>-3.0132282657</c:v>
                </c:pt>
                <c:pt idx="45">
                  <c:v>-3.0655015488</c:v>
                </c:pt>
                <c:pt idx="46">
                  <c:v>-3</c:v>
                </c:pt>
                <c:pt idx="47">
                  <c:v>-2.8794260688</c:v>
                </c:pt>
                <c:pt idx="48">
                  <c:v>-3.017728767</c:v>
                </c:pt>
                <c:pt idx="49">
                  <c:v>-2.9829666607</c:v>
                </c:pt>
                <c:pt idx="50">
                  <c:v>-3.1135092748</c:v>
                </c:pt>
                <c:pt idx="51">
                  <c:v>-3.0809219076</c:v>
                </c:pt>
                <c:pt idx="52">
                  <c:v>-3.0132282657</c:v>
                </c:pt>
                <c:pt idx="53">
                  <c:v>-2.9586073148</c:v>
                </c:pt>
                <c:pt idx="54">
                  <c:v>-3.1366771399</c:v>
                </c:pt>
                <c:pt idx="55">
                  <c:v>-3.1079053973</c:v>
                </c:pt>
                <c:pt idx="56">
                  <c:v>-3.0506099934</c:v>
                </c:pt>
                <c:pt idx="57">
                  <c:v>-3.0555173278</c:v>
                </c:pt>
                <c:pt idx="58">
                  <c:v>-3.1870866434</c:v>
                </c:pt>
                <c:pt idx="59">
                  <c:v>-3.1135092748</c:v>
                </c:pt>
                <c:pt idx="60">
                  <c:v>-3.0861861476</c:v>
                </c:pt>
                <c:pt idx="61">
                  <c:v>-3.1079053973</c:v>
                </c:pt>
                <c:pt idx="62">
                  <c:v>-3.1191864077</c:v>
                </c:pt>
                <c:pt idx="63">
                  <c:v>-3.1249387366</c:v>
                </c:pt>
                <c:pt idx="64">
                  <c:v>-3.1611509093</c:v>
                </c:pt>
                <c:pt idx="65">
                  <c:v>-3.0604807474</c:v>
                </c:pt>
                <c:pt idx="66">
                  <c:v>-3.096910013</c:v>
                </c:pt>
                <c:pt idx="67">
                  <c:v>-3.0655015488</c:v>
                </c:pt>
                <c:pt idx="68">
                  <c:v>-3.1307682803</c:v>
                </c:pt>
                <c:pt idx="69">
                  <c:v>-3.1739251973</c:v>
                </c:pt>
                <c:pt idx="70">
                  <c:v>-3.1191864077</c:v>
                </c:pt>
                <c:pt idx="71">
                  <c:v>-3.0222763947</c:v>
                </c:pt>
                <c:pt idx="72">
                  <c:v>-3.1191864077</c:v>
                </c:pt>
                <c:pt idx="73">
                  <c:v>-3.1487416513</c:v>
                </c:pt>
                <c:pt idx="74">
                  <c:v>-3.214670165</c:v>
                </c:pt>
                <c:pt idx="75">
                  <c:v>-3.1426675036</c:v>
                </c:pt>
                <c:pt idx="76">
                  <c:v>-3.1804560645</c:v>
                </c:pt>
                <c:pt idx="77">
                  <c:v>-3.2006594505</c:v>
                </c:pt>
                <c:pt idx="78">
                  <c:v>-3.2441251443</c:v>
                </c:pt>
                <c:pt idx="79">
                  <c:v>-3.1426675036</c:v>
                </c:pt>
                <c:pt idx="80">
                  <c:v>-3.1674910873</c:v>
                </c:pt>
                <c:pt idx="81">
                  <c:v>-3.2006594505</c:v>
                </c:pt>
                <c:pt idx="82">
                  <c:v>-3.3010299957</c:v>
                </c:pt>
                <c:pt idx="83">
                  <c:v>-3.3372421683</c:v>
                </c:pt>
                <c:pt idx="84">
                  <c:v>-3.3279021421</c:v>
                </c:pt>
                <c:pt idx="85">
                  <c:v>-3.30980392</c:v>
                </c:pt>
                <c:pt idx="86">
                  <c:v>-3.251811973</c:v>
                </c:pt>
                <c:pt idx="87">
                  <c:v>-3.2596373105</c:v>
                </c:pt>
                <c:pt idx="88">
                  <c:v>-3.2757241304</c:v>
                </c:pt>
                <c:pt idx="89">
                  <c:v>-3.2757241304</c:v>
                </c:pt>
                <c:pt idx="90">
                  <c:v>-3.2006594505</c:v>
                </c:pt>
                <c:pt idx="91">
                  <c:v>-3.2596373105</c:v>
                </c:pt>
                <c:pt idx="92">
                  <c:v>-3.2924298239</c:v>
                </c:pt>
                <c:pt idx="93">
                  <c:v>-3.3010299957</c:v>
                </c:pt>
                <c:pt idx="94">
                  <c:v>-3.2596373105</c:v>
                </c:pt>
                <c:pt idx="95">
                  <c:v>-3.2365720064</c:v>
                </c:pt>
                <c:pt idx="96">
                  <c:v>-3.2291479884</c:v>
                </c:pt>
                <c:pt idx="97">
                  <c:v>-3.2757241304</c:v>
                </c:pt>
                <c:pt idx="98">
                  <c:v>-3.3010299957</c:v>
                </c:pt>
                <c:pt idx="99">
                  <c:v>-3.30980392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膝部</c:f>
              <c:strCache>
                <c:ptCount val="1"/>
                <c:pt idx="0">
                  <c:v>膝部</c:v>
                </c:pt>
              </c:strCache>
            </c:strRef>
          </c:tx>
          <c:spPr>
            <a:ln w="22860" cap="rnd" cmpd="sng" algn="ctr">
              <a:solidFill>
                <a:srgbClr val="4468A3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Data'!$E$2:$E$201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'Chart Data'!$F$2:$F$201</c:f>
              <c:numCache>
                <c:formatCode>0</c:formatCode>
                <c:ptCount val="200"/>
                <c:pt idx="0">
                  <c:v>0.4406257541</c:v>
                </c:pt>
                <c:pt idx="1">
                  <c:v>-0.0653803672</c:v>
                </c:pt>
                <c:pt idx="2">
                  <c:v>-0.1764736065</c:v>
                </c:pt>
                <c:pt idx="3">
                  <c:v>-0.5044417875</c:v>
                </c:pt>
                <c:pt idx="4">
                  <c:v>-0.0905991036</c:v>
                </c:pt>
                <c:pt idx="5">
                  <c:v>-0.6367830128</c:v>
                </c:pt>
                <c:pt idx="6">
                  <c:v>-0.6420080127</c:v>
                </c:pt>
                <c:pt idx="7">
                  <c:v>-0.5960905695</c:v>
                </c:pt>
                <c:pt idx="8">
                  <c:v>-0.6402783215</c:v>
                </c:pt>
                <c:pt idx="9">
                  <c:v>-0.6706021206</c:v>
                </c:pt>
                <c:pt idx="10">
                  <c:v>-0.5751510183</c:v>
                </c:pt>
                <c:pt idx="11">
                  <c:v>-0.7577319552</c:v>
                </c:pt>
                <c:pt idx="12">
                  <c:v>-0.6826471503</c:v>
                </c:pt>
                <c:pt idx="13">
                  <c:v>-0.6844704668</c:v>
                </c:pt>
                <c:pt idx="14">
                  <c:v>-0.7364112685</c:v>
                </c:pt>
                <c:pt idx="15">
                  <c:v>-0.779891912</c:v>
                </c:pt>
                <c:pt idx="16">
                  <c:v>-0.8032712774</c:v>
                </c:pt>
                <c:pt idx="17">
                  <c:v>-0.8042940253</c:v>
                </c:pt>
                <c:pt idx="18">
                  <c:v>-0.7397854616</c:v>
                </c:pt>
                <c:pt idx="19">
                  <c:v>-0.6462952964</c:v>
                </c:pt>
                <c:pt idx="20">
                  <c:v>-0.7993957084</c:v>
                </c:pt>
                <c:pt idx="21">
                  <c:v>-0.8187282284</c:v>
                </c:pt>
                <c:pt idx="22">
                  <c:v>-0.8394714461</c:v>
                </c:pt>
                <c:pt idx="23">
                  <c:v>-0.8265806159</c:v>
                </c:pt>
                <c:pt idx="24">
                  <c:v>-0.893877126</c:v>
                </c:pt>
                <c:pt idx="25">
                  <c:v>-0.8331556242</c:v>
                </c:pt>
                <c:pt idx="26">
                  <c:v>-0.7848384917</c:v>
                </c:pt>
                <c:pt idx="27">
                  <c:v>-0.8622978329</c:v>
                </c:pt>
                <c:pt idx="28">
                  <c:v>-0.8380632948</c:v>
                </c:pt>
                <c:pt idx="29">
                  <c:v>-0.7898688318</c:v>
                </c:pt>
                <c:pt idx="30">
                  <c:v>-0.8489674182</c:v>
                </c:pt>
                <c:pt idx="31">
                  <c:v>-0.8851889262</c:v>
                </c:pt>
                <c:pt idx="32">
                  <c:v>-0.9415360144</c:v>
                </c:pt>
                <c:pt idx="33">
                  <c:v>-0.9222688203</c:v>
                </c:pt>
                <c:pt idx="34">
                  <c:v>-0.8979094745</c:v>
                </c:pt>
                <c:pt idx="35">
                  <c:v>-0.8638821571</c:v>
                </c:pt>
                <c:pt idx="36">
                  <c:v>-0.847314244</c:v>
                </c:pt>
                <c:pt idx="37">
                  <c:v>-0.9301469789</c:v>
                </c:pt>
                <c:pt idx="38">
                  <c:v>-0.9020835908</c:v>
                </c:pt>
                <c:pt idx="39">
                  <c:v>-0.7440283613</c:v>
                </c:pt>
                <c:pt idx="40">
                  <c:v>-0.8939791809</c:v>
                </c:pt>
                <c:pt idx="41">
                  <c:v>-0.9104481171</c:v>
                </c:pt>
                <c:pt idx="42">
                  <c:v>-0.8382727303</c:v>
                </c:pt>
                <c:pt idx="43">
                  <c:v>-0.8332443613</c:v>
                </c:pt>
                <c:pt idx="44">
                  <c:v>-0.8939791809</c:v>
                </c:pt>
                <c:pt idx="45">
                  <c:v>-0.8604987253</c:v>
                </c:pt>
                <c:pt idx="46">
                  <c:v>-0.9042380405</c:v>
                </c:pt>
                <c:pt idx="47">
                  <c:v>-0.8985966494</c:v>
                </c:pt>
                <c:pt idx="48">
                  <c:v>-0.9100948886</c:v>
                </c:pt>
                <c:pt idx="49">
                  <c:v>-0.931406019</c:v>
                </c:pt>
                <c:pt idx="50">
                  <c:v>-0.9424479989</c:v>
                </c:pt>
                <c:pt idx="51">
                  <c:v>-0.9430951487</c:v>
                </c:pt>
                <c:pt idx="52">
                  <c:v>-0.9139962944</c:v>
                </c:pt>
                <c:pt idx="53">
                  <c:v>-0.9185086715</c:v>
                </c:pt>
                <c:pt idx="54">
                  <c:v>-0.864581095</c:v>
                </c:pt>
                <c:pt idx="55">
                  <c:v>-0.9455401628</c:v>
                </c:pt>
                <c:pt idx="56">
                  <c:v>-0.9813827075</c:v>
                </c:pt>
                <c:pt idx="57">
                  <c:v>-0.9382083608</c:v>
                </c:pt>
                <c:pt idx="58">
                  <c:v>-0.8418185016</c:v>
                </c:pt>
                <c:pt idx="59">
                  <c:v>-0.9258420803</c:v>
                </c:pt>
                <c:pt idx="60">
                  <c:v>-0.9910593386</c:v>
                </c:pt>
                <c:pt idx="61">
                  <c:v>-0.9894456485</c:v>
                </c:pt>
                <c:pt idx="62">
                  <c:v>-1.0163286171</c:v>
                </c:pt>
                <c:pt idx="63">
                  <c:v>-1.0347042042</c:v>
                </c:pt>
                <c:pt idx="64">
                  <c:v>-1.0265950256</c:v>
                </c:pt>
                <c:pt idx="65">
                  <c:v>-1.0728863881</c:v>
                </c:pt>
                <c:pt idx="66">
                  <c:v>-0.9574638633</c:v>
                </c:pt>
                <c:pt idx="67">
                  <c:v>-1.038151941</c:v>
                </c:pt>
                <c:pt idx="68">
                  <c:v>-1.0542360769</c:v>
                </c:pt>
                <c:pt idx="69">
                  <c:v>-1.0649464108</c:v>
                </c:pt>
                <c:pt idx="70">
                  <c:v>-1.024246611</c:v>
                </c:pt>
                <c:pt idx="71">
                  <c:v>-1.0396243686</c:v>
                </c:pt>
                <c:pt idx="72">
                  <c:v>-1.0370627116</c:v>
                </c:pt>
                <c:pt idx="73">
                  <c:v>-1.0508052258</c:v>
                </c:pt>
                <c:pt idx="74">
                  <c:v>-1.0364010374</c:v>
                </c:pt>
                <c:pt idx="75">
                  <c:v>-1.0603310165</c:v>
                </c:pt>
                <c:pt idx="76">
                  <c:v>-1.0778456748</c:v>
                </c:pt>
                <c:pt idx="77">
                  <c:v>-1.0823369757</c:v>
                </c:pt>
                <c:pt idx="78">
                  <c:v>-1.0563571172</c:v>
                </c:pt>
                <c:pt idx="79">
                  <c:v>-1.1395422046</c:v>
                </c:pt>
                <c:pt idx="80">
                  <c:v>-1.135192371</c:v>
                </c:pt>
                <c:pt idx="81">
                  <c:v>-1.110530216</c:v>
                </c:pt>
                <c:pt idx="82">
                  <c:v>-1.0839673898</c:v>
                </c:pt>
                <c:pt idx="83">
                  <c:v>-1.1070154493</c:v>
                </c:pt>
                <c:pt idx="84">
                  <c:v>-1.0565054841</c:v>
                </c:pt>
                <c:pt idx="85">
                  <c:v>-1.109523091</c:v>
                </c:pt>
                <c:pt idx="86">
                  <c:v>-1.1185582781</c:v>
                </c:pt>
                <c:pt idx="87">
                  <c:v>-1.0869813163</c:v>
                </c:pt>
                <c:pt idx="88">
                  <c:v>-1.1721785723</c:v>
                </c:pt>
                <c:pt idx="89">
                  <c:v>-1.1934130657</c:v>
                </c:pt>
                <c:pt idx="90">
                  <c:v>-1.1149782051</c:v>
                </c:pt>
                <c:pt idx="91">
                  <c:v>-1.0822844834</c:v>
                </c:pt>
                <c:pt idx="92">
                  <c:v>-1.0512936911</c:v>
                </c:pt>
                <c:pt idx="93">
                  <c:v>-1.0333421158</c:v>
                </c:pt>
                <c:pt idx="94">
                  <c:v>-1.0385789059</c:v>
                </c:pt>
                <c:pt idx="95">
                  <c:v>-1.0502197916</c:v>
                </c:pt>
                <c:pt idx="96">
                  <c:v>-1.0459988323</c:v>
                </c:pt>
                <c:pt idx="97">
                  <c:v>-1.0241088636</c:v>
                </c:pt>
                <c:pt idx="98">
                  <c:v>-1.0447453172</c:v>
                </c:pt>
                <c:pt idx="99">
                  <c:v>-1.0581408735</c:v>
                </c:pt>
                <c:pt idx="100">
                  <c:v>-1.0636370804</c:v>
                </c:pt>
                <c:pt idx="101">
                  <c:v>-1.0608802824</c:v>
                </c:pt>
                <c:pt idx="102">
                  <c:v>-1.0952303741</c:v>
                </c:pt>
                <c:pt idx="103">
                  <c:v>-1.0482740246</c:v>
                </c:pt>
                <c:pt idx="104">
                  <c:v>-1.0335766541</c:v>
                </c:pt>
                <c:pt idx="105">
                  <c:v>-1.0797722885</c:v>
                </c:pt>
                <c:pt idx="106">
                  <c:v>-1.0878842709</c:v>
                </c:pt>
                <c:pt idx="107">
                  <c:v>-1.0872997918</c:v>
                </c:pt>
                <c:pt idx="108">
                  <c:v>-1.0645935102</c:v>
                </c:pt>
                <c:pt idx="109">
                  <c:v>-1.075100736</c:v>
                </c:pt>
                <c:pt idx="110">
                  <c:v>-1.1085182962</c:v>
                </c:pt>
                <c:pt idx="111">
                  <c:v>-1.1667891197</c:v>
                </c:pt>
                <c:pt idx="112">
                  <c:v>-1.1123264475</c:v>
                </c:pt>
                <c:pt idx="113">
                  <c:v>-1.1396619934</c:v>
                </c:pt>
                <c:pt idx="114">
                  <c:v>-1.1618438152</c:v>
                </c:pt>
                <c:pt idx="115">
                  <c:v>-1.1813123366</c:v>
                </c:pt>
                <c:pt idx="116">
                  <c:v>-1.146727776</c:v>
                </c:pt>
                <c:pt idx="117">
                  <c:v>-1.1191292675</c:v>
                </c:pt>
                <c:pt idx="118">
                  <c:v>-1.1121577349</c:v>
                </c:pt>
                <c:pt idx="119">
                  <c:v>-1.1000701173</c:v>
                </c:pt>
                <c:pt idx="120">
                  <c:v>-1.0975075788</c:v>
                </c:pt>
                <c:pt idx="121">
                  <c:v>-1.1311792938</c:v>
                </c:pt>
                <c:pt idx="122">
                  <c:v>-1.1092996023</c:v>
                </c:pt>
                <c:pt idx="123">
                  <c:v>-1.1281936355</c:v>
                </c:pt>
                <c:pt idx="124">
                  <c:v>-1.1094113323</c:v>
                </c:pt>
                <c:pt idx="125">
                  <c:v>-1.1256341643</c:v>
                </c:pt>
                <c:pt idx="126">
                  <c:v>-1.1029780439</c:v>
                </c:pt>
                <c:pt idx="127">
                  <c:v>-1.0996328713</c:v>
                </c:pt>
                <c:pt idx="128">
                  <c:v>-1.097072904</c:v>
                </c:pt>
                <c:pt idx="129">
                  <c:v>-1.1112590393</c:v>
                </c:pt>
                <c:pt idx="130">
                  <c:v>-1.1129456219</c:v>
                </c:pt>
                <c:pt idx="131">
                  <c:v>-1.1386448398</c:v>
                </c:pt>
                <c:pt idx="132">
                  <c:v>-1.1671080552</c:v>
                </c:pt>
                <c:pt idx="133">
                  <c:v>-1.1553364718</c:v>
                </c:pt>
                <c:pt idx="134">
                  <c:v>-1.1423660148</c:v>
                </c:pt>
                <c:pt idx="135">
                  <c:v>-1.1999018198</c:v>
                </c:pt>
                <c:pt idx="136">
                  <c:v>-1.2109130849</c:v>
                </c:pt>
                <c:pt idx="137">
                  <c:v>-1.1667891197</c:v>
                </c:pt>
                <c:pt idx="138">
                  <c:v>-1.1676827301</c:v>
                </c:pt>
                <c:pt idx="139">
                  <c:v>-1.1450869777</c:v>
                </c:pt>
                <c:pt idx="140">
                  <c:v>-1.19859629</c:v>
                </c:pt>
                <c:pt idx="141">
                  <c:v>-1.178945245</c:v>
                </c:pt>
                <c:pt idx="142">
                  <c:v>-1.232102384</c:v>
                </c:pt>
                <c:pt idx="143">
                  <c:v>-1.2219211381</c:v>
                </c:pt>
                <c:pt idx="144">
                  <c:v>-1.172953983</c:v>
                </c:pt>
                <c:pt idx="145">
                  <c:v>-1.1639925409</c:v>
                </c:pt>
                <c:pt idx="146">
                  <c:v>-1.2123270353</c:v>
                </c:pt>
                <c:pt idx="147">
                  <c:v>-1.243439957</c:v>
                </c:pt>
                <c:pt idx="148">
                  <c:v>-1.2318060384</c:v>
                </c:pt>
                <c:pt idx="149">
                  <c:v>-1.2333641137</c:v>
                </c:pt>
                <c:pt idx="150">
                  <c:v>-1.2155253562</c:v>
                </c:pt>
                <c:pt idx="151">
                  <c:v>-1.2168113089</c:v>
                </c:pt>
                <c:pt idx="152">
                  <c:v>-1.239954672</c:v>
                </c:pt>
                <c:pt idx="153">
                  <c:v>-1.2400301424</c:v>
                </c:pt>
                <c:pt idx="154">
                  <c:v>-1.2471068451</c:v>
                </c:pt>
                <c:pt idx="155">
                  <c:v>-1.2296635589</c:v>
                </c:pt>
                <c:pt idx="156">
                  <c:v>-1.2376966367</c:v>
                </c:pt>
                <c:pt idx="157">
                  <c:v>-1.2204035087</c:v>
                </c:pt>
                <c:pt idx="158">
                  <c:v>-1.2309182129</c:v>
                </c:pt>
                <c:pt idx="159">
                  <c:v>-1.2194666747</c:v>
                </c:pt>
                <c:pt idx="160">
                  <c:v>-1.1851533314</c:v>
                </c:pt>
                <c:pt idx="161">
                  <c:v>-1.1940915449</c:v>
                </c:pt>
                <c:pt idx="162">
                  <c:v>-1.2301797422</c:v>
                </c:pt>
                <c:pt idx="163">
                  <c:v>-1.2278984307</c:v>
                </c:pt>
                <c:pt idx="164">
                  <c:v>-1.208309351</c:v>
                </c:pt>
                <c:pt idx="165">
                  <c:v>-1.1827652696</c:v>
                </c:pt>
                <c:pt idx="166">
                  <c:v>-1.1555228243</c:v>
                </c:pt>
                <c:pt idx="167">
                  <c:v>-1.215668052</c:v>
                </c:pt>
                <c:pt idx="168">
                  <c:v>-1.16127681</c:v>
                </c:pt>
                <c:pt idx="169">
                  <c:v>-1.203633845</c:v>
                </c:pt>
                <c:pt idx="170">
                  <c:v>-1.1918565742</c:v>
                </c:pt>
                <c:pt idx="171">
                  <c:v>-1.2089412564</c:v>
                </c:pt>
                <c:pt idx="172">
                  <c:v>-1.2083795173</c:v>
                </c:pt>
                <c:pt idx="173">
                  <c:v>-1.208660296</c:v>
                </c:pt>
                <c:pt idx="174">
                  <c:v>-1.1960651501</c:v>
                </c:pt>
                <c:pt idx="175">
                  <c:v>-1.2253370775</c:v>
                </c:pt>
                <c:pt idx="176">
                  <c:v>-1.2175273758</c:v>
                </c:pt>
                <c:pt idx="177">
                  <c:v>-1.2106308464</c:v>
                </c:pt>
                <c:pt idx="178">
                  <c:v>-1.2094333749</c:v>
                </c:pt>
                <c:pt idx="179">
                  <c:v>-1.1970895106</c:v>
                </c:pt>
                <c:pt idx="180">
                  <c:v>-1.1931419705</c:v>
                </c:pt>
                <c:pt idx="181">
                  <c:v>-1.1846879565</c:v>
                </c:pt>
                <c:pt idx="182">
                  <c:v>-1.2046066651</c:v>
                </c:pt>
                <c:pt idx="183">
                  <c:v>-1.2005216012</c:v>
                </c:pt>
                <c:pt idx="184">
                  <c:v>-1.184621515</c:v>
                </c:pt>
                <c:pt idx="185">
                  <c:v>-1.1920592788</c:v>
                </c:pt>
                <c:pt idx="186">
                  <c:v>-1.1826329837</c:v>
                </c:pt>
                <c:pt idx="187">
                  <c:v>-1.208309351</c:v>
                </c:pt>
                <c:pt idx="188">
                  <c:v>-1.2079586893</c:v>
                </c:pt>
                <c:pt idx="189">
                  <c:v>-1.2137456042</c:v>
                </c:pt>
                <c:pt idx="190">
                  <c:v>-1.2028017302</c:v>
                </c:pt>
                <c:pt idx="191">
                  <c:v>-1.209855635</c:v>
                </c:pt>
                <c:pt idx="192">
                  <c:v>-1.2126103786</c:v>
                </c:pt>
                <c:pt idx="193">
                  <c:v>-1.1972946729</c:v>
                </c:pt>
                <c:pt idx="194">
                  <c:v>-1.1997642107</c:v>
                </c:pt>
                <c:pt idx="195">
                  <c:v>-1.1936164982</c:v>
                </c:pt>
                <c:pt idx="196">
                  <c:v>-1.1991455085</c:v>
                </c:pt>
                <c:pt idx="197">
                  <c:v>-1.1990768182</c:v>
                </c:pt>
                <c:pt idx="198">
                  <c:v>-1.1942952956</c:v>
                </c:pt>
                <c:pt idx="199">
                  <c:v>-1.1915189434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200"/>
          <c:min val="0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crossBetween val="midCat"/>
        <c:majorUnit val="50"/>
      </c:valAx>
      <c:valAx>
        <c:axId val="48672768"/>
        <c:scaling>
          <c:orientation val="minMax"/>
          <c:max val="0"/>
          <c:min val="-4"/>
        </c:scaling>
        <c:delete val="0"/>
        <c:axPos val="l"/>
        <c:majorGridlines>
          <c:spPr>
            <a:ln w="6668" cap="flat" cmpd="sng" algn="ctr">
              <a:solidFill>
                <a:srgbClr val="DDE5E1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midCat"/>
        <c:majorUnit val="1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96468f1-e64b-4366-831e-a9d34b6def4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"/>
        <c:varyColors val="0"/>
        <c:ser>
          <c:idx val="0"/>
          <c:order val="0"/>
          <c:tx>
            <c:strRef>
              <c:f>颈部</c:f>
              <c:strCache>
                <c:ptCount val="1"/>
                <c:pt idx="0">
                  <c:v>颈部</c:v>
                </c:pt>
              </c:strCache>
            </c:strRef>
          </c:tx>
          <c:spPr>
            <a:ln w="22860" cap="rnd" cmpd="sng" algn="ctr">
              <a:solidFill>
                <a:srgbClr val="006B59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0.0</c:formatCode>
                <c:ptCount val="100"/>
                <c:pt idx="0">
                  <c:v>0.55962</c:v>
                </c:pt>
                <c:pt idx="1">
                  <c:v>0.90249</c:v>
                </c:pt>
                <c:pt idx="2">
                  <c:v>0.75047</c:v>
                </c:pt>
                <c:pt idx="3">
                  <c:v>0.98885</c:v>
                </c:pt>
                <c:pt idx="4">
                  <c:v>0.995</c:v>
                </c:pt>
                <c:pt idx="5">
                  <c:v>0.995</c:v>
                </c:pt>
                <c:pt idx="6">
                  <c:v>0.995</c:v>
                </c:pt>
                <c:pt idx="7">
                  <c:v>0.995</c:v>
                </c:pt>
                <c:pt idx="8">
                  <c:v>0.995</c:v>
                </c:pt>
                <c:pt idx="9">
                  <c:v>0.995</c:v>
                </c:pt>
                <c:pt idx="10">
                  <c:v>0.995</c:v>
                </c:pt>
                <c:pt idx="11">
                  <c:v>0.995</c:v>
                </c:pt>
                <c:pt idx="12">
                  <c:v>0.995</c:v>
                </c:pt>
                <c:pt idx="13">
                  <c:v>0.995</c:v>
                </c:pt>
                <c:pt idx="14">
                  <c:v>0.995</c:v>
                </c:pt>
                <c:pt idx="15">
                  <c:v>0.995</c:v>
                </c:pt>
                <c:pt idx="16">
                  <c:v>0.995</c:v>
                </c:pt>
                <c:pt idx="17">
                  <c:v>0.995</c:v>
                </c:pt>
                <c:pt idx="18">
                  <c:v>0.995</c:v>
                </c:pt>
                <c:pt idx="19">
                  <c:v>0.995</c:v>
                </c:pt>
                <c:pt idx="20">
                  <c:v>0.995</c:v>
                </c:pt>
                <c:pt idx="21">
                  <c:v>0.995</c:v>
                </c:pt>
                <c:pt idx="22">
                  <c:v>0.995</c:v>
                </c:pt>
                <c:pt idx="23">
                  <c:v>0.995</c:v>
                </c:pt>
                <c:pt idx="24">
                  <c:v>0.995</c:v>
                </c:pt>
                <c:pt idx="25">
                  <c:v>0.995</c:v>
                </c:pt>
                <c:pt idx="26">
                  <c:v>0.995</c:v>
                </c:pt>
                <c:pt idx="27">
                  <c:v>0.995</c:v>
                </c:pt>
                <c:pt idx="28">
                  <c:v>0.995</c:v>
                </c:pt>
                <c:pt idx="29">
                  <c:v>0.995</c:v>
                </c:pt>
                <c:pt idx="30">
                  <c:v>0.995</c:v>
                </c:pt>
                <c:pt idx="31">
                  <c:v>0.995</c:v>
                </c:pt>
                <c:pt idx="32">
                  <c:v>0.995</c:v>
                </c:pt>
                <c:pt idx="33">
                  <c:v>0.995</c:v>
                </c:pt>
                <c:pt idx="34">
                  <c:v>0.995</c:v>
                </c:pt>
                <c:pt idx="35">
                  <c:v>0.995</c:v>
                </c:pt>
                <c:pt idx="36">
                  <c:v>0.995</c:v>
                </c:pt>
                <c:pt idx="37">
                  <c:v>0.995</c:v>
                </c:pt>
                <c:pt idx="38">
                  <c:v>0.995</c:v>
                </c:pt>
                <c:pt idx="39">
                  <c:v>0.995</c:v>
                </c:pt>
                <c:pt idx="40">
                  <c:v>0.995</c:v>
                </c:pt>
                <c:pt idx="41">
                  <c:v>0.995</c:v>
                </c:pt>
                <c:pt idx="42">
                  <c:v>0.995</c:v>
                </c:pt>
                <c:pt idx="43">
                  <c:v>0.995</c:v>
                </c:pt>
                <c:pt idx="44">
                  <c:v>0.995</c:v>
                </c:pt>
                <c:pt idx="45">
                  <c:v>0.995</c:v>
                </c:pt>
                <c:pt idx="46">
                  <c:v>0.995</c:v>
                </c:pt>
                <c:pt idx="47">
                  <c:v>0.995</c:v>
                </c:pt>
                <c:pt idx="48">
                  <c:v>0.995</c:v>
                </c:pt>
                <c:pt idx="49">
                  <c:v>0.995</c:v>
                </c:pt>
                <c:pt idx="50">
                  <c:v>0.995</c:v>
                </c:pt>
                <c:pt idx="51">
                  <c:v>0.995</c:v>
                </c:pt>
                <c:pt idx="52">
                  <c:v>0.995</c:v>
                </c:pt>
                <c:pt idx="53">
                  <c:v>0.995</c:v>
                </c:pt>
                <c:pt idx="54">
                  <c:v>0.995</c:v>
                </c:pt>
                <c:pt idx="55">
                  <c:v>0.995</c:v>
                </c:pt>
                <c:pt idx="56">
                  <c:v>0.995</c:v>
                </c:pt>
                <c:pt idx="57">
                  <c:v>0.995</c:v>
                </c:pt>
                <c:pt idx="58">
                  <c:v>0.995</c:v>
                </c:pt>
                <c:pt idx="59">
                  <c:v>0.995</c:v>
                </c:pt>
                <c:pt idx="60">
                  <c:v>0.995</c:v>
                </c:pt>
                <c:pt idx="61">
                  <c:v>0.995</c:v>
                </c:pt>
                <c:pt idx="62">
                  <c:v>0.995</c:v>
                </c:pt>
                <c:pt idx="63">
                  <c:v>0.995</c:v>
                </c:pt>
                <c:pt idx="64">
                  <c:v>0.995</c:v>
                </c:pt>
                <c:pt idx="65">
                  <c:v>0.995</c:v>
                </c:pt>
                <c:pt idx="66">
                  <c:v>0.995</c:v>
                </c:pt>
                <c:pt idx="67">
                  <c:v>0.995</c:v>
                </c:pt>
                <c:pt idx="68">
                  <c:v>0.995</c:v>
                </c:pt>
                <c:pt idx="69">
                  <c:v>0.995</c:v>
                </c:pt>
                <c:pt idx="70">
                  <c:v>0.995</c:v>
                </c:pt>
                <c:pt idx="71">
                  <c:v>0.995</c:v>
                </c:pt>
                <c:pt idx="72">
                  <c:v>0.995</c:v>
                </c:pt>
                <c:pt idx="73">
                  <c:v>0.995</c:v>
                </c:pt>
                <c:pt idx="74">
                  <c:v>0.995</c:v>
                </c:pt>
                <c:pt idx="75">
                  <c:v>0.995</c:v>
                </c:pt>
                <c:pt idx="76">
                  <c:v>0.995</c:v>
                </c:pt>
                <c:pt idx="77">
                  <c:v>0.995</c:v>
                </c:pt>
                <c:pt idx="78">
                  <c:v>0.995</c:v>
                </c:pt>
                <c:pt idx="79">
                  <c:v>0.995</c:v>
                </c:pt>
                <c:pt idx="80">
                  <c:v>0.995</c:v>
                </c:pt>
                <c:pt idx="81">
                  <c:v>0.995</c:v>
                </c:pt>
                <c:pt idx="82">
                  <c:v>0.995</c:v>
                </c:pt>
                <c:pt idx="83">
                  <c:v>0.995</c:v>
                </c:pt>
                <c:pt idx="84">
                  <c:v>0.995</c:v>
                </c:pt>
                <c:pt idx="85">
                  <c:v>0.995</c:v>
                </c:pt>
                <c:pt idx="86">
                  <c:v>0.995</c:v>
                </c:pt>
                <c:pt idx="87">
                  <c:v>0.995</c:v>
                </c:pt>
                <c:pt idx="88">
                  <c:v>0.995</c:v>
                </c:pt>
                <c:pt idx="89">
                  <c:v>0.995</c:v>
                </c:pt>
                <c:pt idx="90">
                  <c:v>0.995</c:v>
                </c:pt>
                <c:pt idx="91">
                  <c:v>0.995</c:v>
                </c:pt>
                <c:pt idx="92">
                  <c:v>0.995</c:v>
                </c:pt>
                <c:pt idx="93">
                  <c:v>0.995</c:v>
                </c:pt>
                <c:pt idx="94">
                  <c:v>0.995</c:v>
                </c:pt>
                <c:pt idx="95">
                  <c:v>0.995</c:v>
                </c:pt>
                <c:pt idx="96">
                  <c:v>0.995</c:v>
                </c:pt>
                <c:pt idx="97">
                  <c:v>0.995</c:v>
                </c:pt>
                <c:pt idx="98">
                  <c:v>0.995</c:v>
                </c:pt>
                <c:pt idx="99">
                  <c:v>0.995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脐部</c:f>
              <c:strCache>
                <c:ptCount val="1"/>
                <c:pt idx="0">
                  <c:v>脐部</c:v>
                </c:pt>
              </c:strCache>
            </c:strRef>
          </c:tx>
          <c:spPr>
            <a:ln w="22860" cap="rnd" cmpd="sng" algn="ctr">
              <a:solidFill>
                <a:srgbClr val="C57A34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0.0</c:formatCode>
                <c:ptCount val="100"/>
                <c:pt idx="0">
                  <c:v>0.95474</c:v>
                </c:pt>
                <c:pt idx="1">
                  <c:v>0.97833</c:v>
                </c:pt>
                <c:pt idx="2">
                  <c:v>0.995</c:v>
                </c:pt>
                <c:pt idx="3">
                  <c:v>0.995</c:v>
                </c:pt>
                <c:pt idx="4">
                  <c:v>0.995</c:v>
                </c:pt>
                <c:pt idx="5">
                  <c:v>0.995</c:v>
                </c:pt>
                <c:pt idx="6">
                  <c:v>0.995</c:v>
                </c:pt>
                <c:pt idx="7">
                  <c:v>0.995</c:v>
                </c:pt>
                <c:pt idx="8">
                  <c:v>0.995</c:v>
                </c:pt>
                <c:pt idx="9">
                  <c:v>0.995</c:v>
                </c:pt>
                <c:pt idx="10">
                  <c:v>0.995</c:v>
                </c:pt>
                <c:pt idx="11">
                  <c:v>0.995</c:v>
                </c:pt>
                <c:pt idx="12">
                  <c:v>0.995</c:v>
                </c:pt>
                <c:pt idx="13">
                  <c:v>0.995</c:v>
                </c:pt>
                <c:pt idx="14">
                  <c:v>0.995</c:v>
                </c:pt>
                <c:pt idx="15">
                  <c:v>0.995</c:v>
                </c:pt>
                <c:pt idx="16">
                  <c:v>0.995</c:v>
                </c:pt>
                <c:pt idx="17">
                  <c:v>0.995</c:v>
                </c:pt>
                <c:pt idx="18">
                  <c:v>0.995</c:v>
                </c:pt>
                <c:pt idx="19">
                  <c:v>0.995</c:v>
                </c:pt>
                <c:pt idx="20">
                  <c:v>0.995</c:v>
                </c:pt>
                <c:pt idx="21">
                  <c:v>0.995</c:v>
                </c:pt>
                <c:pt idx="22">
                  <c:v>0.995</c:v>
                </c:pt>
                <c:pt idx="23">
                  <c:v>0.995</c:v>
                </c:pt>
                <c:pt idx="24">
                  <c:v>0.995</c:v>
                </c:pt>
                <c:pt idx="25">
                  <c:v>0.995</c:v>
                </c:pt>
                <c:pt idx="26">
                  <c:v>0.995</c:v>
                </c:pt>
                <c:pt idx="27">
                  <c:v>0.995</c:v>
                </c:pt>
                <c:pt idx="28">
                  <c:v>0.995</c:v>
                </c:pt>
                <c:pt idx="29">
                  <c:v>0.995</c:v>
                </c:pt>
                <c:pt idx="30">
                  <c:v>0.995</c:v>
                </c:pt>
                <c:pt idx="31">
                  <c:v>0.995</c:v>
                </c:pt>
                <c:pt idx="32">
                  <c:v>0.995</c:v>
                </c:pt>
                <c:pt idx="33">
                  <c:v>0.995</c:v>
                </c:pt>
                <c:pt idx="34">
                  <c:v>0.995</c:v>
                </c:pt>
                <c:pt idx="35">
                  <c:v>0.995</c:v>
                </c:pt>
                <c:pt idx="36">
                  <c:v>0.995</c:v>
                </c:pt>
                <c:pt idx="37">
                  <c:v>0.995</c:v>
                </c:pt>
                <c:pt idx="38">
                  <c:v>0.995</c:v>
                </c:pt>
                <c:pt idx="39">
                  <c:v>0.995</c:v>
                </c:pt>
                <c:pt idx="40">
                  <c:v>0.995</c:v>
                </c:pt>
                <c:pt idx="41">
                  <c:v>0.995</c:v>
                </c:pt>
                <c:pt idx="42">
                  <c:v>0.995</c:v>
                </c:pt>
                <c:pt idx="43">
                  <c:v>0.995</c:v>
                </c:pt>
                <c:pt idx="44">
                  <c:v>0.995</c:v>
                </c:pt>
                <c:pt idx="45">
                  <c:v>0.995</c:v>
                </c:pt>
                <c:pt idx="46">
                  <c:v>0.995</c:v>
                </c:pt>
                <c:pt idx="47">
                  <c:v>0.995</c:v>
                </c:pt>
                <c:pt idx="48">
                  <c:v>0.995</c:v>
                </c:pt>
                <c:pt idx="49">
                  <c:v>0.995</c:v>
                </c:pt>
                <c:pt idx="50">
                  <c:v>0.995</c:v>
                </c:pt>
                <c:pt idx="51">
                  <c:v>0.995</c:v>
                </c:pt>
                <c:pt idx="52">
                  <c:v>0.995</c:v>
                </c:pt>
                <c:pt idx="53">
                  <c:v>0.995</c:v>
                </c:pt>
                <c:pt idx="54">
                  <c:v>0.995</c:v>
                </c:pt>
                <c:pt idx="55">
                  <c:v>0.995</c:v>
                </c:pt>
                <c:pt idx="56">
                  <c:v>0.995</c:v>
                </c:pt>
                <c:pt idx="57">
                  <c:v>0.995</c:v>
                </c:pt>
                <c:pt idx="58">
                  <c:v>0.995</c:v>
                </c:pt>
                <c:pt idx="59">
                  <c:v>0.995</c:v>
                </c:pt>
                <c:pt idx="60">
                  <c:v>0.995</c:v>
                </c:pt>
                <c:pt idx="61">
                  <c:v>0.995</c:v>
                </c:pt>
                <c:pt idx="62">
                  <c:v>0.995</c:v>
                </c:pt>
                <c:pt idx="63">
                  <c:v>0.995</c:v>
                </c:pt>
                <c:pt idx="64">
                  <c:v>0.995</c:v>
                </c:pt>
                <c:pt idx="65">
                  <c:v>0.995</c:v>
                </c:pt>
                <c:pt idx="66">
                  <c:v>0.995</c:v>
                </c:pt>
                <c:pt idx="67">
                  <c:v>0.995</c:v>
                </c:pt>
                <c:pt idx="68">
                  <c:v>0.995</c:v>
                </c:pt>
                <c:pt idx="69">
                  <c:v>0.995</c:v>
                </c:pt>
                <c:pt idx="70">
                  <c:v>0.995</c:v>
                </c:pt>
                <c:pt idx="71">
                  <c:v>0.995</c:v>
                </c:pt>
                <c:pt idx="72">
                  <c:v>0.995</c:v>
                </c:pt>
                <c:pt idx="73">
                  <c:v>0.995</c:v>
                </c:pt>
                <c:pt idx="74">
                  <c:v>0.995</c:v>
                </c:pt>
                <c:pt idx="75">
                  <c:v>0.995</c:v>
                </c:pt>
                <c:pt idx="76">
                  <c:v>0.995</c:v>
                </c:pt>
                <c:pt idx="77">
                  <c:v>0.995</c:v>
                </c:pt>
                <c:pt idx="78">
                  <c:v>0.995</c:v>
                </c:pt>
                <c:pt idx="79">
                  <c:v>0.995</c:v>
                </c:pt>
                <c:pt idx="80">
                  <c:v>0.995</c:v>
                </c:pt>
                <c:pt idx="81">
                  <c:v>0.995</c:v>
                </c:pt>
                <c:pt idx="82">
                  <c:v>0.995</c:v>
                </c:pt>
                <c:pt idx="83">
                  <c:v>0.995</c:v>
                </c:pt>
                <c:pt idx="84">
                  <c:v>0.995</c:v>
                </c:pt>
                <c:pt idx="85">
                  <c:v>0.995</c:v>
                </c:pt>
                <c:pt idx="86">
                  <c:v>0.995</c:v>
                </c:pt>
                <c:pt idx="87">
                  <c:v>0.995</c:v>
                </c:pt>
                <c:pt idx="88">
                  <c:v>0.995</c:v>
                </c:pt>
                <c:pt idx="89">
                  <c:v>0.995</c:v>
                </c:pt>
                <c:pt idx="90">
                  <c:v>0.995</c:v>
                </c:pt>
                <c:pt idx="91">
                  <c:v>0.995</c:v>
                </c:pt>
                <c:pt idx="92">
                  <c:v>0.995</c:v>
                </c:pt>
                <c:pt idx="93">
                  <c:v>0.995</c:v>
                </c:pt>
                <c:pt idx="94">
                  <c:v>0.995</c:v>
                </c:pt>
                <c:pt idx="95">
                  <c:v>0.995</c:v>
                </c:pt>
                <c:pt idx="96">
                  <c:v>0.995</c:v>
                </c:pt>
                <c:pt idx="97">
                  <c:v>0.995</c:v>
                </c:pt>
                <c:pt idx="98">
                  <c:v>0.995</c:v>
                </c:pt>
                <c:pt idx="99">
                  <c:v>0.995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膝部</c:f>
              <c:strCache>
                <c:ptCount val="1"/>
                <c:pt idx="0">
                  <c:v>膝部</c:v>
                </c:pt>
              </c:strCache>
            </c:strRef>
          </c:tx>
          <c:spPr>
            <a:ln w="22860" cap="rnd" cmpd="sng" algn="ctr">
              <a:solidFill>
                <a:srgbClr val="4468A3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Data'!$E$2:$E$201</c:f>
              <c:numCache>
                <c:formatCode>General</c:formatCode>
                <c:ptCount val="2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</c:numCache>
            </c:numRef>
          </c:xVal>
          <c:yVal>
            <c:numRef>
              <c:f>'Chart Data'!$F$2:$F$201</c:f>
              <c:numCache>
                <c:formatCode>0.0</c:formatCode>
                <c:ptCount val="200"/>
                <c:pt idx="0">
                  <c:v>0.25447</c:v>
                </c:pt>
                <c:pt idx="1">
                  <c:v>0.70973</c:v>
                </c:pt>
                <c:pt idx="2">
                  <c:v>0.81265</c:v>
                </c:pt>
                <c:pt idx="3">
                  <c:v>0.92449</c:v>
                </c:pt>
                <c:pt idx="4">
                  <c:v>0.7655</c:v>
                </c:pt>
                <c:pt idx="5">
                  <c:v>0.96363</c:v>
                </c:pt>
                <c:pt idx="6">
                  <c:v>0.97151</c:v>
                </c:pt>
                <c:pt idx="7">
                  <c:v>0.95181</c:v>
                </c:pt>
                <c:pt idx="8">
                  <c:v>0.97279</c:v>
                </c:pt>
                <c:pt idx="9">
                  <c:v>0.97805</c:v>
                </c:pt>
                <c:pt idx="10">
                  <c:v>0.97352</c:v>
                </c:pt>
                <c:pt idx="11">
                  <c:v>0.98882</c:v>
                </c:pt>
                <c:pt idx="12">
                  <c:v>0.97754</c:v>
                </c:pt>
                <c:pt idx="13">
                  <c:v>0.9674</c:v>
                </c:pt>
                <c:pt idx="14">
                  <c:v>0.98839</c:v>
                </c:pt>
                <c:pt idx="15">
                  <c:v>0.99002</c:v>
                </c:pt>
                <c:pt idx="16">
                  <c:v>0.995</c:v>
                </c:pt>
                <c:pt idx="17">
                  <c:v>0.995</c:v>
                </c:pt>
                <c:pt idx="18">
                  <c:v>0.98863</c:v>
                </c:pt>
                <c:pt idx="19">
                  <c:v>0.98058</c:v>
                </c:pt>
                <c:pt idx="20">
                  <c:v>0.98776</c:v>
                </c:pt>
                <c:pt idx="21">
                  <c:v>0.995</c:v>
                </c:pt>
                <c:pt idx="22">
                  <c:v>0.99245</c:v>
                </c:pt>
                <c:pt idx="23">
                  <c:v>0.99022</c:v>
                </c:pt>
                <c:pt idx="24">
                  <c:v>0.99152</c:v>
                </c:pt>
                <c:pt idx="25">
                  <c:v>0.99136</c:v>
                </c:pt>
                <c:pt idx="26">
                  <c:v>0.995</c:v>
                </c:pt>
                <c:pt idx="27">
                  <c:v>0.99112</c:v>
                </c:pt>
                <c:pt idx="28">
                  <c:v>0.995</c:v>
                </c:pt>
                <c:pt idx="29">
                  <c:v>0.995</c:v>
                </c:pt>
                <c:pt idx="30">
                  <c:v>0.99197</c:v>
                </c:pt>
                <c:pt idx="31">
                  <c:v>0.98304</c:v>
                </c:pt>
                <c:pt idx="32">
                  <c:v>0.995</c:v>
                </c:pt>
                <c:pt idx="33">
                  <c:v>0.995</c:v>
                </c:pt>
                <c:pt idx="34">
                  <c:v>0.995</c:v>
                </c:pt>
                <c:pt idx="35">
                  <c:v>0.995</c:v>
                </c:pt>
                <c:pt idx="36">
                  <c:v>0.995</c:v>
                </c:pt>
                <c:pt idx="37">
                  <c:v>0.995</c:v>
                </c:pt>
                <c:pt idx="38">
                  <c:v>0.995</c:v>
                </c:pt>
                <c:pt idx="39">
                  <c:v>0.98304</c:v>
                </c:pt>
                <c:pt idx="40">
                  <c:v>0.99226</c:v>
                </c:pt>
                <c:pt idx="41">
                  <c:v>0.995</c:v>
                </c:pt>
                <c:pt idx="42">
                  <c:v>0.995</c:v>
                </c:pt>
                <c:pt idx="43">
                  <c:v>0.98234</c:v>
                </c:pt>
                <c:pt idx="44">
                  <c:v>0.995</c:v>
                </c:pt>
                <c:pt idx="45">
                  <c:v>0.995</c:v>
                </c:pt>
                <c:pt idx="46">
                  <c:v>0.98881</c:v>
                </c:pt>
                <c:pt idx="47">
                  <c:v>0.98865</c:v>
                </c:pt>
                <c:pt idx="48">
                  <c:v>0.995</c:v>
                </c:pt>
                <c:pt idx="49">
                  <c:v>0.995</c:v>
                </c:pt>
                <c:pt idx="50">
                  <c:v>0.995</c:v>
                </c:pt>
                <c:pt idx="51">
                  <c:v>0.995</c:v>
                </c:pt>
                <c:pt idx="52">
                  <c:v>0.995</c:v>
                </c:pt>
                <c:pt idx="53">
                  <c:v>0.995</c:v>
                </c:pt>
                <c:pt idx="54">
                  <c:v>0.995</c:v>
                </c:pt>
                <c:pt idx="55">
                  <c:v>0.98958</c:v>
                </c:pt>
                <c:pt idx="56">
                  <c:v>0.995</c:v>
                </c:pt>
                <c:pt idx="57">
                  <c:v>0.99136</c:v>
                </c:pt>
                <c:pt idx="58">
                  <c:v>0.995</c:v>
                </c:pt>
                <c:pt idx="59">
                  <c:v>0.99275</c:v>
                </c:pt>
                <c:pt idx="60">
                  <c:v>0.995</c:v>
                </c:pt>
                <c:pt idx="61">
                  <c:v>0.995</c:v>
                </c:pt>
                <c:pt idx="62">
                  <c:v>0.995</c:v>
                </c:pt>
                <c:pt idx="63">
                  <c:v>0.995</c:v>
                </c:pt>
                <c:pt idx="64">
                  <c:v>0.995</c:v>
                </c:pt>
                <c:pt idx="65">
                  <c:v>0.995</c:v>
                </c:pt>
                <c:pt idx="66">
                  <c:v>0.9907</c:v>
                </c:pt>
                <c:pt idx="67">
                  <c:v>0.995</c:v>
                </c:pt>
                <c:pt idx="68">
                  <c:v>0.995</c:v>
                </c:pt>
                <c:pt idx="69">
                  <c:v>0.995</c:v>
                </c:pt>
                <c:pt idx="70">
                  <c:v>0.995</c:v>
                </c:pt>
                <c:pt idx="71">
                  <c:v>0.995</c:v>
                </c:pt>
                <c:pt idx="72">
                  <c:v>0.995</c:v>
                </c:pt>
                <c:pt idx="73">
                  <c:v>0.995</c:v>
                </c:pt>
                <c:pt idx="74">
                  <c:v>0.9919</c:v>
                </c:pt>
                <c:pt idx="75">
                  <c:v>0.995</c:v>
                </c:pt>
                <c:pt idx="76">
                  <c:v>0.995</c:v>
                </c:pt>
                <c:pt idx="77">
                  <c:v>0.995</c:v>
                </c:pt>
                <c:pt idx="78">
                  <c:v>0.99318</c:v>
                </c:pt>
                <c:pt idx="79">
                  <c:v>0.995</c:v>
                </c:pt>
                <c:pt idx="80">
                  <c:v>0.995</c:v>
                </c:pt>
                <c:pt idx="81">
                  <c:v>0.995</c:v>
                </c:pt>
                <c:pt idx="82">
                  <c:v>0.995</c:v>
                </c:pt>
                <c:pt idx="83">
                  <c:v>0.995</c:v>
                </c:pt>
                <c:pt idx="84">
                  <c:v>0.995</c:v>
                </c:pt>
                <c:pt idx="85">
                  <c:v>0.995</c:v>
                </c:pt>
                <c:pt idx="86">
                  <c:v>0.995</c:v>
                </c:pt>
                <c:pt idx="87">
                  <c:v>0.995</c:v>
                </c:pt>
                <c:pt idx="88">
                  <c:v>0.995</c:v>
                </c:pt>
                <c:pt idx="89">
                  <c:v>0.995</c:v>
                </c:pt>
                <c:pt idx="90">
                  <c:v>0.995</c:v>
                </c:pt>
                <c:pt idx="91">
                  <c:v>0.995</c:v>
                </c:pt>
                <c:pt idx="92">
                  <c:v>0.995</c:v>
                </c:pt>
                <c:pt idx="93">
                  <c:v>0.995</c:v>
                </c:pt>
                <c:pt idx="94">
                  <c:v>0.995</c:v>
                </c:pt>
                <c:pt idx="95">
                  <c:v>0.995</c:v>
                </c:pt>
                <c:pt idx="96">
                  <c:v>0.99283</c:v>
                </c:pt>
                <c:pt idx="97">
                  <c:v>0.995</c:v>
                </c:pt>
                <c:pt idx="98">
                  <c:v>0.995</c:v>
                </c:pt>
                <c:pt idx="99">
                  <c:v>0.995</c:v>
                </c:pt>
                <c:pt idx="100">
                  <c:v>0.995</c:v>
                </c:pt>
                <c:pt idx="101">
                  <c:v>0.995</c:v>
                </c:pt>
                <c:pt idx="102">
                  <c:v>0.995</c:v>
                </c:pt>
                <c:pt idx="103">
                  <c:v>0.995</c:v>
                </c:pt>
                <c:pt idx="104">
                  <c:v>0.995</c:v>
                </c:pt>
                <c:pt idx="105">
                  <c:v>0.995</c:v>
                </c:pt>
                <c:pt idx="106">
                  <c:v>0.995</c:v>
                </c:pt>
                <c:pt idx="107">
                  <c:v>0.995</c:v>
                </c:pt>
                <c:pt idx="108">
                  <c:v>0.995</c:v>
                </c:pt>
                <c:pt idx="109">
                  <c:v>0.995</c:v>
                </c:pt>
                <c:pt idx="110">
                  <c:v>0.995</c:v>
                </c:pt>
                <c:pt idx="111">
                  <c:v>0.995</c:v>
                </c:pt>
                <c:pt idx="112">
                  <c:v>0.995</c:v>
                </c:pt>
                <c:pt idx="113">
                  <c:v>0.995</c:v>
                </c:pt>
                <c:pt idx="114">
                  <c:v>0.995</c:v>
                </c:pt>
                <c:pt idx="115">
                  <c:v>0.995</c:v>
                </c:pt>
                <c:pt idx="116">
                  <c:v>0.995</c:v>
                </c:pt>
                <c:pt idx="117">
                  <c:v>0.995</c:v>
                </c:pt>
                <c:pt idx="118">
                  <c:v>0.995</c:v>
                </c:pt>
                <c:pt idx="119">
                  <c:v>0.995</c:v>
                </c:pt>
                <c:pt idx="120">
                  <c:v>0.995</c:v>
                </c:pt>
                <c:pt idx="121">
                  <c:v>0.995</c:v>
                </c:pt>
                <c:pt idx="122">
                  <c:v>0.995</c:v>
                </c:pt>
                <c:pt idx="123">
                  <c:v>0.995</c:v>
                </c:pt>
                <c:pt idx="124">
                  <c:v>0.995</c:v>
                </c:pt>
                <c:pt idx="125">
                  <c:v>0.995</c:v>
                </c:pt>
                <c:pt idx="126">
                  <c:v>0.995</c:v>
                </c:pt>
                <c:pt idx="127">
                  <c:v>0.995</c:v>
                </c:pt>
                <c:pt idx="128">
                  <c:v>0.995</c:v>
                </c:pt>
                <c:pt idx="129">
                  <c:v>0.995</c:v>
                </c:pt>
                <c:pt idx="130">
                  <c:v>0.995</c:v>
                </c:pt>
                <c:pt idx="131">
                  <c:v>0.995</c:v>
                </c:pt>
                <c:pt idx="132">
                  <c:v>0.995</c:v>
                </c:pt>
                <c:pt idx="133">
                  <c:v>0.995</c:v>
                </c:pt>
                <c:pt idx="134">
                  <c:v>0.995</c:v>
                </c:pt>
                <c:pt idx="135">
                  <c:v>0.995</c:v>
                </c:pt>
                <c:pt idx="136">
                  <c:v>0.995</c:v>
                </c:pt>
                <c:pt idx="137">
                  <c:v>0.995</c:v>
                </c:pt>
                <c:pt idx="138">
                  <c:v>0.995</c:v>
                </c:pt>
                <c:pt idx="139">
                  <c:v>0.995</c:v>
                </c:pt>
                <c:pt idx="140">
                  <c:v>0.995</c:v>
                </c:pt>
                <c:pt idx="141">
                  <c:v>0.995</c:v>
                </c:pt>
                <c:pt idx="142">
                  <c:v>0.995</c:v>
                </c:pt>
                <c:pt idx="143">
                  <c:v>0.995</c:v>
                </c:pt>
                <c:pt idx="144">
                  <c:v>0.995</c:v>
                </c:pt>
                <c:pt idx="145">
                  <c:v>0.995</c:v>
                </c:pt>
                <c:pt idx="146">
                  <c:v>0.995</c:v>
                </c:pt>
                <c:pt idx="147">
                  <c:v>0.995</c:v>
                </c:pt>
                <c:pt idx="148">
                  <c:v>0.995</c:v>
                </c:pt>
                <c:pt idx="149">
                  <c:v>0.995</c:v>
                </c:pt>
                <c:pt idx="150">
                  <c:v>0.995</c:v>
                </c:pt>
                <c:pt idx="151">
                  <c:v>0.995</c:v>
                </c:pt>
                <c:pt idx="152">
                  <c:v>0.995</c:v>
                </c:pt>
                <c:pt idx="153">
                  <c:v>0.995</c:v>
                </c:pt>
                <c:pt idx="154">
                  <c:v>0.995</c:v>
                </c:pt>
                <c:pt idx="155">
                  <c:v>0.995</c:v>
                </c:pt>
                <c:pt idx="156">
                  <c:v>0.995</c:v>
                </c:pt>
                <c:pt idx="157">
                  <c:v>0.995</c:v>
                </c:pt>
                <c:pt idx="158">
                  <c:v>0.995</c:v>
                </c:pt>
                <c:pt idx="159">
                  <c:v>0.995</c:v>
                </c:pt>
                <c:pt idx="160">
                  <c:v>0.995</c:v>
                </c:pt>
                <c:pt idx="161">
                  <c:v>0.995</c:v>
                </c:pt>
                <c:pt idx="162">
                  <c:v>0.995</c:v>
                </c:pt>
                <c:pt idx="163">
                  <c:v>0.995</c:v>
                </c:pt>
                <c:pt idx="164">
                  <c:v>0.995</c:v>
                </c:pt>
                <c:pt idx="165">
                  <c:v>0.995</c:v>
                </c:pt>
                <c:pt idx="166">
                  <c:v>0.995</c:v>
                </c:pt>
                <c:pt idx="167">
                  <c:v>0.995</c:v>
                </c:pt>
                <c:pt idx="168">
                  <c:v>0.995</c:v>
                </c:pt>
                <c:pt idx="169">
                  <c:v>0.995</c:v>
                </c:pt>
                <c:pt idx="170">
                  <c:v>0.995</c:v>
                </c:pt>
                <c:pt idx="171">
                  <c:v>0.995</c:v>
                </c:pt>
                <c:pt idx="172">
                  <c:v>0.995</c:v>
                </c:pt>
                <c:pt idx="173">
                  <c:v>0.995</c:v>
                </c:pt>
                <c:pt idx="174">
                  <c:v>0.995</c:v>
                </c:pt>
                <c:pt idx="175">
                  <c:v>0.995</c:v>
                </c:pt>
                <c:pt idx="176">
                  <c:v>0.995</c:v>
                </c:pt>
                <c:pt idx="177">
                  <c:v>0.995</c:v>
                </c:pt>
                <c:pt idx="178">
                  <c:v>0.995</c:v>
                </c:pt>
                <c:pt idx="179">
                  <c:v>0.995</c:v>
                </c:pt>
                <c:pt idx="180">
                  <c:v>0.995</c:v>
                </c:pt>
                <c:pt idx="181">
                  <c:v>0.995</c:v>
                </c:pt>
                <c:pt idx="182">
                  <c:v>0.995</c:v>
                </c:pt>
                <c:pt idx="183">
                  <c:v>0.995</c:v>
                </c:pt>
                <c:pt idx="184">
                  <c:v>0.995</c:v>
                </c:pt>
                <c:pt idx="185">
                  <c:v>0.995</c:v>
                </c:pt>
                <c:pt idx="186">
                  <c:v>0.995</c:v>
                </c:pt>
                <c:pt idx="187">
                  <c:v>0.995</c:v>
                </c:pt>
                <c:pt idx="188">
                  <c:v>0.995</c:v>
                </c:pt>
                <c:pt idx="189">
                  <c:v>0.995</c:v>
                </c:pt>
                <c:pt idx="190">
                  <c:v>0.995</c:v>
                </c:pt>
                <c:pt idx="191">
                  <c:v>0.995</c:v>
                </c:pt>
                <c:pt idx="192">
                  <c:v>0.995</c:v>
                </c:pt>
                <c:pt idx="193">
                  <c:v>0.995</c:v>
                </c:pt>
                <c:pt idx="194">
                  <c:v>0.995</c:v>
                </c:pt>
                <c:pt idx="195">
                  <c:v>0.995</c:v>
                </c:pt>
                <c:pt idx="196">
                  <c:v>0.995</c:v>
                </c:pt>
                <c:pt idx="197">
                  <c:v>0.995</c:v>
                </c:pt>
                <c:pt idx="198">
                  <c:v>0.995</c:v>
                </c:pt>
                <c:pt idx="199">
                  <c:v>0.995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200"/>
          <c:min val="0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crossBetween val="midCat"/>
        <c:majorUnit val="50"/>
      </c:val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6668" cap="flat" cmpd="sng" algn="ctr">
              <a:solidFill>
                <a:srgbClr val="DDE5E1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midCat"/>
        <c:majorUnit val="0.2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546a9a3-4ec0-4228-9cfd-d29ac4eb5292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初稿/GPT调整/第八版-基于yolov11的人体穴位识别算法研究.doc。图像来自原汇报所附“偏移.jpg”。研究目标是为机械臂提供穴位位置及体表几何信息，不将示例图片作为精度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穴位识别源码/visual_recognition/visual_recognition/draw_point.py。当前部署：背部使用通用姿态与颈部模型，腹部使用通用姿态与脐部模型，腿部使用通用姿态。腿部专用模型为独立训练预研。部位由 body_part_code 指定。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来源：E:/obsidian_知识库/01-项目实践/机械革命项目/穴位识别算法/穴位识别源码/visual_recognition/visual_recognition/draw_point.py。核心实现：PIXELS_PER_CUN = distance(neck, hip_mid)/22；横向尺度取右肩至肩中点距离/8.5和右髋至髋中点距离/6的较小值。这里保留当前实现口径，避免将论文全宽符号与代码半宽计算混用。裤腰补偿和起点偏移见原函数。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穴位识别源码/visual_recognition/visual_recognition/draw_point.py。示例来源：E:/obsidian_知识库/01-项目实践/机械革命项目/穴位识别算法/穴位识别源码/visual_recognition/dataset/acupoints_config.json，GV14。offset_cun=3.0是相对程序基线起点的配置值，不单独等同于体表解剖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来源：E:/obsidian_知识库/01-项目实践/机械革命项目/穴位识别算法/穴位识别源码/visual_recognition/visual_recognition/draw_point.py。person_and_pose_judge 检查人体、关键点、正反面、肩髋角度与躯干比例。当前 back/abdomen/leg 流程均包含默认关键点模板回退，不能称为严格拒识。</a:t>
            </a:r>
          </a:p>
          <a:p>
            <a:r>
              <a:t>参考：视觉目标到机械臂运动约束的衔接与验证(1).docx，第1.2节。当前状态机先人工确认二维结果，再执行三维转换。模板分支应单独标识。
来源：E:/xwechat_files/wxid_6rawr3ohzsdb22_ac6d/msg/file/2026-10/视觉目标到机械臂运动约束的衔接与验证(1).docx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初稿/GPT调整/第八版-基于yolov11的人体穴位识别算法研究.doc。三维可视化来自原汇报图片“三维点云.png”。所提供的视觉识别Python节点返回二维点，三维映射及PCL处理由论文与系统展示说明，相关源码未在该视觉节点中实现。</a:t>
            </a:r>
          </a:p>
          <a:p>
            <a:r>
              <a:t>参考：视觉目标到机械臂运动约束的衔接与验证(1).docx，第2.2—2.4节及第3.2节。像素反投影后匹配保存点云，输出case_link位姿。手法轨迹经曲面查询及平滑后统一转换至base_link。
来源：E:/xwechat_files/wxid_6rawr3ohzsdb22_ac6d/msg/file/2026-10/视觉目标到机械臂运动约束的衔接与验证(1).docx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来源：E:/obsidian_知识库/01-项目实践/机械革命项目/穴位识别算法/穴位识别源码/visual_recognition/visual_recognition/visual_recognize.py 和 draw_point.py。视觉服务 /visual/recognize_acupoint；状态话题 /visual_recognize/states。截图来自腹部识别结果的现场显示图片。</a:t>
            </a:r>
          </a:p>
          <a:p>
            <a:r>
              <a:t>参考：视觉目标到机械臂运动约束的衔接与验证(1).docx，第1.2节、第3.3—3.4节。识别、确认、三维转换和轨迹发送属于不同模块，连续执行约束仍需独立验证。
来源：E:/xwechat_files/wxid_6rawr3ohzsdb22_ac6d/msg/file/2026-10/视觉目标到机械臂运动约束的衔接与验证(1).docx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来源：E:/obsidian_知识库/01-项目实践/机械革命项目/穴位识别算法/算力云实验结果/{neck_x_first,train_x_navel_only,leg_two}/args.yaml 与各 results.csv。采用最后一个 epoch 的 pose 指标。三项训练均为 YOLO11x-Pose，imgsz=640；部署脐模为n规模的另一模型，不能混同训练基座。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算力云实验结果，三份results.csv。左图对val/pose_loss做log10变换，右图为metrics/mAP50-95(P)。保留全部epoch，颈部和脐部在100轮结束，后100轮留空。不同模型损失只能作为训练诊断，不能直接换算毫米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算力云实验结果/{neck_x_first,train_x_navel_only,leg_two}/val_batch0_pred.jpg。各图选取一幅完整预测子图。颈部：第3行第3列；脐部：第2行第2列；腿部：第1行第4列。仅用于定性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穴位识别源码/visual_recognition/visual_recognition/draw_point.py。图像：原PPT第8页的body_with_landmark图片、E:\obsidian_知识库\01-项目实践\机械革命项目\穴位识别算法\data\yolo-pose\abdomen_with_landmark\19.jpg、E:\obsidian_知识库\01-项目实践\机械革命项目\穴位识别算法\data\yolo-pose\leg_with_landmark\1.jpg。红色点为几何推算位置，尚需与独立人工标注逐点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来源：E:/obsidian_知识库/01-项目实践/机械革命项目/穴位识别算法/初稿/GPT调整/第八版-基于yolov11的人体穴位识别算法研究.doc。数据来自论文总体精度表（文中Table 2）：YOLOv11-AMP、固定模板、COCO姿态+同几何、COCO+几何无颈模。所提供目录未找到这些指标对应的逐样本原始记录，统计口径及复现实验待补齐。因此只作为论文汇总，不将其称为已独立核验的临床结果。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来源：原汇报第12页“初始状态”点云轨迹图。此页为几何路径可视化，不代表机械臂执行精度或疗效验证。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来源：E:/obsidian_知识库/01-项目实践/机械革命项目/SC-RRT小论文编写/SC-RRT论文-增机械臂实验版/zh/修订交付_20260907/第九版_SC-RRT_中文完整修订稿_黑色加粗.docx。左图为原文图示，说明双椭球约束采样的概念，不代表 v2 基准某一次运行。方法口径以公平对比实验 v2 为准，双向搜索、两个采样域和共享搜索反馈分别描述。</a:t>
            </a:r>
          </a:p>
          <a:p>
            <a:r>
              <a:t>衔接参考：视觉目标到机械臂运动约束的衔接与验证(1).docx，第5.3—5.4节。该文支持视觉到位姿及指令的工程链路，不构成SC-RRT已在该生产链路接入的证明。本页将系统衔接作为思路，整轨迹可达性、碰撞及曲面贴合列为后续验证。
来源：E:/xwechat_files/wxid_6rawr3ohzsdb22_ac6d/msg/file/2026-10/视觉目标到机械臂运动约束的衔接与验证(1).docx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六算法对比图。使用对应原始子图，目录：E:/obsidian_知识库/01-项目实践/机械革命项目/SC-RRT小论文编写/图片/新算法对比实验图片2026.3.8。六幅图的路径、障碍、坐标轴、算法名和单次运行指标均完整保留，仅重排为三列两行。原始合图：E:/obsidian_知识库/01-项目实践/机械革命项目/SC-RRT小论文编写/图片/新算法对比实验图片2026.3.8/二维成功数据/combined_2D_20260308_165947.png。各面板属于单次运行示例，不代表下一页统计均值，不沿用v2固定5000次扩展的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数据来源：用户三线表截图 codex-clipboard-29e79b5d-94f7-4991-b020-7b52ac5242d9.png，并与 E:/obsidian_知识库/01-项目实践/机械革命项目/SC-RRT小论文编写/SC-RRT论文-增机械臂实验版/zh/第八版-完整重构-SC-RRT增加实验版.docx 中 Tab. 2 的六算法四指标逐项核对。表中保持全部数值，仅去除无效尾随零以提高可读性。均值±标准差；不是本次重新运行的实验。原稿声称每算法500次，停止条件描述与不同优化方法仍需归档核对，因此不重复固定5000次扩展或同预算公平性结论。此页单独呈现原稿口径，不与SC-RRT公平对比实验-v2混合。路径效率=起终点直线距离/路径长度。后续大论文应统一采用经核对的一套实验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:\obsidian_知识库\01-项目实践\机械革命项目\SC-RRT小论文编写\图片\机械臂实验图片\全景图.jpg；E:\obsidian_知识库\01-项目实践\机械革命项目\SC-RRT小论文编写\图片\机械臂实验图片\路径贴合特写.jpg。属于论文中的独立机械臂应用案例，与v2几何基准分开。点云及机器人可视化展示空间关联，不据截图推断全机器人碰撞验证、法向误差、临床精度或安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片提取自：E:/obsidian_知识库/01-项目实践/机械革命项目/SC-RRT小论文编写/SC-RRT论文-增机械臂实验版/zh/修订交付_20260907/第九版_SC-RRT_中文完整修订稿_黑色加粗.docx，word/media/image19.jpeg（原文实物执行双视图）。平台为AUBO-i10，RGB-D相机Deptrum Aurora 930，力传感器KWT1D60-300。原文为一名作者参与的独立演示，不作为算法随机化性能对比。本页不搬用缺少逐采样原始日志核验的1.98mm等执行误差汇总。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依据用户提出的七章大论文框架，将已有视觉定位、三维位姿、SC-RRT和系统材料逐章归档。此页为写作安排，不表示各章已完成或新增了算法贡献。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按用户要求，将后续重心从算法改进调整为章节写作、材料归档、全文整合和导师修改。具体日程未提供，采用相对阶段。必要的补充验证随对应章节完成，不把未完成试验写成已有结果。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建议目录，延续已讨论的七章结构。连接顺序为绪论、系统方案、视觉穴位定位、三维位姿生成、SC-RRT规划、系统实验、总结展望。所有节点及连接线均为可编辑原生对象。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631439"/>
            <a:ext cx="12192000" cy="2987040"/>
          </a:xfrm>
          <a:custGeom>
            <a:avLst/>
            <a:gdLst/>
            <a:ahLst/>
            <a:cxnLst/>
            <a:rect l="l" t="t" r="r" b="b"/>
            <a:pathLst>
              <a:path w="12192000" h="2987040">
                <a:moveTo>
                  <a:pt x="12192000" y="0"/>
                </a:moveTo>
                <a:lnTo>
                  <a:pt x="0" y="0"/>
                </a:lnTo>
                <a:lnTo>
                  <a:pt x="0" y="2987039"/>
                </a:lnTo>
                <a:lnTo>
                  <a:pt x="12192000" y="298703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4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631439"/>
            <a:ext cx="12192000" cy="2987040"/>
          </a:xfrm>
          <a:custGeom>
            <a:avLst/>
            <a:gdLst/>
            <a:ahLst/>
            <a:cxnLst/>
            <a:rect l="l" t="t" r="r" b="b"/>
            <a:pathLst>
              <a:path w="12192000" h="2987040">
                <a:moveTo>
                  <a:pt x="0" y="2987039"/>
                </a:moveTo>
                <a:lnTo>
                  <a:pt x="12192000" y="2987039"/>
                </a:lnTo>
                <a:lnTo>
                  <a:pt x="12192000" y="0"/>
                </a:lnTo>
                <a:lnTo>
                  <a:pt x="0" y="0"/>
                </a:lnTo>
                <a:lnTo>
                  <a:pt x="0" y="2987039"/>
                </a:lnTo>
                <a:close/>
              </a:path>
            </a:pathLst>
          </a:custGeom>
          <a:ln w="12700">
            <a:solidFill>
              <a:srgbClr val="435D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7147" y="319278"/>
            <a:ext cx="12509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6401" y="1222045"/>
            <a:ext cx="10740390" cy="419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jpe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jpeg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054860"/>
            <a:ext cx="12192000" cy="3953510"/>
          </a:xfrm>
          <a:custGeom>
            <a:avLst/>
            <a:gdLst/>
            <a:ahLst/>
            <a:cxnLst/>
            <a:rect l="l" t="t" r="r" b="b"/>
            <a:pathLst>
              <a:path w="12192000" h="3953510">
                <a:moveTo>
                  <a:pt x="12192000" y="0"/>
                </a:moveTo>
                <a:lnTo>
                  <a:pt x="0" y="0"/>
                </a:lnTo>
                <a:lnTo>
                  <a:pt x="0" y="3953510"/>
                </a:lnTo>
                <a:lnTo>
                  <a:pt x="12192000" y="395351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45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/>
          <a:stretch>
            <a:fillRect/>
          </a:stretch>
        </p:blipFill>
        <p:spPr>
          <a:xfrm>
            <a:off x="3452497" y="696409"/>
            <a:ext cx="5296531" cy="1102858"/>
          </a:xfrm>
          <a:prstGeom prst="rect">
            <a:avLst/>
          </a:prstGeom>
        </p:spPr>
      </p:pic>
      <p:sp>
        <p:nvSpPr>
          <p:cNvPr id="4" name="文字 中期进展汇报"/>
          <p:cNvSpPr>
            <a:spLocks noGrp="1"/>
          </p:cNvSpPr>
          <p:nvPr/>
        </p:nvSpPr>
        <p:spPr>
          <a:xfrm>
            <a:off x="0" y="2298700"/>
            <a:ext cx="121920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defRPr sz="30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0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中期进展汇报</a:t>
            </a:r>
            <a:endParaRPr sz="30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字 基于视觉动态感知的人体穴位定位&#10;与三维点云优"/>
          <p:cNvSpPr>
            <a:spLocks noGrp="1"/>
          </p:cNvSpPr>
          <p:nvPr/>
        </p:nvSpPr>
        <p:spPr>
          <a:xfrm>
            <a:off x="571500" y="3060700"/>
            <a:ext cx="11049000" cy="1320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defRPr sz="3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基于视觉感知与自适应双向 RRT 的</a:t>
            </a:r>
            <a:endParaRPr sz="3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defRPr sz="3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机械臂运动规划研究</a:t>
            </a:r>
            <a:endParaRPr sz="3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字 汇报人：郭兴雨&#10;专　业：机械电子工程&#10;导　师"/>
          <p:cNvSpPr>
            <a:spLocks noGrp="1"/>
          </p:cNvSpPr>
          <p:nvPr/>
        </p:nvSpPr>
        <p:spPr>
          <a:xfrm>
            <a:off x="3632200" y="4508500"/>
            <a:ext cx="495300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2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2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汇报人：郭兴雨</a:t>
            </a:r>
            <a:endParaRPr sz="22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22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2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　业：机械电子工程</a:t>
            </a:r>
            <a:endParaRPr sz="22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22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2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导　师：吴雁 教授</a:t>
            </a:r>
            <a:endParaRPr sz="22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文字 —— 明德 · 明学 · 明事 ——"/>
          <p:cNvSpPr>
            <a:spLocks noGrp="1"/>
          </p:cNvSpPr>
          <p:nvPr/>
        </p:nvSpPr>
        <p:spPr>
          <a:xfrm>
            <a:off x="2794000" y="6121400"/>
            <a:ext cx="660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00" b="0">
                <a:solidFill>
                  <a:srgbClr val="006B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defRPr sz="2200" b="0">
                <a:solidFill>
                  <a:srgbClr val="006B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200" b="0">
                <a:solidFill>
                  <a:srgbClr val="006B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 明德 · 明学 · 明事 ——</a:t>
            </a:r>
            <a:endParaRPr sz="2200" b="0">
              <a:solidFill>
                <a:srgbClr val="006B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"/>
            <a:ext cx="12192000" cy="6858634"/>
            <a:chOff x="0" y="-635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3316604" y="-635"/>
              <a:ext cx="5367020" cy="685863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733550"/>
              <a:ext cx="12192000" cy="4032250"/>
            </a:xfrm>
            <a:custGeom>
              <a:avLst/>
              <a:gdLst/>
              <a:ahLst/>
              <a:cxnLst/>
              <a:rect l="l" t="t" r="r" b="b"/>
              <a:pathLst>
                <a:path w="12192000" h="4032250">
                  <a:moveTo>
                    <a:pt x="12192000" y="0"/>
                  </a:moveTo>
                  <a:lnTo>
                    <a:pt x="0" y="0"/>
                  </a:lnTo>
                  <a:lnTo>
                    <a:pt x="0" y="4032250"/>
                  </a:lnTo>
                  <a:lnTo>
                    <a:pt x="12192000" y="40322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45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20915" y="303315"/>
              <a:ext cx="399787" cy="408734"/>
            </a:xfrm>
            <a:prstGeom prst="rect">
              <a:avLst/>
            </a:prstGeom>
          </p:spPr>
        </p:pic>
      </p:grpSp>
      <p:grpSp>
        <p:nvGrpSpPr>
          <p:cNvPr id="6" name="object 7"/>
          <p:cNvGrpSpPr/>
          <p:nvPr/>
        </p:nvGrpSpPr>
        <p:grpSpPr>
          <a:xfrm>
            <a:off x="3926840" y="697865"/>
            <a:ext cx="4039870" cy="1082675"/>
            <a:chOff x="3926840" y="697865"/>
            <a:chExt cx="4039870" cy="1082675"/>
          </a:xfrm>
        </p:grpSpPr>
        <p:sp>
          <p:nvSpPr>
            <p:cNvPr id="7" name="object 8"/>
            <p:cNvSpPr/>
            <p:nvPr/>
          </p:nvSpPr>
          <p:spPr>
            <a:xfrm>
              <a:off x="3926840" y="1139189"/>
              <a:ext cx="4039870" cy="63500"/>
            </a:xfrm>
            <a:custGeom>
              <a:avLst/>
              <a:gdLst/>
              <a:ahLst/>
              <a:cxnLst/>
              <a:rect l="l" t="t" r="r" b="b"/>
              <a:pathLst>
                <a:path w="4039870" h="63500">
                  <a:moveTo>
                    <a:pt x="1163955" y="42291"/>
                  </a:moveTo>
                  <a:lnTo>
                    <a:pt x="0" y="42291"/>
                  </a:lnTo>
                  <a:lnTo>
                    <a:pt x="0" y="63500"/>
                  </a:lnTo>
                  <a:lnTo>
                    <a:pt x="1163955" y="63500"/>
                  </a:lnTo>
                  <a:lnTo>
                    <a:pt x="1163955" y="42291"/>
                  </a:lnTo>
                  <a:close/>
                </a:path>
                <a:path w="4039870" h="63500">
                  <a:moveTo>
                    <a:pt x="1163955" y="0"/>
                  </a:moveTo>
                  <a:lnTo>
                    <a:pt x="0" y="0"/>
                  </a:lnTo>
                  <a:lnTo>
                    <a:pt x="0" y="21209"/>
                  </a:lnTo>
                  <a:lnTo>
                    <a:pt x="1163955" y="21209"/>
                  </a:lnTo>
                  <a:lnTo>
                    <a:pt x="1163955" y="0"/>
                  </a:lnTo>
                  <a:close/>
                </a:path>
                <a:path w="4039870" h="63500">
                  <a:moveTo>
                    <a:pt x="4039870" y="42291"/>
                  </a:moveTo>
                  <a:lnTo>
                    <a:pt x="2982595" y="42291"/>
                  </a:lnTo>
                  <a:lnTo>
                    <a:pt x="2982595" y="63500"/>
                  </a:lnTo>
                  <a:lnTo>
                    <a:pt x="4039870" y="63500"/>
                  </a:lnTo>
                  <a:lnTo>
                    <a:pt x="4039870" y="42291"/>
                  </a:lnTo>
                  <a:close/>
                </a:path>
                <a:path w="4039870" h="63500">
                  <a:moveTo>
                    <a:pt x="4039870" y="0"/>
                  </a:moveTo>
                  <a:lnTo>
                    <a:pt x="2982595" y="0"/>
                  </a:lnTo>
                  <a:lnTo>
                    <a:pt x="2982595" y="21209"/>
                  </a:lnTo>
                  <a:lnTo>
                    <a:pt x="4039870" y="21209"/>
                  </a:lnTo>
                  <a:lnTo>
                    <a:pt x="4039870" y="0"/>
                  </a:lnTo>
                  <a:close/>
                </a:path>
              </a:pathLst>
            </a:custGeom>
            <a:solidFill>
              <a:srgbClr val="0064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9"/>
            <p:cNvSpPr/>
            <p:nvPr/>
          </p:nvSpPr>
          <p:spPr>
            <a:xfrm>
              <a:off x="5090795" y="697865"/>
              <a:ext cx="1818639" cy="1082675"/>
            </a:xfrm>
            <a:custGeom>
              <a:avLst/>
              <a:gdLst/>
              <a:ahLst/>
              <a:cxnLst/>
              <a:rect l="l" t="t" r="r" b="b"/>
              <a:pathLst>
                <a:path w="1818639" h="1082675">
                  <a:moveTo>
                    <a:pt x="1818639" y="0"/>
                  </a:moveTo>
                  <a:lnTo>
                    <a:pt x="0" y="0"/>
                  </a:lnTo>
                  <a:lnTo>
                    <a:pt x="0" y="1082675"/>
                  </a:lnTo>
                  <a:lnTo>
                    <a:pt x="1818639" y="1082675"/>
                  </a:lnTo>
                  <a:lnTo>
                    <a:pt x="1818639" y="0"/>
                  </a:lnTo>
                  <a:close/>
                </a:path>
              </a:pathLst>
            </a:custGeom>
            <a:solidFill>
              <a:srgbClr val="B1D0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10"/>
          <p:cNvSpPr txBox="1">
            <a:spLocks noGrp="1"/>
          </p:cNvSpPr>
          <p:nvPr>
            <p:ph type="title"/>
          </p:nvPr>
        </p:nvSpPr>
        <p:spPr>
          <a:xfrm>
            <a:off x="5148198" y="744677"/>
            <a:ext cx="170497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70">
                <a:solidFill>
                  <a:srgbClr val="006453"/>
                </a:solidFill>
              </a:rPr>
              <a:t>目</a:t>
            </a:r>
            <a:r>
              <a:rPr sz="6600" spc="-60">
                <a:solidFill>
                  <a:srgbClr val="006453"/>
                </a:solidFill>
              </a:rPr>
              <a:t>录</a:t>
            </a:r>
            <a:endParaRPr sz="6600"/>
          </a:p>
        </p:txBody>
      </p:sp>
      <p:pic>
        <p:nvPicPr>
          <p:cNvPr id="10" name="图片 10" descr="机械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-76200"/>
            <a:ext cx="5143500" cy="6858000"/>
          </a:xfrm>
          <a:prstGeom prst="rect">
            <a:avLst/>
          </a:prstGeom>
        </p:spPr>
      </p:pic>
      <p:sp>
        <p:nvSpPr>
          <p:cNvPr id="11" name="文字 课题概述&#10;研究内容&#10;阶段成果&#10;后续计划"/>
          <p:cNvSpPr>
            <a:spLocks noGrp="1"/>
          </p:cNvSpPr>
          <p:nvPr/>
        </p:nvSpPr>
        <p:spPr>
          <a:xfrm>
            <a:off x="3619500" y="2463800"/>
            <a:ext cx="5461000" cy="312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3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　课题概述</a:t>
            </a:r>
            <a:endParaRPr sz="3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3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　研究内容</a:t>
            </a:r>
            <a:endParaRPr sz="3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3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　阶段成果</a:t>
            </a:r>
            <a:endParaRPr sz="3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3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3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　后续计划</a:t>
            </a:r>
            <a:endParaRPr sz="3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/>
          <p:cNvPicPr>
            <a:picLocks noChangeAspect="1"/>
          </p:cNvPicPr>
          <p:nvPr/>
        </p:nvPicPr>
        <p:blipFill>
          <a:blip r:embed="rId1"/>
          <a:srcRect t="13889"/>
          <a:stretch>
            <a:fillRect/>
          </a:stretch>
        </p:blipFill>
        <p:spPr>
          <a:xfrm>
            <a:off x="0" y="952500"/>
            <a:ext cx="12192000" cy="59055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rcRect l="31250" b="86111"/>
          <a:stretch>
            <a:fillRect/>
          </a:stretch>
        </p:blipFill>
        <p:spPr>
          <a:xfrm>
            <a:off x="3810000" y="0"/>
            <a:ext cx="8382000" cy="952500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14300"/>
            <a:ext cx="3566160" cy="742950"/>
          </a:xfrm>
          <a:prstGeom prst="rect">
            <a:avLst/>
          </a:prstGeom>
        </p:spPr>
      </p:pic>
      <p:sp>
        <p:nvSpPr>
          <p:cNvPr id="3" name="文字 课题概述"/>
          <p:cNvSpPr>
            <a:spLocks noGrp="1"/>
          </p:cNvSpPr>
          <p:nvPr/>
        </p:nvSpPr>
        <p:spPr>
          <a:xfrm>
            <a:off x="1524000" y="3543300"/>
            <a:ext cx="6985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algn="ctr">
              <a:def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课题概述</a:t>
            </a:r>
            <a:endParaRPr sz="4800" b="0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字 PART ONE"/>
          <p:cNvSpPr>
            <a:spLocks noGrp="1"/>
          </p:cNvSpPr>
          <p:nvPr/>
        </p:nvSpPr>
        <p:spPr>
          <a:xfrm>
            <a:off x="8597900" y="2324100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r">
              <a:def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PART ONE</a:t>
            </a:r>
            <a:endParaRPr sz="3600" b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文字 01"/>
          <p:cNvSpPr>
            <a:spLocks noGrp="1"/>
          </p:cNvSpPr>
          <p:nvPr/>
        </p:nvSpPr>
        <p:spPr>
          <a:xfrm>
            <a:off x="9474200" y="4064000"/>
            <a:ext cx="2184400" cy="138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endParaRPr sz="8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课题概述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课题概述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研究背景与目标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研究背景与目标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04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个体差异"/>
          <p:cNvSpPr>
            <a:spLocks noGrp="1"/>
          </p:cNvSpPr>
          <p:nvPr/>
        </p:nvSpPr>
        <p:spPr>
          <a:xfrm>
            <a:off x="482600" y="1879600"/>
            <a:ext cx="66675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个体差异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文字 体型与姿态改变解剖比例，固定模板易偏移。"/>
          <p:cNvSpPr>
            <a:spLocks noGrp="1"/>
          </p:cNvSpPr>
          <p:nvPr/>
        </p:nvSpPr>
        <p:spPr>
          <a:xfrm>
            <a:off x="482600" y="2413000"/>
            <a:ext cx="666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体型与姿态改变解剖比例，固定模板易偏移。</a:t>
            </a:r>
            <a:endParaRPr sz="22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文字 隐式穴位"/>
          <p:cNvSpPr>
            <a:spLocks noGrp="1"/>
          </p:cNvSpPr>
          <p:nvPr/>
        </p:nvSpPr>
        <p:spPr>
          <a:xfrm>
            <a:off x="482600" y="3238500"/>
            <a:ext cx="66675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隐式穴位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文字 先检测可见解剖锚点，再依据骨度规则推算。"/>
          <p:cNvSpPr>
            <a:spLocks noGrp="1"/>
          </p:cNvSpPr>
          <p:nvPr/>
        </p:nvSpPr>
        <p:spPr>
          <a:xfrm>
            <a:off x="482600" y="3771900"/>
            <a:ext cx="666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先检测可见解剖锚点，再依据骨度规则推算。</a:t>
            </a:r>
            <a:endParaRPr sz="22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文字 三维执行"/>
          <p:cNvSpPr>
            <a:spLocks noGrp="1"/>
          </p:cNvSpPr>
          <p:nvPr/>
        </p:nvSpPr>
        <p:spPr>
          <a:xfrm>
            <a:off x="482600" y="4597400"/>
            <a:ext cx="66675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三维执行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文字 将二维定位转为空间点与法向，支持路径生成。"/>
          <p:cNvSpPr>
            <a:spLocks noGrp="1"/>
          </p:cNvSpPr>
          <p:nvPr/>
        </p:nvSpPr>
        <p:spPr>
          <a:xfrm>
            <a:off x="482600" y="5130800"/>
            <a:ext cx="666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将二维定位转为空间点与法向，支持路径生成。</a:t>
            </a:r>
            <a:endParaRPr sz="22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576" y="1828800"/>
            <a:ext cx="2884947" cy="3848100"/>
          </a:xfrm>
          <a:prstGeom prst="rect">
            <a:avLst/>
          </a:prstGeom>
        </p:spPr>
      </p:pic>
      <p:sp>
        <p:nvSpPr>
          <p:cNvPr id="20" name="文字 人体姿态关键点示例"/>
          <p:cNvSpPr>
            <a:spLocks noGrp="1"/>
          </p:cNvSpPr>
          <p:nvPr/>
        </p:nvSpPr>
        <p:spPr>
          <a:xfrm>
            <a:off x="7594600" y="5702300"/>
            <a:ext cx="4191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8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人体姿态关键点示例</a:t>
            </a:r>
            <a:endParaRPr sz="18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/>
          <p:cNvPicPr>
            <a:picLocks noChangeAspect="1"/>
          </p:cNvPicPr>
          <p:nvPr/>
        </p:nvPicPr>
        <p:blipFill>
          <a:blip r:embed="rId1"/>
          <a:srcRect t="13889"/>
          <a:stretch>
            <a:fillRect/>
          </a:stretch>
        </p:blipFill>
        <p:spPr>
          <a:xfrm>
            <a:off x="0" y="952500"/>
            <a:ext cx="12192000" cy="59055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rcRect l="31250" b="86111"/>
          <a:stretch>
            <a:fillRect/>
          </a:stretch>
        </p:blipFill>
        <p:spPr>
          <a:xfrm>
            <a:off x="3810000" y="0"/>
            <a:ext cx="8382000" cy="952500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14300"/>
            <a:ext cx="3566160" cy="742950"/>
          </a:xfrm>
          <a:prstGeom prst="rect">
            <a:avLst/>
          </a:prstGeom>
        </p:spPr>
      </p:pic>
      <p:sp>
        <p:nvSpPr>
          <p:cNvPr id="3" name="文字 研究内容"/>
          <p:cNvSpPr>
            <a:spLocks noGrp="1"/>
          </p:cNvSpPr>
          <p:nvPr/>
        </p:nvSpPr>
        <p:spPr>
          <a:xfrm>
            <a:off x="1524000" y="3543300"/>
            <a:ext cx="6985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algn="ctr">
              <a:def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研究内容</a:t>
            </a:r>
            <a:endParaRPr sz="4800" b="0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字 PART TWO"/>
          <p:cNvSpPr>
            <a:spLocks noGrp="1"/>
          </p:cNvSpPr>
          <p:nvPr/>
        </p:nvSpPr>
        <p:spPr>
          <a:xfrm>
            <a:off x="8597900" y="2324100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r">
              <a:def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PART TWO</a:t>
            </a:r>
            <a:endParaRPr sz="3600" b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文字 02"/>
          <p:cNvSpPr>
            <a:spLocks noGrp="1"/>
          </p:cNvSpPr>
          <p:nvPr/>
        </p:nvSpPr>
        <p:spPr>
          <a:xfrm>
            <a:off x="9474200" y="4064000"/>
            <a:ext cx="2184400" cy="138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8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研究内容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研究内容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分部位锚点检测框架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分部位锚点检测框架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06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输入人体图像与部位编码，按部位调用对应模型。"/>
          <p:cNvSpPr>
            <a:spLocks noGrp="1"/>
          </p:cNvSpPr>
          <p:nvPr/>
        </p:nvSpPr>
        <p:spPr>
          <a:xfrm>
            <a:off x="482600" y="1841500"/>
            <a:ext cx="1117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输入人体图像与部位编码，按部位调用对应模型。</a:t>
            </a:r>
            <a:endParaRPr sz="24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482600" y="2590800"/>
          <a:ext cx="11226800" cy="2921000"/>
        </p:xfrm>
        <a:graphic>
          <a:graphicData uri="http://schemas.openxmlformats.org/drawingml/2006/table">
            <a:tbl>
              <a:tblPr/>
              <a:tblGrid>
                <a:gridCol w="1854200"/>
                <a:gridCol w="4635500"/>
                <a:gridCol w="4737100"/>
              </a:tblGrid>
              <a:tr h="730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部位</a:t>
                      </a:r>
                      <a:endParaRPr sz="22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当前模型组合</a:t>
                      </a:r>
                      <a:endParaRPr sz="22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解剖锚点</a:t>
                      </a:r>
                      <a:endParaRPr sz="22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</a:tr>
              <a:tr h="730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背部</a:t>
                      </a:r>
                      <a:endParaRPr sz="22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通用姿态 + 颈部模型</a:t>
                      </a:r>
                      <a:endParaRPr sz="22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颈部、肩部、髋部</a:t>
                      </a:r>
                      <a:endParaRPr sz="22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  <a:tr h="730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腹部</a:t>
                      </a:r>
                      <a:endParaRPr sz="22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通用姿态 + 脐部模型</a:t>
                      </a:r>
                      <a:endParaRPr sz="22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脐部、肩部、髋部</a:t>
                      </a:r>
                      <a:endParaRPr sz="22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腿部</a:t>
                      </a:r>
                      <a:endParaRPr sz="22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通用姿态模型</a:t>
                      </a:r>
                      <a:endParaRPr sz="22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髋部、膝部、踝部</a:t>
                      </a:r>
                      <a:endParaRPr sz="22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</a:tbl>
          </a:graphicData>
        </a:graphic>
      </p:graphicFrame>
      <p:sp>
        <p:nvSpPr>
          <p:cNvPr id="15" name="文字 解剖锚点建立个体化基线，骨度规则进一步计算二"/>
          <p:cNvSpPr>
            <a:spLocks noGrp="1"/>
          </p:cNvSpPr>
          <p:nvPr/>
        </p:nvSpPr>
        <p:spPr>
          <a:xfrm>
            <a:off x="482600" y="6045200"/>
            <a:ext cx="112522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解剖锚点建立个体化基线，骨度规则进一步计算二维穴位坐标。</a:t>
            </a:r>
            <a:endParaRPr sz="15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研究内容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研究内容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骨度几何推理：个体化寸标定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骨度几何推理：个体化寸标定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07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07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纵向尺度"/>
          <p:cNvSpPr>
            <a:spLocks noGrp="1"/>
          </p:cNvSpPr>
          <p:nvPr/>
        </p:nvSpPr>
        <p:spPr>
          <a:xfrm>
            <a:off x="482600" y="1917700"/>
            <a:ext cx="6096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纵向尺度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文字 λₗ = ‖H − N‖ / 22"/>
          <p:cNvSpPr>
            <a:spLocks noGrp="1"/>
          </p:cNvSpPr>
          <p:nvPr/>
        </p:nvSpPr>
        <p:spPr>
          <a:xfrm>
            <a:off x="482600" y="2438400"/>
            <a:ext cx="6604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900" b="0">
                <a:solidFill>
                  <a:srgbClr val="171D1B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</a:lstStyle>
          <a:p>
            <a:pPr algn="l">
              <a:defRPr sz="2900" b="0">
                <a:solidFill>
                  <a:srgbClr val="171D1B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2900" b="0">
                <a:solidFill>
                  <a:srgbClr val="171D1B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λₗ = ‖H − N‖ / 22</a:t>
            </a:r>
            <a:endParaRPr sz="2900" b="0">
              <a:solidFill>
                <a:srgbClr val="171D1B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5" name="文字 横向尺度"/>
          <p:cNvSpPr>
            <a:spLocks noGrp="1"/>
          </p:cNvSpPr>
          <p:nvPr/>
        </p:nvSpPr>
        <p:spPr>
          <a:xfrm>
            <a:off x="482600" y="3200400"/>
            <a:ext cx="6096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横向尺度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文字 λw = min(d肩 / 8.5, d髋 "/>
          <p:cNvSpPr>
            <a:spLocks noGrp="1"/>
          </p:cNvSpPr>
          <p:nvPr/>
        </p:nvSpPr>
        <p:spPr>
          <a:xfrm>
            <a:off x="482600" y="3721100"/>
            <a:ext cx="6731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0">
                <a:solidFill>
                  <a:srgbClr val="171D1B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</a:lstStyle>
          <a:p>
            <a:pPr algn="l">
              <a:defRPr sz="2700" b="0">
                <a:solidFill>
                  <a:srgbClr val="171D1B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2700" b="0">
                <a:solidFill>
                  <a:srgbClr val="171D1B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λw = min(d肩 / 8.5, d髋 / 6)</a:t>
            </a:r>
            <a:endParaRPr sz="2700" b="0">
              <a:solidFill>
                <a:srgbClr val="171D1B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sp>
        <p:nvSpPr>
          <p:cNvPr id="17" name="文字 穴位坐标"/>
          <p:cNvSpPr>
            <a:spLocks noGrp="1"/>
          </p:cNvSpPr>
          <p:nvPr/>
        </p:nvSpPr>
        <p:spPr>
          <a:xfrm>
            <a:off x="482600" y="4483100"/>
            <a:ext cx="6096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穴位坐标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文字 P = P₀ + a · λₗ · u + "/>
          <p:cNvSpPr>
            <a:spLocks noGrp="1"/>
          </p:cNvSpPr>
          <p:nvPr/>
        </p:nvSpPr>
        <p:spPr>
          <a:xfrm>
            <a:off x="482600" y="5003800"/>
            <a:ext cx="6921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0">
                <a:solidFill>
                  <a:srgbClr val="171D1B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defPPr>
          </a:lstStyle>
          <a:p>
            <a:pPr algn="l">
              <a:defRPr sz="2700" b="0">
                <a:solidFill>
                  <a:srgbClr val="171D1B"/>
                </a:solidFill>
                <a:latin typeface="Cambria" panose="02040503050406030204"/>
                <a:ea typeface="Cambria" panose="02040503050406030204"/>
                <a:cs typeface="Cambria" panose="02040503050406030204"/>
              </a:defRPr>
            </a:pPr>
            <a:r>
              <a:rPr sz="2700" b="0">
                <a:solidFill>
                  <a:srgbClr val="171D1B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 = P₀ + a · λₗ · u + b · λw · v</a:t>
            </a:r>
            <a:endParaRPr sz="2700" b="0">
              <a:solidFill>
                <a:srgbClr val="171D1B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863" y="1841500"/>
            <a:ext cx="2428875" cy="3886200"/>
          </a:xfrm>
          <a:prstGeom prst="rect">
            <a:avLst/>
          </a:prstGeom>
        </p:spPr>
      </p:pic>
      <p:sp>
        <p:nvSpPr>
          <p:cNvPr id="20" name="文字 λ：像素/寸；a、b：纵横向寸偏移；u、v："/>
          <p:cNvSpPr>
            <a:spLocks noGrp="1"/>
          </p:cNvSpPr>
          <p:nvPr/>
        </p:nvSpPr>
        <p:spPr>
          <a:xfrm>
            <a:off x="482600" y="5892800"/>
            <a:ext cx="112522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4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4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λ：像素/寸；a、b：纵横向寸偏移；u、v：纵横向单位向量。</a:t>
            </a:r>
            <a:endParaRPr sz="14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14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4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N、H：颈部与髋中点；d肩、d髋：单侧肩/髋到各自中点的距离。</a:t>
            </a:r>
            <a:endParaRPr sz="14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研究内容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研究内容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JSON 规则库与穴位扩展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 规则库与穴位扩展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08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08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82600" y="1917700"/>
          <a:ext cx="6959600" cy="3441700"/>
        </p:xfrm>
        <a:graphic>
          <a:graphicData uri="http://schemas.openxmlformats.org/drawingml/2006/table">
            <a:tbl>
              <a:tblPr/>
              <a:tblGrid>
                <a:gridCol w="2413000"/>
                <a:gridCol w="4546600"/>
              </a:tblGrid>
              <a:tr h="68834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规则字段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大椎示例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</a:tr>
              <a:tr h="68834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穴位编码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GV14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  <a:tr h="68834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参考起点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back_start_point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834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参考终点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hip_mid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  <a:tr h="68834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纵向偏移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offset_cun = 3.0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文字 模型与规则分离"/>
          <p:cNvSpPr>
            <a:spLocks noGrp="1"/>
          </p:cNvSpPr>
          <p:nvPr/>
        </p:nvSpPr>
        <p:spPr>
          <a:xfrm>
            <a:off x="7950200" y="2019300"/>
            <a:ext cx="37465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7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7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模型与规则分离</a:t>
            </a:r>
            <a:endParaRPr sz="27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文字 网络负责检测锚点&#10;规则负责计算穴位&#10;&#10;在已有"/>
          <p:cNvSpPr>
            <a:spLocks noGrp="1"/>
          </p:cNvSpPr>
          <p:nvPr/>
        </p:nvSpPr>
        <p:spPr>
          <a:xfrm>
            <a:off x="7950200" y="2641600"/>
            <a:ext cx="3746500" cy="281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网络负责检测锚点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规则负责计算穴位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endParaRPr sz="2300"/>
          </a:p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在已有基线覆盖范围内，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新增穴位可通过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配置扩展。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文字 新增规则仍需核对解剖基准，并通过人工标注验证"/>
          <p:cNvSpPr>
            <a:spLocks noGrp="1"/>
          </p:cNvSpPr>
          <p:nvPr/>
        </p:nvSpPr>
        <p:spPr>
          <a:xfrm>
            <a:off x="482600" y="6045200"/>
            <a:ext cx="112522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新增规则仍需核对解剖基准，并通过人工标注验证定位误差。</a:t>
            </a:r>
            <a:endParaRPr sz="15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研究内容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研究内容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姿态检查与异常处理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姿态检查与异常处理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09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09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输入检查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82600" y="1879600"/>
            <a:ext cx="6604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输入检查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文字 人体检出、必要关键点置信度与部位条件。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82600" y="2413000"/>
            <a:ext cx="6604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人体检出、必要关键点置信度与部位条件。</a:t>
            </a:r>
            <a:endParaRPr sz="22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文字 姿态约束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82600" y="3251200"/>
            <a:ext cx="6604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姿态约束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文字 结合肩髋方向、躯干比例和腿部张角判断。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82600" y="3784600"/>
            <a:ext cx="6604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结合肩髋方向、躯干比例和腿部张角判断。</a:t>
            </a:r>
            <a:endParaRPr sz="22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文字 当前处理与改进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82600" y="4622800"/>
            <a:ext cx="6604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人工确认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文字 失败时回退默认模板；后续增加重拍与人工复核。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82600" y="5156200"/>
            <a:ext cx="6604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失败时可回退模板，经人工确认后再转换三维目标。</a:t>
            </a:r>
            <a:endParaRPr sz="22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3980" y="1866900"/>
            <a:ext cx="2552241" cy="3810000"/>
          </a:xfrm>
          <a:prstGeom prst="rect">
            <a:avLst/>
          </a:prstGeom>
        </p:spPr>
      </p:pic>
      <p:sp>
        <p:nvSpPr>
          <p:cNvPr id="20" name="文字 遮挡场景定位示例"/>
          <p:cNvSpPr>
            <a:spLocks noGrp="1"/>
          </p:cNvSpPr>
          <p:nvPr/>
        </p:nvSpPr>
        <p:spPr>
          <a:xfrm>
            <a:off x="7683500" y="57277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8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遮挡场景定位示例</a:t>
            </a:r>
            <a:endParaRPr sz="18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研究内容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研究内容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二维穴位映射与点云处理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三维定位与末端姿态生成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10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RGB-D 空间映射"/>
          <p:cNvSpPr>
            <a:spLocks noGrp="1"/>
          </p:cNvSpPr>
          <p:nvPr/>
        </p:nvSpPr>
        <p:spPr>
          <a:xfrm>
            <a:off x="482600" y="1917700"/>
            <a:ext cx="43688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确认像素的空间映射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文字 用对齐深度与相机内参，&#10;将穴位像素反投影为空"/>
          <p:cNvSpPr>
            <a:spLocks noGrp="1"/>
          </p:cNvSpPr>
          <p:nvPr/>
        </p:nvSpPr>
        <p:spPr>
          <a:xfrm>
            <a:off x="482600" y="2514600"/>
            <a:ext cx="4318000" cy="97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确认像素结合保存的深度，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匹配点云中的三维位置。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文字 体表点云处理"/>
          <p:cNvSpPr>
            <a:spLocks noGrp="1"/>
          </p:cNvSpPr>
          <p:nvPr/>
        </p:nvSpPr>
        <p:spPr>
          <a:xfrm>
            <a:off x="482600" y="3848100"/>
            <a:ext cx="43688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曲面法向与工具姿态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文字 筛除背景并进行下采样，&#10;估计局部表面法向。"/>
          <p:cNvSpPr>
            <a:spLocks noGrp="1"/>
          </p:cNvSpPr>
          <p:nvPr/>
        </p:nvSpPr>
        <p:spPr>
          <a:xfrm>
            <a:off x="482600" y="4445000"/>
            <a:ext cx="4318000" cy="97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估计局部体表法向，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构造朝向体表的工具姿态。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830" y="1917700"/>
            <a:ext cx="5336341" cy="3606800"/>
          </a:xfrm>
          <a:prstGeom prst="rect">
            <a:avLst/>
          </a:prstGeom>
        </p:spPr>
      </p:pic>
      <p:sp>
        <p:nvSpPr>
          <p:cNvPr id="18" name="文字 目标输出为空间位置与表面方向，供机械臂后续规"/>
          <p:cNvSpPr>
            <a:spLocks noGrp="1"/>
          </p:cNvSpPr>
          <p:nvPr/>
        </p:nvSpPr>
        <p:spPr>
          <a:xfrm>
            <a:off x="482600" y="6045200"/>
            <a:ext cx="112522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输出机箱坐标系下的位置与姿态，轨迹平滑后统一转换到机械臂基坐标系。</a:t>
            </a:r>
            <a:endParaRPr sz="15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gxy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665480"/>
            <a:ext cx="3187700" cy="510032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研究内容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研究内容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ROS 2 接口与部署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 2 接口与部署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11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输入与输出"/>
          <p:cNvSpPr>
            <a:spLocks noGrp="1"/>
          </p:cNvSpPr>
          <p:nvPr/>
        </p:nvSpPr>
        <p:spPr>
          <a:xfrm>
            <a:off x="482600" y="1917700"/>
            <a:ext cx="62611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模块间数据传递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文字 输入：人体图像、部位编码&#10;输出：穴位像素坐标"/>
          <p:cNvSpPr>
            <a:spLocks noGrp="1"/>
          </p:cNvSpPr>
          <p:nvPr/>
        </p:nvSpPr>
        <p:spPr>
          <a:xfrm>
            <a:off x="482600" y="2514600"/>
            <a:ext cx="6565900" cy="142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识别输出：穴位编码与像素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人工确认后：生成三维位姿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轨迹接口：发送基坐标系目标</a:t>
            </a:r>
            <a:endParaRPr sz="23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文字 部署方式"/>
          <p:cNvSpPr>
            <a:spLocks noGrp="1"/>
          </p:cNvSpPr>
          <p:nvPr/>
        </p:nvSpPr>
        <p:spPr>
          <a:xfrm>
            <a:off x="482600" y="4292600"/>
            <a:ext cx="62611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部署方式</a:t>
            </a:r>
            <a:endParaRPr sz="26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文字 x86：OpenVINO&#10;ARM：RKNN"/>
          <p:cNvSpPr>
            <a:spLocks noGrp="1"/>
          </p:cNvSpPr>
          <p:nvPr/>
        </p:nvSpPr>
        <p:spPr>
          <a:xfrm>
            <a:off x="482600" y="4851400"/>
            <a:ext cx="62611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4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4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x86：OpenVINO</a:t>
            </a:r>
            <a:endParaRPr sz="24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4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4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ARM：RKNN</a:t>
            </a:r>
            <a:endParaRPr sz="24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文字 现场识别显示"/>
          <p:cNvSpPr>
            <a:spLocks noGrp="1"/>
          </p:cNvSpPr>
          <p:nvPr/>
        </p:nvSpPr>
        <p:spPr>
          <a:xfrm>
            <a:off x="7632700" y="5778500"/>
            <a:ext cx="39116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8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现场识别显示</a:t>
            </a:r>
            <a:endParaRPr sz="18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/>
          <p:cNvPicPr>
            <a:picLocks noChangeAspect="1"/>
          </p:cNvPicPr>
          <p:nvPr/>
        </p:nvPicPr>
        <p:blipFill>
          <a:blip r:embed="rId1"/>
          <a:srcRect t="13889"/>
          <a:stretch>
            <a:fillRect/>
          </a:stretch>
        </p:blipFill>
        <p:spPr>
          <a:xfrm>
            <a:off x="0" y="952500"/>
            <a:ext cx="12192000" cy="59055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rcRect l="31250" b="86111"/>
          <a:stretch>
            <a:fillRect/>
          </a:stretch>
        </p:blipFill>
        <p:spPr>
          <a:xfrm>
            <a:off x="3810000" y="0"/>
            <a:ext cx="8382000" cy="952500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14300"/>
            <a:ext cx="3566160" cy="742950"/>
          </a:xfrm>
          <a:prstGeom prst="rect">
            <a:avLst/>
          </a:prstGeom>
        </p:spPr>
      </p:pic>
      <p:sp>
        <p:nvSpPr>
          <p:cNvPr id="3" name="文字 阶段成果"/>
          <p:cNvSpPr>
            <a:spLocks noGrp="1"/>
          </p:cNvSpPr>
          <p:nvPr/>
        </p:nvSpPr>
        <p:spPr>
          <a:xfrm>
            <a:off x="1524000" y="3543300"/>
            <a:ext cx="6985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algn="ctr">
              <a:def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阶段成果</a:t>
            </a:r>
            <a:endParaRPr sz="4800" b="0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字 PART THREE"/>
          <p:cNvSpPr>
            <a:spLocks noGrp="1"/>
          </p:cNvSpPr>
          <p:nvPr/>
        </p:nvSpPr>
        <p:spPr>
          <a:xfrm>
            <a:off x="8597900" y="2324100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r">
              <a:def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PART THREE</a:t>
            </a:r>
            <a:endParaRPr sz="3600" b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文字 03"/>
          <p:cNvSpPr>
            <a:spLocks noGrp="1"/>
          </p:cNvSpPr>
          <p:nvPr/>
        </p:nvSpPr>
        <p:spPr>
          <a:xfrm>
            <a:off x="9474200" y="4064000"/>
            <a:ext cx="2184400" cy="138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8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阶段成果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阶段成果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锚点模型训练结果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锚点模型训练结果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13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训练基座：YOLO11x-Pose    输"/>
          <p:cNvSpPr>
            <a:spLocks noGrp="1"/>
          </p:cNvSpPr>
          <p:nvPr/>
        </p:nvSpPr>
        <p:spPr>
          <a:xfrm>
            <a:off x="482600" y="1841500"/>
            <a:ext cx="11303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训练基座：YOLO11x-Pose    输入尺寸：640    任务：Pose</a:t>
            </a:r>
            <a:endParaRPr sz="23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482600" y="2603500"/>
          <a:ext cx="11226800" cy="2844800"/>
        </p:xfrm>
        <a:graphic>
          <a:graphicData uri="http://schemas.openxmlformats.org/drawingml/2006/table">
            <a:tbl>
              <a:tblPr/>
              <a:tblGrid>
                <a:gridCol w="1993900"/>
                <a:gridCol w="1524000"/>
                <a:gridCol w="1524000"/>
                <a:gridCol w="1524000"/>
                <a:gridCol w="1524000"/>
                <a:gridCol w="3136900"/>
              </a:tblGrid>
              <a:tr h="7112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模型</a:t>
                      </a:r>
                      <a:endParaRPr sz="21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Epoch</a:t>
                      </a:r>
                      <a:endParaRPr sz="21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Batch</a:t>
                      </a:r>
                      <a:endParaRPr sz="21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P</a:t>
                      </a:r>
                      <a:endParaRPr sz="21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R</a:t>
                      </a:r>
                      <a:endParaRPr sz="21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mAP50–95(P)</a:t>
                      </a:r>
                      <a:endParaRPr sz="21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</a:tr>
              <a:tr h="7112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颈部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100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16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1.000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1.000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0.995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  <a:tr h="7112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脐部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100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16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1.000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1.000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0.995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膝部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200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24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0.998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1.000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0.995</a:t>
                      </a:r>
                      <a:endParaRPr sz="21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</a:tbl>
          </a:graphicData>
        </a:graphic>
      </p:graphicFrame>
      <p:sp>
        <p:nvSpPr>
          <p:cNvPr id="15" name="文字 指标来自验证集最后一轮；锚点检测指标不等同于"/>
          <p:cNvSpPr>
            <a:spLocks noGrp="1"/>
          </p:cNvSpPr>
          <p:nvPr/>
        </p:nvSpPr>
        <p:spPr>
          <a:xfrm>
            <a:off x="482600" y="6045200"/>
            <a:ext cx="112522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指标来自验证集最后一轮；锚点检测指标不等同于最终穴位定位误差。</a:t>
            </a:r>
            <a:endParaRPr sz="15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阶段成果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阶段成果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训练收敛与定位损失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训练收敛与定位损失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14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验证集姿态损失（log10）"/>
          <p:cNvSpPr>
            <a:spLocks noGrp="1"/>
          </p:cNvSpPr>
          <p:nvPr/>
        </p:nvSpPr>
        <p:spPr>
          <a:xfrm>
            <a:off x="482600" y="1854200"/>
            <a:ext cx="54610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验证集姿态损失（log10）</a:t>
            </a:r>
            <a:endParaRPr sz="21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文字 关键点 mAP50–95"/>
          <p:cNvSpPr>
            <a:spLocks noGrp="1"/>
          </p:cNvSpPr>
          <p:nvPr/>
        </p:nvSpPr>
        <p:spPr>
          <a:xfrm>
            <a:off x="6413500" y="1854200"/>
            <a:ext cx="53340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关键点 mAP50–95</a:t>
            </a:r>
            <a:endParaRPr sz="21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aphicFrame>
        <p:nvGraphicFramePr>
          <p:cNvPr id="15" name="Chart"/>
          <p:cNvGraphicFramePr/>
          <p:nvPr/>
        </p:nvGraphicFramePr>
        <p:xfrm>
          <a:off x="368300" y="2349500"/>
          <a:ext cx="5588000" cy="321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="6248400" y="2349500"/>
          <a:ext cx="5588000" cy="321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文字 最终 val/pose_loss：颈部 0."/>
          <p:cNvSpPr>
            <a:spLocks noGrp="1"/>
          </p:cNvSpPr>
          <p:nvPr/>
        </p:nvSpPr>
        <p:spPr>
          <a:xfrm>
            <a:off x="482600" y="5626100"/>
            <a:ext cx="11303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最终 val/pose_loss：颈部 0.00723　脐部 0.00049　膝部 0.06434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文字 三类模型均收敛；仍需独立测试集和逐穴位误差评"/>
          <p:cNvSpPr>
            <a:spLocks noGrp="1"/>
          </p:cNvSpPr>
          <p:nvPr/>
        </p:nvSpPr>
        <p:spPr>
          <a:xfrm>
            <a:off x="482600" y="6045200"/>
            <a:ext cx="112522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三类模型均收敛；仍需独立测试集和逐穴位误差评价。</a:t>
            </a:r>
            <a:endParaRPr sz="15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阶段成果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阶段成果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解剖锚点预测示例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解剖锚点预测示例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15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l="50000" t="50000" r="25000" b="25000"/>
          <a:stretch>
            <a:fillRect/>
          </a:stretch>
        </p:blipFill>
        <p:spPr>
          <a:xfrm>
            <a:off x="533400" y="2171700"/>
            <a:ext cx="3429000" cy="3429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l="25000" t="25000" r="50000" b="50000"/>
          <a:stretch>
            <a:fillRect/>
          </a:stretch>
        </p:blipFill>
        <p:spPr>
          <a:xfrm>
            <a:off x="4394200" y="2171700"/>
            <a:ext cx="3429000" cy="3429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l="75000" b="75000"/>
          <a:stretch>
            <a:fillRect/>
          </a:stretch>
        </p:blipFill>
        <p:spPr>
          <a:xfrm>
            <a:off x="8255000" y="2171700"/>
            <a:ext cx="3429000" cy="3429000"/>
          </a:xfrm>
          <a:prstGeom prst="rect">
            <a:avLst/>
          </a:prstGeom>
        </p:spPr>
      </p:pic>
      <p:sp>
        <p:nvSpPr>
          <p:cNvPr id="16" name="文字 颈部锚点"/>
          <p:cNvSpPr>
            <a:spLocks noGrp="1"/>
          </p:cNvSpPr>
          <p:nvPr/>
        </p:nvSpPr>
        <p:spPr>
          <a:xfrm>
            <a:off x="533400" y="1765300"/>
            <a:ext cx="34290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颈部锚点</a:t>
            </a:r>
            <a:endParaRPr sz="23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文字 脐部锚点"/>
          <p:cNvSpPr>
            <a:spLocks noGrp="1"/>
          </p:cNvSpPr>
          <p:nvPr/>
        </p:nvSpPr>
        <p:spPr>
          <a:xfrm>
            <a:off x="4394200" y="1765300"/>
            <a:ext cx="34290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脐部锚点</a:t>
            </a:r>
            <a:endParaRPr sz="23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文字 腿部锚点（预研）"/>
          <p:cNvSpPr>
            <a:spLocks noGrp="1"/>
          </p:cNvSpPr>
          <p:nvPr/>
        </p:nvSpPr>
        <p:spPr>
          <a:xfrm>
            <a:off x="8255000" y="1765300"/>
            <a:ext cx="34290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腿部锚点（预研）</a:t>
            </a:r>
            <a:endParaRPr sz="23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文字 保留原预测框、关键点与置信度；示例展示不替代"/>
          <p:cNvSpPr>
            <a:spLocks noGrp="1"/>
          </p:cNvSpPr>
          <p:nvPr/>
        </p:nvSpPr>
        <p:spPr>
          <a:xfrm>
            <a:off x="482600" y="6045200"/>
            <a:ext cx="112522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保留原预测框、关键点与置信度；示例展示不替代定量误差验证。</a:t>
            </a:r>
            <a:endParaRPr sz="15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图片 23" descr="body_with_land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23" y="2209800"/>
            <a:ext cx="2206753" cy="3530600"/>
          </a:xfrm>
          <a:prstGeom prst="rect">
            <a:avLst/>
          </a:prstGeom>
        </p:spPr>
      </p:pic>
      <p:sp>
        <p:nvSpPr>
          <p:cNvPr id="10" name="文字 阶段成果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阶段成果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字 背部、腹部与腿部穴位输出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背部、腹部与腿部穴位输出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16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725" y="2209800"/>
            <a:ext cx="2647950" cy="35306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5388" y="2209800"/>
            <a:ext cx="2206625" cy="3530600"/>
          </a:xfrm>
          <a:prstGeom prst="rect">
            <a:avLst/>
          </a:prstGeom>
        </p:spPr>
      </p:pic>
      <p:sp>
        <p:nvSpPr>
          <p:cNvPr id="16" name="文字 背部"/>
          <p:cNvSpPr>
            <a:spLocks noGrp="1"/>
          </p:cNvSpPr>
          <p:nvPr/>
        </p:nvSpPr>
        <p:spPr>
          <a:xfrm>
            <a:off x="609600" y="1765300"/>
            <a:ext cx="33782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背部</a:t>
            </a:r>
            <a:endParaRPr sz="24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文字 腹部"/>
          <p:cNvSpPr>
            <a:spLocks noGrp="1"/>
          </p:cNvSpPr>
          <p:nvPr/>
        </p:nvSpPr>
        <p:spPr>
          <a:xfrm>
            <a:off x="4419600" y="1765300"/>
            <a:ext cx="33782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腹部</a:t>
            </a:r>
            <a:endParaRPr sz="24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文字 腿部"/>
          <p:cNvSpPr>
            <a:spLocks noGrp="1"/>
          </p:cNvSpPr>
          <p:nvPr/>
        </p:nvSpPr>
        <p:spPr>
          <a:xfrm>
            <a:off x="8229600" y="1765300"/>
            <a:ext cx="33782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腿部</a:t>
            </a:r>
            <a:endParaRPr sz="24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文字 覆盖不同部位的可视化输出，形成可配置的二维穴"/>
          <p:cNvSpPr>
            <a:spLocks noGrp="1"/>
          </p:cNvSpPr>
          <p:nvPr/>
        </p:nvSpPr>
        <p:spPr>
          <a:xfrm>
            <a:off x="482600" y="6045200"/>
            <a:ext cx="112522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覆盖不同部位的可视化输出，形成可配置的二维穴位定位流程。</a:t>
            </a:r>
            <a:endParaRPr sz="15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阶段成果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阶段成果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三维定位：论文汇总结果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三维定位：论文汇总结果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人体穴位视觉定位与三维点云优化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17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82600" y="1930400"/>
          <a:ext cx="11226800" cy="3517900"/>
        </p:xfrm>
        <a:graphic>
          <a:graphicData uri="http://schemas.openxmlformats.org/drawingml/2006/table">
            <a:tbl>
              <a:tblPr/>
              <a:tblGrid>
                <a:gridCol w="4368800"/>
                <a:gridCol w="2667000"/>
                <a:gridCol w="2032000"/>
                <a:gridCol w="2159000"/>
              </a:tblGrid>
              <a:tr h="70358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方法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3D误差 / mm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PCK@0.05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推理 / ms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</a:tr>
              <a:tr h="70358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固定模板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19.3 ± 4.1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0.621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8 ± 2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  <a:tr h="70358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COCO + 同几何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12.1 ± 3.2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0.847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142 ± 18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358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COCO + 几何，无颈模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13.8 ± 3.5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0.801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128 ± 16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  <a:tr h="70358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YOLOv11-AMP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9.6 ± 2.8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0.912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186 ± 22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101600" marR="101600" marT="76200" marB="762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文字 当前论文汇总显示精度提升，同时存在推理时间开"/>
          <p:cNvSpPr>
            <a:spLocks noGrp="1"/>
          </p:cNvSpPr>
          <p:nvPr/>
        </p:nvSpPr>
        <p:spPr>
          <a:xfrm>
            <a:off x="482600" y="5575300"/>
            <a:ext cx="11252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2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当前论文汇总显示精度提升，同时存在推理时间开销。</a:t>
            </a:r>
            <a:endParaRPr sz="22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文字 来源：论文第八版。逐样本记录、样本量与统计口"/>
          <p:cNvSpPr>
            <a:spLocks noGrp="1"/>
          </p:cNvSpPr>
          <p:nvPr/>
        </p:nvSpPr>
        <p:spPr>
          <a:xfrm>
            <a:off x="482600" y="6045200"/>
            <a:ext cx="11252200" cy="33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来源：论文第八版。逐样本记录、样本量与统计口径仍待补齐核验。</a:t>
            </a:r>
            <a:endParaRPr sz="15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5" descr="初始状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1920" y="-281940"/>
            <a:ext cx="12416155" cy="7284720"/>
          </a:xfrm>
          <a:prstGeom prst="rect">
            <a:avLst/>
          </a:prstGeom>
        </p:spPr>
      </p:pic>
      <p:sp>
        <p:nvSpPr>
          <p:cNvPr id="3" name="文字 路径点生成与可视化"/>
          <p:cNvSpPr>
            <a:spLocks noGrp="1"/>
          </p:cNvSpPr>
          <p:nvPr/>
        </p:nvSpPr>
        <p:spPr>
          <a:xfrm>
            <a:off x="482600" y="469900"/>
            <a:ext cx="101600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路径点生成与可视化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字 基于穴位点生成局部轨迹"/>
          <p:cNvSpPr>
            <a:spLocks noGrp="1"/>
          </p:cNvSpPr>
          <p:nvPr/>
        </p:nvSpPr>
        <p:spPr>
          <a:xfrm>
            <a:off x="482600" y="1714500"/>
            <a:ext cx="53340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600" b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600" b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基于穴位点生成局部轨迹</a:t>
            </a:r>
            <a:endParaRPr sz="2600" b="1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文字 已有点云与轨迹展示&#10;后续量化空间误差、&#10;法向"/>
          <p:cNvSpPr>
            <a:spLocks noGrp="1"/>
          </p:cNvSpPr>
          <p:nvPr/>
        </p:nvSpPr>
        <p:spPr>
          <a:xfrm>
            <a:off x="482600" y="2501900"/>
            <a:ext cx="4318000" cy="1943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4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已有点云与轨迹展示</a:t>
            </a:r>
            <a:endParaRPr sz="2400" b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4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4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后续量化空间误差、</a:t>
            </a:r>
            <a:endParaRPr sz="2400" b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4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4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法向误差及处理耗时</a:t>
            </a:r>
            <a:endParaRPr sz="2400" b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文字 系统演示结果"/>
          <p:cNvSpPr>
            <a:spLocks noGrp="1"/>
          </p:cNvSpPr>
          <p:nvPr/>
        </p:nvSpPr>
        <p:spPr>
          <a:xfrm>
            <a:off x="8382000" y="5969000"/>
            <a:ext cx="3302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20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r">
              <a:defRPr sz="20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lang="zh-CN" sz="20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路径</a:t>
            </a:r>
            <a:r>
              <a:rPr sz="20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结果</a:t>
            </a:r>
            <a:endParaRPr sz="2000" b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阶段成果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阶段成果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SC-RRT：双向搜索与约束采样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SC-RRT：双向搜索与约束采样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视觉穴位定位与机械臂运动规划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19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视觉定位提供目标点，路径规划连接当前位姿与目标。"/>
          <p:cNvSpPr>
            <a:spLocks noGrp="1"/>
          </p:cNvSpPr>
          <p:nvPr/>
        </p:nvSpPr>
        <p:spPr>
          <a:xfrm>
            <a:off x="482600" y="1803400"/>
            <a:ext cx="112268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4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衔接思路：三维位置作为路径端点，体表法向提供姿态参考。</a:t>
            </a:r>
            <a:endParaRPr sz="24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49" y="2514600"/>
            <a:ext cx="5748101" cy="3403600"/>
          </a:xfrm>
          <a:prstGeom prst="rect">
            <a:avLst/>
          </a:prstGeom>
        </p:spPr>
      </p:pic>
      <p:sp>
        <p:nvSpPr>
          <p:cNvPr id="15" name="文字 双向搜索"/>
          <p:cNvSpPr>
            <a:spLocks noGrp="1"/>
          </p:cNvSpPr>
          <p:nvPr/>
        </p:nvSpPr>
        <p:spPr>
          <a:xfrm>
            <a:off x="8153400" y="2463800"/>
            <a:ext cx="34798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5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5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双向搜索</a:t>
            </a:r>
            <a:endParaRPr sz="25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文字 起点、终点两侧&#10;协同扩展。"/>
          <p:cNvSpPr>
            <a:spLocks noGrp="1"/>
          </p:cNvSpPr>
          <p:nvPr/>
        </p:nvSpPr>
        <p:spPr>
          <a:xfrm>
            <a:off x="8153400" y="2933700"/>
            <a:ext cx="3479800" cy="77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起点、终点两侧</a:t>
            </a:r>
            <a:endParaRPr sz="22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协同扩展。</a:t>
            </a:r>
            <a:endParaRPr sz="22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文字 双椭球采样域"/>
          <p:cNvSpPr>
            <a:spLocks noGrp="1"/>
          </p:cNvSpPr>
          <p:nvPr/>
        </p:nvSpPr>
        <p:spPr>
          <a:xfrm>
            <a:off x="8153400" y="3886200"/>
            <a:ext cx="34798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5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5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双椭球采样域</a:t>
            </a:r>
            <a:endParaRPr sz="25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文字 围绕参考点约束采样，&#10;保留全局探索。"/>
          <p:cNvSpPr>
            <a:spLocks noGrp="1"/>
          </p:cNvSpPr>
          <p:nvPr/>
        </p:nvSpPr>
        <p:spPr>
          <a:xfrm>
            <a:off x="8153400" y="4343400"/>
            <a:ext cx="3479800" cy="77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围绕参考点约束采样，</a:t>
            </a:r>
            <a:endParaRPr sz="22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保留全局探索。</a:t>
            </a:r>
            <a:endParaRPr sz="22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文字 搜索状态反馈"/>
          <p:cNvSpPr>
            <a:spLocks noGrp="1"/>
          </p:cNvSpPr>
          <p:nvPr/>
        </p:nvSpPr>
        <p:spPr>
          <a:xfrm>
            <a:off x="8153400" y="5295900"/>
            <a:ext cx="34798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5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5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搜索状态反馈</a:t>
            </a:r>
            <a:endParaRPr sz="25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文字 按代价改善调节范围&#10;与知情采样概率。"/>
          <p:cNvSpPr>
            <a:spLocks noGrp="1"/>
          </p:cNvSpPr>
          <p:nvPr/>
        </p:nvSpPr>
        <p:spPr>
          <a:xfrm>
            <a:off x="8153400" y="5727700"/>
            <a:ext cx="3479800" cy="622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0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按代价改善调节范围</a:t>
            </a:r>
            <a:endParaRPr sz="20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0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0">
                <a:solidFill>
                  <a:srgbClr val="171D1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与知情采样概率。</a:t>
            </a:r>
            <a:endParaRPr sz="2000" b="0">
              <a:solidFill>
                <a:srgbClr val="171D1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文字 方法示意：采样区域随搜索状态更新。"/>
          <p:cNvSpPr>
            <a:spLocks noGrp="1"/>
          </p:cNvSpPr>
          <p:nvPr/>
        </p:nvSpPr>
        <p:spPr>
          <a:xfrm>
            <a:off x="482600" y="5956300"/>
            <a:ext cx="72136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7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7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后续验证：整轨迹可达性、碰撞及曲面贴合。</a:t>
            </a:r>
            <a:endParaRPr sz="17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阶段成果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阶段成果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二维路径规划对比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二维路径规划对比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视觉穴位定位与机械臂运动规划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20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RRT-Connect"/>
          <p:cNvSpPr>
            <a:spLocks noGrp="1"/>
          </p:cNvSpPr>
          <p:nvPr/>
        </p:nvSpPr>
        <p:spPr>
          <a:xfrm>
            <a:off x="482600" y="1816100"/>
            <a:ext cx="36322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RRT-Connect</a:t>
            </a:r>
            <a:endParaRPr sz="18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160" y="2108200"/>
            <a:ext cx="2059081" cy="1917700"/>
          </a:xfrm>
          <a:prstGeom prst="rect">
            <a:avLst/>
          </a:prstGeom>
        </p:spPr>
      </p:pic>
      <p:sp>
        <p:nvSpPr>
          <p:cNvPr id="15" name="文字 RRT*"/>
          <p:cNvSpPr>
            <a:spLocks noGrp="1"/>
          </p:cNvSpPr>
          <p:nvPr/>
        </p:nvSpPr>
        <p:spPr>
          <a:xfrm>
            <a:off x="4279900" y="1816100"/>
            <a:ext cx="36322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RRT*</a:t>
            </a:r>
            <a:endParaRPr sz="18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709" y="2108200"/>
            <a:ext cx="2102582" cy="1917700"/>
          </a:xfrm>
          <a:prstGeom prst="rect">
            <a:avLst/>
          </a:prstGeom>
        </p:spPr>
      </p:pic>
      <p:sp>
        <p:nvSpPr>
          <p:cNvPr id="17" name="文字 Informed-RRT*"/>
          <p:cNvSpPr>
            <a:spLocks noGrp="1"/>
          </p:cNvSpPr>
          <p:nvPr/>
        </p:nvSpPr>
        <p:spPr>
          <a:xfrm>
            <a:off x="8077200" y="1816100"/>
            <a:ext cx="36322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Informed-RRT*</a:t>
            </a:r>
            <a:endParaRPr sz="18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821" y="2108200"/>
            <a:ext cx="2098957" cy="1917700"/>
          </a:xfrm>
          <a:prstGeom prst="rect">
            <a:avLst/>
          </a:prstGeom>
        </p:spPr>
      </p:pic>
      <p:sp>
        <p:nvSpPr>
          <p:cNvPr id="19" name="文字 RRT"/>
          <p:cNvSpPr>
            <a:spLocks noGrp="1"/>
          </p:cNvSpPr>
          <p:nvPr/>
        </p:nvSpPr>
        <p:spPr>
          <a:xfrm>
            <a:off x="482600" y="4064000"/>
            <a:ext cx="36322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RRT</a:t>
            </a:r>
            <a:endParaRPr sz="18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8284" y="4356100"/>
            <a:ext cx="2080831" cy="1917700"/>
          </a:xfrm>
          <a:prstGeom prst="rect">
            <a:avLst/>
          </a:prstGeom>
        </p:spPr>
      </p:pic>
      <p:sp>
        <p:nvSpPr>
          <p:cNvPr id="21" name="文字 Dynamic-RRT"/>
          <p:cNvSpPr>
            <a:spLocks noGrp="1"/>
          </p:cNvSpPr>
          <p:nvPr/>
        </p:nvSpPr>
        <p:spPr>
          <a:xfrm>
            <a:off x="4279900" y="4064000"/>
            <a:ext cx="36322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Dynamic-RRT</a:t>
            </a:r>
            <a:endParaRPr sz="18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5584" y="4356100"/>
            <a:ext cx="2080831" cy="1917700"/>
          </a:xfrm>
          <a:prstGeom prst="rect">
            <a:avLst/>
          </a:prstGeom>
        </p:spPr>
      </p:pic>
      <p:sp>
        <p:nvSpPr>
          <p:cNvPr id="23" name="文字 SC-RRT"/>
          <p:cNvSpPr>
            <a:spLocks noGrp="1"/>
          </p:cNvSpPr>
          <p:nvPr/>
        </p:nvSpPr>
        <p:spPr>
          <a:xfrm>
            <a:off x="8077200" y="4064000"/>
            <a:ext cx="36322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8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SC-RRT</a:t>
            </a:r>
            <a:endParaRPr sz="18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2884" y="4356100"/>
            <a:ext cx="2080831" cy="1917700"/>
          </a:xfrm>
          <a:prstGeom prst="rect">
            <a:avLst/>
          </a:prstGeom>
        </p:spPr>
      </p:pic>
      <p:sp>
        <p:nvSpPr>
          <p:cNvPr id="25" name="文字 原论文单次运行示例，图内指标为该次记录。"/>
          <p:cNvSpPr>
            <a:spLocks noGrp="1"/>
          </p:cNvSpPr>
          <p:nvPr/>
        </p:nvSpPr>
        <p:spPr>
          <a:xfrm>
            <a:off x="482600" y="6311900"/>
            <a:ext cx="11226800" cy="165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2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原论文单次运行示例，图内指标为该次记录。</a:t>
            </a:r>
            <a:endParaRPr sz="12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阶段成果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阶段成果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路径规划性能对比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路径规划性能对比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视觉穴位定位与机械臂运动规划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21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原论文二维实验统计，数值为均值 ± 标准差"/>
          <p:cNvSpPr>
            <a:spLocks noGrp="1"/>
          </p:cNvSpPr>
          <p:nvPr/>
        </p:nvSpPr>
        <p:spPr>
          <a:xfrm>
            <a:off x="482600" y="1803400"/>
            <a:ext cx="112268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2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2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原论文二维实验统计，数值为均值 ± 标准差</a:t>
            </a:r>
            <a:endParaRPr sz="22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482600" y="2425700"/>
          <a:ext cx="11226800" cy="3149601"/>
        </p:xfrm>
        <a:graphic>
          <a:graphicData uri="http://schemas.openxmlformats.org/drawingml/2006/table">
            <a:tbl>
              <a:tblPr/>
              <a:tblGrid>
                <a:gridCol w="2019300"/>
                <a:gridCol w="2413000"/>
                <a:gridCol w="2349500"/>
                <a:gridCol w="2171700"/>
                <a:gridCol w="2273300"/>
              </a:tblGrid>
              <a:tr h="44994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算法</a:t>
                      </a:r>
                      <a:endParaRPr sz="1800" b="1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71D1B"/>
                      </a:solidFill>
                    </a:lnT>
                    <a:lnB w="9525">
                      <a:solidFill>
                        <a:srgbClr val="171D1B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路径长度 / mm</a:t>
                      </a:r>
                      <a:endParaRPr sz="1800" b="1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71D1B"/>
                      </a:solidFill>
                    </a:lnT>
                    <a:lnB w="9525">
                      <a:solidFill>
                        <a:srgbClr val="171D1B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规划时间 / s</a:t>
                      </a:r>
                      <a:endParaRPr sz="1800" b="1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71D1B"/>
                      </a:solidFill>
                    </a:lnT>
                    <a:lnB w="9525">
                      <a:solidFill>
                        <a:srgbClr val="171D1B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节点数</a:t>
                      </a:r>
                      <a:endParaRPr sz="1800" b="1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71D1B"/>
                      </a:solidFill>
                    </a:lnT>
                    <a:lnB w="9525">
                      <a:solidFill>
                        <a:srgbClr val="171D1B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路径效率</a:t>
                      </a:r>
                      <a:endParaRPr sz="1800" b="1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171D1B"/>
                      </a:solidFill>
                    </a:lnT>
                    <a:lnB w="9525">
                      <a:solidFill>
                        <a:srgbClr val="171D1B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4994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RRT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2329.55 ± 126.25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0.0409 ± 0.0305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279.4 ± 175.5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0.8219 ± 0.0429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4994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RRT-Connect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2143.24 ± 93.49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0.0108 ± 0.0053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69.3 ± 10.8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0.8924 ± 0.0376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4994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RRT*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1970.72 ± 19.94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0.1629 ± 0.0843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3846.6 ± 99.7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0.9689 ± 0.0098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4994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Informed RRT*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1938.45 ± 24.13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0.2134 ± 0.0487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3612.3 ± 108.6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0.9849 ± 0.0076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4994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06B59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SC-RRT</a:t>
                      </a:r>
                      <a:endParaRPr sz="1800" b="1">
                        <a:solidFill>
                          <a:srgbClr val="006B59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06B59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1998.80 ± 57.53</a:t>
                      </a:r>
                      <a:endParaRPr sz="1800" b="1">
                        <a:solidFill>
                          <a:srgbClr val="006B59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06B59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0.0345 ± 0.0124</a:t>
                      </a:r>
                      <a:endParaRPr sz="1800" b="1">
                        <a:solidFill>
                          <a:srgbClr val="006B59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06B59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209.6 ± 38.5</a:t>
                      </a:r>
                      <a:endParaRPr sz="1800" b="1">
                        <a:solidFill>
                          <a:srgbClr val="006B59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06B59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0.9553 ± 0.0265</a:t>
                      </a:r>
                      <a:endParaRPr sz="1800" b="1">
                        <a:solidFill>
                          <a:srgbClr val="006B59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4994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Dynamic-RRT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71D1B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2288.13 ± 136.02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71D1B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0.0414 ± 0.0384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71D1B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281.3 ± 160.2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71D1B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0.8372 ± 0.0468</a:t>
                      </a:r>
                      <a:endParaRPr sz="18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71D1B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文字 原稿统计中，SC-RRT 路径短于 RRT-Connect，"/>
          <p:cNvSpPr>
            <a:spLocks noGrp="1"/>
          </p:cNvSpPr>
          <p:nvPr/>
        </p:nvSpPr>
        <p:spPr>
          <a:xfrm>
            <a:off x="482600" y="5702300"/>
            <a:ext cx="112268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原稿统计中，SC-RRT 路径短于 RRT-Connect，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规划耗时低于 RRT* 与 Informed RRT*。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文字 原稿实验与固定扩展预算结果分开报告。路径效率为起终点直线距离"/>
          <p:cNvSpPr>
            <a:spLocks noGrp="1"/>
          </p:cNvSpPr>
          <p:nvPr/>
        </p:nvSpPr>
        <p:spPr>
          <a:xfrm>
            <a:off x="482600" y="6286500"/>
            <a:ext cx="112268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2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2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原稿实验与固定扩展预算结果分开报告。路径效率为起终点直线距离与路径长度之比。</a:t>
            </a:r>
            <a:endParaRPr sz="12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阶段成果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阶段成果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点云环境与多目标轨迹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点云环境与多目标轨迹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视觉穴位定位与机械臂运动规划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22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在统一坐标系中观察体表点云、机械臂与目标路径。"/>
          <p:cNvSpPr>
            <a:spLocks noGrp="1"/>
          </p:cNvSpPr>
          <p:nvPr/>
        </p:nvSpPr>
        <p:spPr>
          <a:xfrm>
            <a:off x="482600" y="1803400"/>
            <a:ext cx="112268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在统一坐标系中观察体表点云、机械臂与目标路径。</a:t>
            </a:r>
            <a:endParaRPr sz="23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47" y="2413000"/>
            <a:ext cx="5228106" cy="35814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902" y="2413000"/>
            <a:ext cx="5250697" cy="3581400"/>
          </a:xfrm>
          <a:prstGeom prst="rect">
            <a:avLst/>
          </a:prstGeom>
        </p:spPr>
      </p:pic>
      <p:sp>
        <p:nvSpPr>
          <p:cNvPr id="16" name="文字 点云与机械臂的空间对应"/>
          <p:cNvSpPr>
            <a:spLocks noGrp="1"/>
          </p:cNvSpPr>
          <p:nvPr/>
        </p:nvSpPr>
        <p:spPr>
          <a:xfrm>
            <a:off x="482600" y="6007100"/>
            <a:ext cx="54610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9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9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点云与机械臂的空间对应</a:t>
            </a:r>
            <a:endParaRPr sz="19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文字 体表路径局部视图"/>
          <p:cNvSpPr>
            <a:spLocks noGrp="1"/>
          </p:cNvSpPr>
          <p:nvPr/>
        </p:nvSpPr>
        <p:spPr>
          <a:xfrm>
            <a:off x="6261100" y="6007100"/>
            <a:ext cx="54483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9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9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体表路径局部视图</a:t>
            </a:r>
            <a:endParaRPr sz="19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阶段成果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阶段成果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机械臂实物执行示例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机械臂实物执行示例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视觉穴位定位与机械臂运动规划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23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字 AUBO-i10 六自由度机械臂 · RGB-D 感知与"/>
          <p:cNvSpPr>
            <a:spLocks noGrp="1"/>
          </p:cNvSpPr>
          <p:nvPr/>
        </p:nvSpPr>
        <p:spPr>
          <a:xfrm>
            <a:off x="482600" y="1803400"/>
            <a:ext cx="112268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3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六自由度机械臂 · RGB-D 感知与轨迹执行</a:t>
            </a:r>
            <a:endParaRPr sz="23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482600" y="2324100"/>
            <a:ext cx="5461000" cy="35687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6261100" y="2324100"/>
            <a:ext cx="5448300" cy="3568700"/>
          </a:xfrm>
          <a:prstGeom prst="rect">
            <a:avLst/>
          </a:prstGeom>
        </p:spPr>
      </p:pic>
      <p:sp>
        <p:nvSpPr>
          <p:cNvPr id="16" name="文字 同一案例的两个执行视角"/>
          <p:cNvSpPr>
            <a:spLocks noGrp="1"/>
          </p:cNvSpPr>
          <p:nvPr/>
        </p:nvSpPr>
        <p:spPr>
          <a:xfrm>
            <a:off x="482600" y="5918200"/>
            <a:ext cx="11226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19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9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同一案例的两个执行视角</a:t>
            </a:r>
            <a:endParaRPr sz="19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文字 实物演示用于说明执行可行性；重复任务的到位误差与约束符合"/>
          <p:cNvSpPr>
            <a:spLocks noGrp="1"/>
          </p:cNvSpPr>
          <p:nvPr/>
        </p:nvSpPr>
        <p:spPr>
          <a:xfrm>
            <a:off x="482600" y="6261100"/>
            <a:ext cx="1122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4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4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实物演示用于说明执行可行性。</a:t>
            </a:r>
            <a:endParaRPr sz="14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/>
          <p:cNvPicPr>
            <a:picLocks noChangeAspect="1"/>
          </p:cNvPicPr>
          <p:nvPr/>
        </p:nvPicPr>
        <p:blipFill>
          <a:blip r:embed="rId1"/>
          <a:srcRect t="13889"/>
          <a:stretch>
            <a:fillRect/>
          </a:stretch>
        </p:blipFill>
        <p:spPr>
          <a:xfrm>
            <a:off x="0" y="952500"/>
            <a:ext cx="12192000" cy="59055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rcRect l="31250" b="86111"/>
          <a:stretch>
            <a:fillRect/>
          </a:stretch>
        </p:blipFill>
        <p:spPr>
          <a:xfrm>
            <a:off x="3810000" y="0"/>
            <a:ext cx="8382000" cy="952500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14300"/>
            <a:ext cx="3566160" cy="742950"/>
          </a:xfrm>
          <a:prstGeom prst="rect">
            <a:avLst/>
          </a:prstGeom>
        </p:spPr>
      </p:pic>
      <p:sp>
        <p:nvSpPr>
          <p:cNvPr id="3" name="文字 后续计划"/>
          <p:cNvSpPr>
            <a:spLocks noGrp="1"/>
          </p:cNvSpPr>
          <p:nvPr/>
        </p:nvSpPr>
        <p:spPr>
          <a:xfrm>
            <a:off x="1524000" y="3543300"/>
            <a:ext cx="6985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algn="ctr">
              <a:def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后续计划</a:t>
            </a:r>
            <a:endParaRPr sz="4800" b="0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字 PART FOUR"/>
          <p:cNvSpPr>
            <a:spLocks noGrp="1"/>
          </p:cNvSpPr>
          <p:nvPr/>
        </p:nvSpPr>
        <p:spPr>
          <a:xfrm>
            <a:off x="8597900" y="2324100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r">
              <a:def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3600" b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PART FOUR</a:t>
            </a:r>
            <a:endParaRPr sz="3600" b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文字 04"/>
          <p:cNvSpPr>
            <a:spLocks noGrp="1"/>
          </p:cNvSpPr>
          <p:nvPr/>
        </p:nvSpPr>
        <p:spPr>
          <a:xfrm>
            <a:off x="9474200" y="4064000"/>
            <a:ext cx="2184400" cy="1384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88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sz="88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后续计划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后续计划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现有成果与论文章节对应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现有成果与论文章节对应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视觉穴位定位与机械臂运动规划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25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82600" y="1955800"/>
          <a:ext cx="11226800" cy="3987800"/>
        </p:xfrm>
        <a:graphic>
          <a:graphicData uri="http://schemas.openxmlformats.org/drawingml/2006/table">
            <a:tbl>
              <a:tblPr/>
              <a:tblGrid>
                <a:gridCol w="1397000"/>
                <a:gridCol w="3175000"/>
                <a:gridCol w="6654800"/>
              </a:tblGrid>
              <a:tr h="4984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论文章节</a:t>
                      </a:r>
                      <a:endParaRPr sz="1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章节主题</a:t>
                      </a:r>
                      <a:endParaRPr sz="1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材料整理与写作重点</a:t>
                      </a:r>
                      <a:endParaRPr sz="19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</a:tr>
              <a:tr h="4984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第1章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绪论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整理研究现状，明确研究问题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  <a:tr h="4984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第2章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系统总体方案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补齐平台、运动学与标定说明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第3章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视觉穴位定位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整合锚点检测、骨度规则与结果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  <a:tr h="4984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第4章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三维位姿生成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写清空间映射、法向与坐标转换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第5章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SC-RRT 路径规划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整理算法原理、对比图及统计表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  <a:tr h="4984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第6章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系统集成与实验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串联视觉、规划与实物执行案例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第7章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总结与展望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提炼研究贡献、局限与后续方向</a:t>
                      </a:r>
                      <a:endParaRPr sz="19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</a:tbl>
          </a:graphicData>
        </a:graphic>
      </p:graphicFrame>
      <p:sp>
        <p:nvSpPr>
          <p:cNvPr id="14" name="文字 以已有成果为基础，逐章完成方法描述、图表配置与结果分析。"/>
          <p:cNvSpPr>
            <a:spLocks noGrp="1"/>
          </p:cNvSpPr>
          <p:nvPr/>
        </p:nvSpPr>
        <p:spPr>
          <a:xfrm>
            <a:off x="482600" y="6121400"/>
            <a:ext cx="11226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以已有成果为基础，逐章完成方法描述、图表配置与结果分析。</a:t>
            </a:r>
            <a:endParaRPr sz="15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文字 后续计划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后续计划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字 大论文写作与完成计划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大论文写作与完成计划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字 视觉穴位定位与机械臂运动规划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字 26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82600" y="1955800"/>
          <a:ext cx="11226800" cy="3835400"/>
        </p:xfrm>
        <a:graphic>
          <a:graphicData uri="http://schemas.openxmlformats.org/drawingml/2006/table">
            <a:tbl>
              <a:tblPr/>
              <a:tblGrid>
                <a:gridCol w="1143000"/>
                <a:gridCol w="4508500"/>
                <a:gridCol w="5575300"/>
              </a:tblGrid>
              <a:tr h="76708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阶段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主要工作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阶段成果</a:t>
                      </a:r>
                      <a:endParaRPr sz="20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T w="6668">
                      <a:solidFill>
                        <a:srgbClr val="C5D6CF"/>
                      </a:solidFill>
                    </a:lnT>
                    <a:lnB w="6668">
                      <a:solidFill>
                        <a:srgbClr val="C5D6CF"/>
                      </a:solidFill>
                    </a:lnB>
                    <a:solidFill>
                      <a:srgbClr val="006B59"/>
                    </a:solidFill>
                  </a:tcPr>
                </a:tc>
              </a:tr>
              <a:tr h="76708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整理第3、5章方法与结果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形成两项核心研究章节初稿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  <a:tr h="76708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补齐第2、4、6章系统内容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形成系统衔接与实验章节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708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3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完成第1、7章及摘要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形成大论文完整初稿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1F6F3"/>
                    </a:solidFill>
                  </a:tcPr>
                </a:tc>
              </a:tr>
              <a:tr h="76708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4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L w="6668">
                      <a:solidFill>
                        <a:srgbClr val="C5D6CF"/>
                      </a:solidFill>
                    </a:lnL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统一图表、引用与格式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171D1B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完成导师修改与答辩定稿</a:t>
                      </a:r>
                      <a:endParaRPr sz="2000" b="0">
                        <a:solidFill>
                          <a:srgbClr val="171D1B"/>
                        </a:solidFill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63500" marR="63500" marT="50800" marB="50800" anchor="ctr">
                    <a:lnR w="6668">
                      <a:solidFill>
                        <a:srgbClr val="C5D6CF"/>
                      </a:solidFill>
                    </a:lnR>
                    <a:lnB w="6668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文字 按章节梳理材料与证据，必要补充验证随对应章节完成。"/>
          <p:cNvSpPr>
            <a:spLocks noGrp="1"/>
          </p:cNvSpPr>
          <p:nvPr/>
        </p:nvSpPr>
        <p:spPr>
          <a:xfrm>
            <a:off x="482600" y="6121400"/>
            <a:ext cx="11226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l">
              <a:def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1500" b="0">
                <a:solidFill>
                  <a:srgbClr val="5362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按章节梳理材料与证据，必要补充验证随对应章节完成。</a:t>
            </a:r>
            <a:endParaRPr sz="1500" b="0">
              <a:solidFill>
                <a:srgbClr val="5362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6075" y="113664"/>
            <a:ext cx="3082290" cy="788035"/>
            <a:chOff x="346075" y="113664"/>
            <a:chExt cx="3082290" cy="788035"/>
          </a:xfrm>
        </p:grpSpPr>
        <p:sp>
          <p:nvSpPr>
            <p:cNvPr id="3" name="object 3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2716276" y="0"/>
                  </a:moveTo>
                  <a:lnTo>
                    <a:pt x="2702306" y="1650"/>
                  </a:lnTo>
                  <a:lnTo>
                    <a:pt x="2702306" y="0"/>
                  </a:lnTo>
                  <a:lnTo>
                    <a:pt x="327812" y="0"/>
                  </a:lnTo>
                  <a:lnTo>
                    <a:pt x="283329" y="3423"/>
                  </a:lnTo>
                  <a:lnTo>
                    <a:pt x="240664" y="13394"/>
                  </a:lnTo>
                  <a:lnTo>
                    <a:pt x="200210" y="29467"/>
                  </a:lnTo>
                  <a:lnTo>
                    <a:pt x="162356" y="51195"/>
                  </a:lnTo>
                  <a:lnTo>
                    <a:pt x="127493" y="78129"/>
                  </a:lnTo>
                  <a:lnTo>
                    <a:pt x="96011" y="109823"/>
                  </a:lnTo>
                  <a:lnTo>
                    <a:pt x="68302" y="145829"/>
                  </a:lnTo>
                  <a:lnTo>
                    <a:pt x="44754" y="185702"/>
                  </a:lnTo>
                  <a:lnTo>
                    <a:pt x="25760" y="228992"/>
                  </a:lnTo>
                  <a:lnTo>
                    <a:pt x="11709" y="275254"/>
                  </a:lnTo>
                  <a:lnTo>
                    <a:pt x="2992" y="324040"/>
                  </a:lnTo>
                  <a:lnTo>
                    <a:pt x="0" y="374903"/>
                  </a:lnTo>
                  <a:lnTo>
                    <a:pt x="2992" y="425796"/>
                  </a:lnTo>
                  <a:lnTo>
                    <a:pt x="11709" y="474606"/>
                  </a:lnTo>
                  <a:lnTo>
                    <a:pt x="25760" y="520888"/>
                  </a:lnTo>
                  <a:lnTo>
                    <a:pt x="44754" y="564195"/>
                  </a:lnTo>
                  <a:lnTo>
                    <a:pt x="68302" y="604079"/>
                  </a:lnTo>
                  <a:lnTo>
                    <a:pt x="96011" y="640095"/>
                  </a:lnTo>
                  <a:lnTo>
                    <a:pt x="127493" y="671796"/>
                  </a:lnTo>
                  <a:lnTo>
                    <a:pt x="162356" y="698735"/>
                  </a:lnTo>
                  <a:lnTo>
                    <a:pt x="200210" y="720465"/>
                  </a:lnTo>
                  <a:lnTo>
                    <a:pt x="240664" y="736539"/>
                  </a:lnTo>
                  <a:lnTo>
                    <a:pt x="283329" y="746511"/>
                  </a:lnTo>
                  <a:lnTo>
                    <a:pt x="327812" y="749934"/>
                  </a:lnTo>
                  <a:lnTo>
                    <a:pt x="2702306" y="749934"/>
                  </a:lnTo>
                  <a:lnTo>
                    <a:pt x="2702306" y="748283"/>
                  </a:lnTo>
                  <a:lnTo>
                    <a:pt x="2716276" y="749934"/>
                  </a:lnTo>
                  <a:lnTo>
                    <a:pt x="2760742" y="746511"/>
                  </a:lnTo>
                  <a:lnTo>
                    <a:pt x="2803395" y="736540"/>
                  </a:lnTo>
                  <a:lnTo>
                    <a:pt x="2843841" y="720467"/>
                  </a:lnTo>
                  <a:lnTo>
                    <a:pt x="2881691" y="698739"/>
                  </a:lnTo>
                  <a:lnTo>
                    <a:pt x="2916552" y="671805"/>
                  </a:lnTo>
                  <a:lnTo>
                    <a:pt x="2948035" y="640111"/>
                  </a:lnTo>
                  <a:lnTo>
                    <a:pt x="2975747" y="604105"/>
                  </a:lnTo>
                  <a:lnTo>
                    <a:pt x="2999297" y="564232"/>
                  </a:lnTo>
                  <a:lnTo>
                    <a:pt x="3018295" y="520942"/>
                  </a:lnTo>
                  <a:lnTo>
                    <a:pt x="3032350" y="474680"/>
                  </a:lnTo>
                  <a:lnTo>
                    <a:pt x="3041069" y="425894"/>
                  </a:lnTo>
                  <a:lnTo>
                    <a:pt x="3044063" y="375030"/>
                  </a:lnTo>
                  <a:lnTo>
                    <a:pt x="3041069" y="324138"/>
                  </a:lnTo>
                  <a:lnTo>
                    <a:pt x="3032350" y="275328"/>
                  </a:lnTo>
                  <a:lnTo>
                    <a:pt x="3018295" y="229046"/>
                  </a:lnTo>
                  <a:lnTo>
                    <a:pt x="2999297" y="185739"/>
                  </a:lnTo>
                  <a:lnTo>
                    <a:pt x="2975747" y="145855"/>
                  </a:lnTo>
                  <a:lnTo>
                    <a:pt x="2948035" y="109839"/>
                  </a:lnTo>
                  <a:lnTo>
                    <a:pt x="2916552" y="78138"/>
                  </a:lnTo>
                  <a:lnTo>
                    <a:pt x="2881691" y="51199"/>
                  </a:lnTo>
                  <a:lnTo>
                    <a:pt x="2843841" y="29469"/>
                  </a:lnTo>
                  <a:lnTo>
                    <a:pt x="2803395" y="13395"/>
                  </a:lnTo>
                  <a:lnTo>
                    <a:pt x="2760742" y="3423"/>
                  </a:lnTo>
                  <a:lnTo>
                    <a:pt x="2716276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65125" y="132714"/>
              <a:ext cx="3044190" cy="749935"/>
            </a:xfrm>
            <a:custGeom>
              <a:avLst/>
              <a:gdLst/>
              <a:ahLst/>
              <a:cxnLst/>
              <a:rect l="l" t="t" r="r" b="b"/>
              <a:pathLst>
                <a:path w="3044190" h="749935">
                  <a:moveTo>
                    <a:pt x="327812" y="0"/>
                  </a:moveTo>
                  <a:lnTo>
                    <a:pt x="2702306" y="0"/>
                  </a:lnTo>
                  <a:lnTo>
                    <a:pt x="2702306" y="1650"/>
                  </a:lnTo>
                  <a:lnTo>
                    <a:pt x="2760742" y="3423"/>
                  </a:lnTo>
                  <a:lnTo>
                    <a:pt x="2803395" y="13395"/>
                  </a:lnTo>
                  <a:lnTo>
                    <a:pt x="2843841" y="29469"/>
                  </a:lnTo>
                  <a:lnTo>
                    <a:pt x="2881691" y="51199"/>
                  </a:lnTo>
                  <a:lnTo>
                    <a:pt x="2916552" y="78138"/>
                  </a:lnTo>
                  <a:lnTo>
                    <a:pt x="2948035" y="109839"/>
                  </a:lnTo>
                  <a:lnTo>
                    <a:pt x="2975747" y="145855"/>
                  </a:lnTo>
                  <a:lnTo>
                    <a:pt x="2999297" y="185739"/>
                  </a:lnTo>
                  <a:lnTo>
                    <a:pt x="3018295" y="229046"/>
                  </a:lnTo>
                  <a:lnTo>
                    <a:pt x="3032350" y="275328"/>
                  </a:lnTo>
                  <a:lnTo>
                    <a:pt x="3041069" y="324138"/>
                  </a:lnTo>
                  <a:lnTo>
                    <a:pt x="3044063" y="375030"/>
                  </a:lnTo>
                  <a:lnTo>
                    <a:pt x="3041069" y="425894"/>
                  </a:lnTo>
                  <a:lnTo>
                    <a:pt x="3032350" y="474680"/>
                  </a:lnTo>
                  <a:lnTo>
                    <a:pt x="3018295" y="520942"/>
                  </a:lnTo>
                  <a:lnTo>
                    <a:pt x="2999297" y="564232"/>
                  </a:lnTo>
                  <a:lnTo>
                    <a:pt x="2975747" y="604105"/>
                  </a:lnTo>
                  <a:lnTo>
                    <a:pt x="2948035" y="640111"/>
                  </a:lnTo>
                  <a:lnTo>
                    <a:pt x="2916552" y="671805"/>
                  </a:lnTo>
                  <a:lnTo>
                    <a:pt x="2881691" y="698739"/>
                  </a:lnTo>
                  <a:lnTo>
                    <a:pt x="2843841" y="720467"/>
                  </a:lnTo>
                  <a:lnTo>
                    <a:pt x="2803395" y="736540"/>
                  </a:lnTo>
                  <a:lnTo>
                    <a:pt x="2760742" y="746511"/>
                  </a:lnTo>
                  <a:lnTo>
                    <a:pt x="2716276" y="749934"/>
                  </a:lnTo>
                  <a:lnTo>
                    <a:pt x="2702306" y="748283"/>
                  </a:lnTo>
                  <a:lnTo>
                    <a:pt x="2702306" y="749934"/>
                  </a:lnTo>
                  <a:lnTo>
                    <a:pt x="327812" y="749934"/>
                  </a:lnTo>
                  <a:lnTo>
                    <a:pt x="283329" y="746511"/>
                  </a:lnTo>
                  <a:lnTo>
                    <a:pt x="240664" y="736539"/>
                  </a:lnTo>
                  <a:lnTo>
                    <a:pt x="200210" y="720465"/>
                  </a:lnTo>
                  <a:lnTo>
                    <a:pt x="162356" y="698735"/>
                  </a:lnTo>
                  <a:lnTo>
                    <a:pt x="127493" y="671796"/>
                  </a:lnTo>
                  <a:lnTo>
                    <a:pt x="96011" y="640095"/>
                  </a:lnTo>
                  <a:lnTo>
                    <a:pt x="68302" y="604079"/>
                  </a:lnTo>
                  <a:lnTo>
                    <a:pt x="44754" y="564195"/>
                  </a:lnTo>
                  <a:lnTo>
                    <a:pt x="25760" y="520888"/>
                  </a:lnTo>
                  <a:lnTo>
                    <a:pt x="11709" y="474606"/>
                  </a:lnTo>
                  <a:lnTo>
                    <a:pt x="2992" y="425796"/>
                  </a:lnTo>
                  <a:lnTo>
                    <a:pt x="0" y="374903"/>
                  </a:lnTo>
                  <a:lnTo>
                    <a:pt x="2992" y="324040"/>
                  </a:lnTo>
                  <a:lnTo>
                    <a:pt x="11709" y="275254"/>
                  </a:lnTo>
                  <a:lnTo>
                    <a:pt x="25760" y="228992"/>
                  </a:lnTo>
                  <a:lnTo>
                    <a:pt x="44754" y="185702"/>
                  </a:lnTo>
                  <a:lnTo>
                    <a:pt x="68302" y="145829"/>
                  </a:lnTo>
                  <a:lnTo>
                    <a:pt x="96011" y="109823"/>
                  </a:lnTo>
                  <a:lnTo>
                    <a:pt x="127493" y="78129"/>
                  </a:lnTo>
                  <a:lnTo>
                    <a:pt x="162356" y="51195"/>
                  </a:lnTo>
                  <a:lnTo>
                    <a:pt x="200210" y="29467"/>
                  </a:lnTo>
                  <a:lnTo>
                    <a:pt x="240664" y="13394"/>
                  </a:lnTo>
                  <a:lnTo>
                    <a:pt x="283329" y="3423"/>
                  </a:lnTo>
                  <a:lnTo>
                    <a:pt x="327812" y="0"/>
                  </a:lnTo>
                  <a:close/>
                </a:path>
              </a:pathLst>
            </a:custGeom>
            <a:ln w="38099">
              <a:solidFill>
                <a:srgbClr val="0064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493077" y="198704"/>
              <a:ext cx="485419" cy="6179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900" y="276860"/>
              <a:ext cx="2329180" cy="460375"/>
            </a:xfrm>
            <a:custGeom>
              <a:avLst/>
              <a:gdLst/>
              <a:ahLst/>
              <a:cxnLst/>
              <a:rect l="l" t="t" r="r" b="b"/>
              <a:pathLst>
                <a:path w="2329179" h="460375">
                  <a:moveTo>
                    <a:pt x="2329179" y="0"/>
                  </a:moveTo>
                  <a:lnTo>
                    <a:pt x="0" y="0"/>
                  </a:lnTo>
                  <a:lnTo>
                    <a:pt x="0" y="460375"/>
                  </a:lnTo>
                  <a:lnTo>
                    <a:pt x="2329179" y="460375"/>
                  </a:lnTo>
                  <a:lnTo>
                    <a:pt x="2329179" y="0"/>
                  </a:lnTo>
                  <a:close/>
                </a:path>
              </a:pathLst>
            </a:custGeom>
            <a:solidFill>
              <a:srgbClr val="398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11"/>
          <p:cNvSpPr/>
          <p:nvPr/>
        </p:nvSpPr>
        <p:spPr>
          <a:xfrm>
            <a:off x="0" y="6497955"/>
            <a:ext cx="12171045" cy="360045"/>
          </a:xfrm>
          <a:custGeom>
            <a:avLst/>
            <a:gdLst/>
            <a:ahLst/>
            <a:cxnLst/>
            <a:rect l="l" t="t" r="r" b="b"/>
            <a:pathLst>
              <a:path w="10434320" h="360045">
                <a:moveTo>
                  <a:pt x="10434066" y="0"/>
                </a:moveTo>
                <a:lnTo>
                  <a:pt x="0" y="0"/>
                </a:lnTo>
                <a:lnTo>
                  <a:pt x="0" y="359997"/>
                </a:lnTo>
                <a:lnTo>
                  <a:pt x="10434066" y="359997"/>
                </a:lnTo>
                <a:lnTo>
                  <a:pt x="10434066" y="0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13"/>
          <p:cNvSpPr/>
          <p:nvPr/>
        </p:nvSpPr>
        <p:spPr>
          <a:xfrm>
            <a:off x="10434066" y="6497999"/>
            <a:ext cx="1758314" cy="360045"/>
          </a:xfrm>
          <a:custGeom>
            <a:avLst/>
            <a:gdLst/>
            <a:ahLst/>
            <a:cxnLst/>
            <a:rect l="l" t="t" r="r" b="b"/>
            <a:pathLst>
              <a:path w="1758314" h="360045">
                <a:moveTo>
                  <a:pt x="1757933" y="0"/>
                </a:moveTo>
                <a:lnTo>
                  <a:pt x="0" y="0"/>
                </a:lnTo>
                <a:lnTo>
                  <a:pt x="0" y="359997"/>
                </a:lnTo>
                <a:lnTo>
                  <a:pt x="1757933" y="359997"/>
                </a:lnTo>
                <a:lnTo>
                  <a:pt x="1757933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cxnSp>
        <p:nvCxnSpPr>
          <p:cNvPr id="9" name="直接箭头连接符 8"/>
          <p:cNvCxnSpPr>
            <a:stCxn id="24" idx="2"/>
            <a:endCxn id="25" idx="0"/>
          </p:cNvCxnSpPr>
          <p:nvPr/>
        </p:nvCxnSpPr>
        <p:spPr>
          <a:xfrm>
            <a:off x="6096000" y="5689600"/>
            <a:ext cx="0" cy="279400"/>
          </a:xfrm>
          <a:prstGeom prst="straightConnector1">
            <a:avLst/>
          </a:prstGeom>
          <a:ln w="16193">
            <a:solidFill>
              <a:srgbClr val="006B59"/>
            </a:solidFill>
            <a:tailEnd type="triangle" w="sm" len="sm"/>
          </a:ln>
        </p:spPr>
      </p:cxnSp>
      <p:cxnSp>
        <p:nvCxnSpPr>
          <p:cNvPr id="10" name="肘形连接符 9"/>
          <p:cNvCxnSpPr>
            <a:stCxn id="23" idx="2"/>
            <a:endCxn id="24" idx="0"/>
          </p:cNvCxnSpPr>
          <p:nvPr/>
        </p:nvCxnSpPr>
        <p:spPr>
          <a:xfrm flipH="1">
            <a:off x="6096000" y="4622800"/>
            <a:ext cx="3835400" cy="533400"/>
          </a:xfrm>
          <a:prstGeom prst="bentConnector4">
            <a:avLst>
              <a:gd name="adj1" fmla="val 0"/>
              <a:gd name="adj2" fmla="val 50000"/>
            </a:avLst>
          </a:prstGeom>
          <a:ln w="16193">
            <a:solidFill>
              <a:srgbClr val="006B59"/>
            </a:solidFill>
            <a:tailEnd type="triangle" w="sm" len="sm"/>
          </a:ln>
        </p:spPr>
      </p:cxnSp>
      <p:cxnSp>
        <p:nvCxnSpPr>
          <p:cNvPr id="11" name="直接箭头连接符 10"/>
          <p:cNvCxnSpPr>
            <a:stCxn id="22" idx="3"/>
            <a:endCxn id="23" idx="1"/>
          </p:cNvCxnSpPr>
          <p:nvPr/>
        </p:nvCxnSpPr>
        <p:spPr>
          <a:xfrm>
            <a:off x="7874000" y="4025900"/>
            <a:ext cx="279400" cy="0"/>
          </a:xfrm>
          <a:prstGeom prst="straightConnector1">
            <a:avLst/>
          </a:prstGeom>
          <a:ln w="16193">
            <a:solidFill>
              <a:srgbClr val="006B59"/>
            </a:solidFill>
            <a:tailEnd type="triangle" w="sm" len="sm"/>
          </a:ln>
        </p:spPr>
      </p:cxnSp>
      <p:cxnSp>
        <p:nvCxnSpPr>
          <p:cNvPr id="12" name="直接箭头连接符 11"/>
          <p:cNvCxnSpPr>
            <a:stCxn id="21" idx="3"/>
            <a:endCxn id="22" idx="1"/>
          </p:cNvCxnSpPr>
          <p:nvPr/>
        </p:nvCxnSpPr>
        <p:spPr>
          <a:xfrm>
            <a:off x="4038600" y="4025900"/>
            <a:ext cx="279400" cy="0"/>
          </a:xfrm>
          <a:prstGeom prst="straightConnector1">
            <a:avLst/>
          </a:prstGeom>
          <a:ln w="16193">
            <a:solidFill>
              <a:srgbClr val="006B59"/>
            </a:solidFill>
            <a:tailEnd type="triangle" w="sm" len="sm"/>
          </a:ln>
        </p:spPr>
      </p:cxnSp>
      <p:cxnSp>
        <p:nvCxnSpPr>
          <p:cNvPr id="13" name="肘形连接符 12"/>
          <p:cNvCxnSpPr>
            <a:stCxn id="20" idx="2"/>
            <a:endCxn id="21" idx="0"/>
          </p:cNvCxnSpPr>
          <p:nvPr/>
        </p:nvCxnSpPr>
        <p:spPr>
          <a:xfrm flipH="1">
            <a:off x="2260600" y="2971800"/>
            <a:ext cx="3835400" cy="457200"/>
          </a:xfrm>
          <a:prstGeom prst="bentConnector4">
            <a:avLst>
              <a:gd name="adj1" fmla="val 0"/>
              <a:gd name="adj2" fmla="val 50000"/>
            </a:avLst>
          </a:prstGeom>
          <a:ln w="16193">
            <a:solidFill>
              <a:srgbClr val="006B59"/>
            </a:solidFill>
            <a:tailEnd type="triangle" w="sm" len="sm"/>
          </a:ln>
        </p:spPr>
      </p:cxnSp>
      <p:cxnSp>
        <p:nvCxnSpPr>
          <p:cNvPr id="14" name="直接箭头连接符 13"/>
          <p:cNvCxnSpPr>
            <a:stCxn id="19" idx="2"/>
            <a:endCxn id="20" idx="0"/>
          </p:cNvCxnSpPr>
          <p:nvPr/>
        </p:nvCxnSpPr>
        <p:spPr>
          <a:xfrm>
            <a:off x="6096000" y="2235200"/>
            <a:ext cx="0" cy="203200"/>
          </a:xfrm>
          <a:prstGeom prst="straightConnector1">
            <a:avLst/>
          </a:prstGeom>
          <a:ln w="16193">
            <a:solidFill>
              <a:srgbClr val="006B59"/>
            </a:solidFill>
            <a:tailEnd type="triangle" w="sm" len="sm"/>
          </a:ln>
        </p:spPr>
      </p:cxnSp>
      <p:sp>
        <p:nvSpPr>
          <p:cNvPr id="15" name="文字 后续计划"/>
          <p:cNvSpPr>
            <a:spLocks noGrp="1"/>
          </p:cNvSpPr>
          <p:nvPr/>
        </p:nvSpPr>
        <p:spPr>
          <a:xfrm>
            <a:off x="1054100" y="304800"/>
            <a:ext cx="2184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后续计划</a:t>
            </a:r>
            <a:endParaRPr sz="24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文字 大论文目录框架"/>
          <p:cNvSpPr>
            <a:spLocks noGrp="1"/>
          </p:cNvSpPr>
          <p:nvPr/>
        </p:nvSpPr>
        <p:spPr>
          <a:xfrm>
            <a:off x="482600" y="1066800"/>
            <a:ext cx="112776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17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大论文目录框架</a:t>
            </a:r>
            <a:endParaRPr sz="3200" b="1">
              <a:solidFill>
                <a:srgbClr val="17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字 视觉穴位定位与机械臂运动规划研究"/>
          <p:cNvSpPr>
            <a:spLocks noGrp="1"/>
          </p:cNvSpPr>
          <p:nvPr/>
        </p:nvSpPr>
        <p:spPr>
          <a:xfrm>
            <a:off x="228600" y="6527800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l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视觉穴位定位与机械臂运动规划研究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文字 27"/>
          <p:cNvSpPr>
            <a:spLocks noGrp="1"/>
          </p:cNvSpPr>
          <p:nvPr/>
        </p:nvSpPr>
        <p:spPr>
          <a:xfrm>
            <a:off x="11150600" y="6527800"/>
            <a:ext cx="63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r">
              <a:def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0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130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第1章  绪论"/>
          <p:cNvSpPr>
            <a:spLocks noGrp="1"/>
          </p:cNvSpPr>
          <p:nvPr/>
        </p:nvSpPr>
        <p:spPr>
          <a:xfrm>
            <a:off x="3429000" y="1803400"/>
            <a:ext cx="5334000" cy="431800"/>
          </a:xfrm>
          <a:prstGeom prst="rect">
            <a:avLst/>
          </a:prstGeom>
          <a:solidFill>
            <a:srgbClr val="F1F6F3"/>
          </a:solidFill>
          <a:ln w="12383">
            <a:solidFill>
              <a:srgbClr val="006B59"/>
            </a:solidFill>
          </a:ln>
        </p:spPr>
        <p:txBody>
          <a:bodyPr wrap="square" lIns="88900" tIns="88900" rIns="88900" bIns="88900" anchor="ctr">
            <a:noAutofit/>
          </a:bodyPr>
          <a:lstStyle>
            <a:defPPr algn="ctr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第1章  绪论</a:t>
            </a:r>
            <a:endParaRPr sz="21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第2章  系统总体方案与机械臂建模"/>
          <p:cNvSpPr>
            <a:spLocks noGrp="1"/>
          </p:cNvSpPr>
          <p:nvPr/>
        </p:nvSpPr>
        <p:spPr>
          <a:xfrm>
            <a:off x="2286000" y="2438400"/>
            <a:ext cx="7620000" cy="533400"/>
          </a:xfrm>
          <a:prstGeom prst="rect">
            <a:avLst/>
          </a:prstGeom>
          <a:solidFill>
            <a:srgbClr val="F1F6F3"/>
          </a:solidFill>
          <a:ln w="12383">
            <a:solidFill>
              <a:srgbClr val="006B59"/>
            </a:solidFill>
          </a:ln>
        </p:spPr>
        <p:txBody>
          <a:bodyPr wrap="square" lIns="88900" tIns="88900" rIns="88900" bIns="88900" anchor="ctr">
            <a:noAutofit/>
          </a:bodyPr>
          <a:lstStyle>
            <a:defPPr algn="ctr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第2章  系统总体方案与机械臂建模</a:t>
            </a:r>
            <a:endParaRPr sz="21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第3章 解剖锚点与骨度约束的 穴位视觉定位"/>
          <p:cNvSpPr>
            <a:spLocks noGrp="1"/>
          </p:cNvSpPr>
          <p:nvPr/>
        </p:nvSpPr>
        <p:spPr>
          <a:xfrm>
            <a:off x="482600" y="3429000"/>
            <a:ext cx="3556000" cy="1193800"/>
          </a:xfrm>
          <a:prstGeom prst="rect">
            <a:avLst/>
          </a:prstGeom>
          <a:solidFill>
            <a:srgbClr val="F1F6F3"/>
          </a:solidFill>
          <a:ln w="12383">
            <a:solidFill>
              <a:srgbClr val="006B59"/>
            </a:solidFill>
          </a:ln>
        </p:spPr>
        <p:txBody>
          <a:bodyPr wrap="square" lIns="88900" tIns="88900" rIns="88900" bIns="88900" anchor="ctr">
            <a:noAutofit/>
          </a:bodyPr>
          <a:lstStyle>
            <a:def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第3章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解剖锚点与骨度约束的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穴位视觉定位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第4章 RGB-D 三维穴位定位 与作业位姿生成"/>
          <p:cNvSpPr>
            <a:spLocks noGrp="1"/>
          </p:cNvSpPr>
          <p:nvPr/>
        </p:nvSpPr>
        <p:spPr>
          <a:xfrm>
            <a:off x="4318000" y="3429000"/>
            <a:ext cx="3556000" cy="1193800"/>
          </a:xfrm>
          <a:prstGeom prst="rect">
            <a:avLst/>
          </a:prstGeom>
          <a:solidFill>
            <a:srgbClr val="F1F6F3"/>
          </a:solidFill>
          <a:ln w="12383">
            <a:solidFill>
              <a:srgbClr val="006B59"/>
            </a:solidFill>
          </a:ln>
        </p:spPr>
        <p:txBody>
          <a:bodyPr wrap="square" lIns="88900" tIns="88900" rIns="88900" bIns="88900" anchor="ctr">
            <a:noAutofit/>
          </a:bodyPr>
          <a:lstStyle>
            <a:def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第4章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RGB-D 三维穴位定位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与作业位姿生成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3" name="第5章 自适应双向 RRT 路径规划方法"/>
          <p:cNvSpPr>
            <a:spLocks noGrp="1"/>
          </p:cNvSpPr>
          <p:nvPr/>
        </p:nvSpPr>
        <p:spPr>
          <a:xfrm>
            <a:off x="8153400" y="3429000"/>
            <a:ext cx="3556000" cy="1193800"/>
          </a:xfrm>
          <a:prstGeom prst="rect">
            <a:avLst/>
          </a:prstGeom>
          <a:solidFill>
            <a:srgbClr val="F1F6F3"/>
          </a:solidFill>
          <a:ln w="12383">
            <a:solidFill>
              <a:srgbClr val="006B59"/>
            </a:solidFill>
          </a:ln>
        </p:spPr>
        <p:txBody>
          <a:bodyPr wrap="square" lIns="88900" tIns="88900" rIns="88900" bIns="88900" anchor="ctr">
            <a:noAutofit/>
          </a:bodyPr>
          <a:lstStyle>
            <a:def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第5章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自适应双向 RRT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>
              <a:def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0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路径规划方法</a:t>
            </a:r>
            <a:endParaRPr sz="20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" name="第6章  系统集成与机械臂实验验证"/>
          <p:cNvSpPr>
            <a:spLocks noGrp="1"/>
          </p:cNvSpPr>
          <p:nvPr/>
        </p:nvSpPr>
        <p:spPr>
          <a:xfrm>
            <a:off x="2286000" y="5156200"/>
            <a:ext cx="7620000" cy="533400"/>
          </a:xfrm>
          <a:prstGeom prst="rect">
            <a:avLst/>
          </a:prstGeom>
          <a:solidFill>
            <a:srgbClr val="F1F6F3"/>
          </a:solidFill>
          <a:ln w="12383">
            <a:solidFill>
              <a:srgbClr val="006B59"/>
            </a:solidFill>
          </a:ln>
        </p:spPr>
        <p:txBody>
          <a:bodyPr wrap="square" lIns="88900" tIns="88900" rIns="88900" bIns="88900" anchor="ctr">
            <a:noAutofit/>
          </a:bodyPr>
          <a:lstStyle>
            <a:defPPr algn="ctr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第6章  系统集成与机械臂实验验证</a:t>
            </a:r>
            <a:endParaRPr sz="21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第7章  总结与展望"/>
          <p:cNvSpPr>
            <a:spLocks noGrp="1"/>
          </p:cNvSpPr>
          <p:nvPr/>
        </p:nvSpPr>
        <p:spPr>
          <a:xfrm>
            <a:off x="3429000" y="5969000"/>
            <a:ext cx="5334000" cy="431800"/>
          </a:xfrm>
          <a:prstGeom prst="rect">
            <a:avLst/>
          </a:prstGeom>
          <a:solidFill>
            <a:srgbClr val="F1F6F3"/>
          </a:solidFill>
          <a:ln w="12383">
            <a:solidFill>
              <a:srgbClr val="006B59"/>
            </a:solidFill>
          </a:ln>
        </p:spPr>
        <p:txBody>
          <a:bodyPr wrap="square" lIns="88900" tIns="88900" rIns="88900" bIns="88900" anchor="ctr">
            <a:noAutofit/>
          </a:bodyPr>
          <a:lstStyle>
            <a:defPPr algn="ctr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defPPr>
          </a:lstStyle>
          <a:p>
            <a:pPr algn="ctr">
              <a:def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pPr>
            <a:r>
              <a:rPr sz="2100" b="1">
                <a:solidFill>
                  <a:srgbClr val="006B5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第7章  总结与展望</a:t>
            </a:r>
            <a:endParaRPr sz="2100" b="1">
              <a:solidFill>
                <a:srgbClr val="006B5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/>
          <p:cNvGrpSpPr/>
          <p:nvPr/>
        </p:nvGrpSpPr>
        <p:grpSpPr>
          <a:xfrm>
            <a:off x="-6350" y="1981200"/>
            <a:ext cx="12204700" cy="2441575"/>
            <a:chOff x="-6350" y="1981200"/>
            <a:chExt cx="12204700" cy="2441575"/>
          </a:xfrm>
        </p:grpSpPr>
        <p:sp>
          <p:nvSpPr>
            <p:cNvPr id="3" name="object 4"/>
            <p:cNvSpPr/>
            <p:nvPr/>
          </p:nvSpPr>
          <p:spPr>
            <a:xfrm>
              <a:off x="12164059" y="1987550"/>
              <a:ext cx="27940" cy="2428875"/>
            </a:xfrm>
            <a:custGeom>
              <a:avLst/>
              <a:gdLst/>
              <a:ahLst/>
              <a:cxnLst/>
              <a:rect l="l" t="t" r="r" b="b"/>
              <a:pathLst>
                <a:path w="27940" h="2428875">
                  <a:moveTo>
                    <a:pt x="0" y="2428875"/>
                  </a:moveTo>
                  <a:lnTo>
                    <a:pt x="27940" y="2428875"/>
                  </a:lnTo>
                  <a:lnTo>
                    <a:pt x="27940" y="0"/>
                  </a:lnTo>
                  <a:lnTo>
                    <a:pt x="0" y="0"/>
                  </a:lnTo>
                  <a:lnTo>
                    <a:pt x="0" y="2428875"/>
                  </a:lnTo>
                  <a:close/>
                </a:path>
              </a:pathLst>
            </a:custGeom>
            <a:solidFill>
              <a:srgbClr val="435D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5"/>
            <p:cNvSpPr/>
            <p:nvPr/>
          </p:nvSpPr>
          <p:spPr>
            <a:xfrm>
              <a:off x="0" y="1987550"/>
              <a:ext cx="12192000" cy="2428875"/>
            </a:xfrm>
            <a:custGeom>
              <a:avLst/>
              <a:gdLst/>
              <a:ahLst/>
              <a:cxnLst/>
              <a:rect l="l" t="t" r="r" b="b"/>
              <a:pathLst>
                <a:path w="12192000" h="2428875">
                  <a:moveTo>
                    <a:pt x="0" y="2428875"/>
                  </a:moveTo>
                  <a:lnTo>
                    <a:pt x="12192000" y="242887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428875"/>
                  </a:lnTo>
                  <a:close/>
                </a:path>
              </a:pathLst>
            </a:custGeom>
            <a:ln w="12700">
              <a:solidFill>
                <a:srgbClr val="435D4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6"/>
            <p:cNvSpPr/>
            <p:nvPr/>
          </p:nvSpPr>
          <p:spPr>
            <a:xfrm>
              <a:off x="635" y="1987550"/>
              <a:ext cx="12163425" cy="2428875"/>
            </a:xfrm>
            <a:custGeom>
              <a:avLst/>
              <a:gdLst/>
              <a:ahLst/>
              <a:cxnLst/>
              <a:rect l="l" t="t" r="r" b="b"/>
              <a:pathLst>
                <a:path w="12163425" h="2428875">
                  <a:moveTo>
                    <a:pt x="12163425" y="0"/>
                  </a:moveTo>
                  <a:lnTo>
                    <a:pt x="0" y="0"/>
                  </a:lnTo>
                  <a:lnTo>
                    <a:pt x="0" y="2428875"/>
                  </a:lnTo>
                  <a:lnTo>
                    <a:pt x="12163425" y="2428875"/>
                  </a:lnTo>
                  <a:lnTo>
                    <a:pt x="12163425" y="0"/>
                  </a:lnTo>
                  <a:close/>
                </a:path>
              </a:pathLst>
            </a:custGeom>
            <a:solidFill>
              <a:srgbClr val="00645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图片 11" descr="机械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0" y="-76200"/>
            <a:ext cx="5143500" cy="6858000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0" y="1987550"/>
            <a:ext cx="635" cy="2428875"/>
          </a:xfrm>
          <a:custGeom>
            <a:avLst/>
            <a:gdLst/>
            <a:ahLst/>
            <a:cxnLst/>
            <a:rect l="l" t="t" r="r" b="b"/>
            <a:pathLst>
              <a:path w="635" h="2428875">
                <a:moveTo>
                  <a:pt x="0" y="2428875"/>
                </a:moveTo>
                <a:lnTo>
                  <a:pt x="635" y="2428875"/>
                </a:lnTo>
                <a:lnTo>
                  <a:pt x="635" y="0"/>
                </a:lnTo>
                <a:lnTo>
                  <a:pt x="0" y="0"/>
                </a:lnTo>
                <a:lnTo>
                  <a:pt x="0" y="2428875"/>
                </a:lnTo>
                <a:close/>
              </a:path>
            </a:pathLst>
          </a:custGeom>
          <a:solidFill>
            <a:srgbClr val="435D4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上海应用技术大学原始校标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14300"/>
            <a:ext cx="3566160" cy="742950"/>
          </a:xfrm>
          <a:prstGeom prst="rect">
            <a:avLst/>
          </a:prstGeom>
        </p:spPr>
      </p:pic>
      <p:sp>
        <p:nvSpPr>
          <p:cNvPr id="10" name="文字 感谢聆听&#10;请各位老师批评指正！"/>
          <p:cNvSpPr>
            <a:spLocks noGrp="1"/>
          </p:cNvSpPr>
          <p:nvPr/>
        </p:nvSpPr>
        <p:spPr>
          <a:xfrm>
            <a:off x="0" y="1955800"/>
            <a:ext cx="12192000" cy="214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algn="ctr">
              <a:def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感谢聆听</a:t>
            </a:r>
            <a:endParaRPr sz="4800" b="0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def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4800" b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请各位老师批评指正！</a:t>
            </a:r>
            <a:endParaRPr sz="4800" b="0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1" name="文字 汇报人：郭兴雨"/>
          <p:cNvSpPr>
            <a:spLocks noGrp="1"/>
          </p:cNvSpPr>
          <p:nvPr/>
        </p:nvSpPr>
        <p:spPr>
          <a:xfrm>
            <a:off x="3276600" y="4902200"/>
            <a:ext cx="3111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53625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algn="l">
              <a:defRPr sz="2400" b="0">
                <a:solidFill>
                  <a:srgbClr val="53625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sz="2400" b="0">
                <a:solidFill>
                  <a:srgbClr val="53625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汇报人：郭兴雨</a:t>
            </a:r>
            <a:endParaRPr sz="2400" b="0">
              <a:solidFill>
                <a:srgbClr val="53625C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21,&quot;left&quot;:38,&quot;top&quot;:148,&quot;width&quot;:520}"/>
</p:tagLst>
</file>

<file path=ppt/tags/tag2.xml><?xml version="1.0" encoding="utf-8"?>
<p:tagLst xmlns:p="http://schemas.openxmlformats.org/presentationml/2006/main">
  <p:tag name="KSO_WM_DIAGRAM_VIRTUALLY_FRAME" val="{&quot;height&quot;:321,&quot;left&quot;:38,&quot;top&quot;:148,&quot;width&quot;:520}"/>
</p:tagLst>
</file>

<file path=ppt/tags/tag3.xml><?xml version="1.0" encoding="utf-8"?>
<p:tagLst xmlns:p="http://schemas.openxmlformats.org/presentationml/2006/main">
  <p:tag name="KSO_WM_DIAGRAM_VIRTUALLY_FRAME" val="{&quot;height&quot;:321,&quot;left&quot;:38,&quot;top&quot;:148,&quot;width&quot;:520}"/>
</p:tagLst>
</file>

<file path=ppt/tags/tag4.xml><?xml version="1.0" encoding="utf-8"?>
<p:tagLst xmlns:p="http://schemas.openxmlformats.org/presentationml/2006/main">
  <p:tag name="KSO_WM_DIAGRAM_VIRTUALLY_FRAME" val="{&quot;height&quot;:321,&quot;left&quot;:38,&quot;top&quot;:148,&quot;width&quot;:520}"/>
</p:tagLst>
</file>

<file path=ppt/tags/tag5.xml><?xml version="1.0" encoding="utf-8"?>
<p:tagLst xmlns:p="http://schemas.openxmlformats.org/presentationml/2006/main">
  <p:tag name="KSO_WM_DIAGRAM_VIRTUALLY_FRAME" val="{&quot;height&quot;:321,&quot;left&quot;:38,&quot;top&quot;:148,&quot;width&quot;:520}"/>
</p:tagLst>
</file>

<file path=ppt/tags/tag6.xml><?xml version="1.0" encoding="utf-8"?>
<p:tagLst xmlns:p="http://schemas.openxmlformats.org/presentationml/2006/main">
  <p:tag name="KSO_WM_DIAGRAM_VIRTUALLY_FRAME" val="{&quot;height&quot;:321,&quot;left&quot;:38,&quot;top&quot;:148,&quot;width&quot;:520}"/>
</p:tagLst>
</file>

<file path=ppt/tags/tag7.xml><?xml version="1.0" encoding="utf-8"?>
<p:tagLst xmlns:p="http://schemas.openxmlformats.org/presentationml/2006/main">
  <p:tag name="AS_NET" val="4.0.30319.42000"/>
  <p:tag name="AS_OS" val="Microsoft Windows NT 6.2.9200.0"/>
  <p:tag name="AS_RELEASE_DATE" val="2021.08.14"/>
  <p:tag name="AS_TITLE" val="Aspose.Slides for .NET 4.0 Client Profile"/>
  <p:tag name="AS_VERSION" val="21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3412</Words>
  <Application>WPS 演示</Application>
  <PresentationFormat/>
  <Paragraphs>688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</vt:lpstr>
      <vt:lpstr>宋体</vt:lpstr>
      <vt:lpstr>Wingdings</vt:lpstr>
      <vt:lpstr>楷体</vt:lpstr>
      <vt:lpstr>等线</vt:lpstr>
      <vt:lpstr>Times New Roman</vt:lpstr>
      <vt:lpstr>微软雅黑</vt:lpstr>
      <vt:lpstr>Cambria</vt:lpstr>
      <vt:lpstr>Arial Unicode MS</vt:lpstr>
      <vt:lpstr>Calibri</vt:lpstr>
      <vt:lpstr>Office Theme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五五</cp:lastModifiedBy>
  <cp:revision>67</cp:revision>
  <cp:lastPrinted>2025-11-12T20:49:00Z</cp:lastPrinted>
  <dcterms:created xsi:type="dcterms:W3CDTF">2025-11-12T20:49:00Z</dcterms:created>
  <dcterms:modified xsi:type="dcterms:W3CDTF">2026-10-18T08:02:44Z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938B226BEFEE455B91D4E8D64531D83E_13</vt:lpwstr>
  </property>
  <property fmtid="{D5CDD505-2E9C-101B-9397-08002B2CF9AE}" pid="3" name="KSOProductBuildVer">
    <vt:lpwstr>2052-12.1.0.28505</vt:lpwstr>
  </property>
</Properties>
</file>