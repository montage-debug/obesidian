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257" r:id="rId4"/>
    <p:sldId id="258" r:id="rId5"/>
    <p:sldId id="259" r:id="rId6"/>
    <p:sldId id="260" r:id="rId7"/>
    <p:sldId id="274" r:id="rId9"/>
    <p:sldId id="286" r:id="rId10"/>
    <p:sldId id="275" r:id="rId11"/>
    <p:sldId id="261" r:id="rId12"/>
    <p:sldId id="285" r:id="rId13"/>
    <p:sldId id="273" r:id="rId14"/>
  </p:sldIdLst>
  <p:sldSz cx="12192000" cy="6858000"/>
  <p:notesSz cx="12192000" cy="6858000"/>
  <p:custDataLst>
    <p:tags r:id="rId18"/>
  </p:custDataLst>
  <p:defaultTextStyle>
    <a:defPPr>
      <a:defRPr kern="0"/>
    </a:defPPr>
  </p:defaultTextStyle>
  <p:extLst>
    <p:ext uri="{EFAFB233-063F-42B5-8137-9DF3F51BA10A}">
      <p15:sldGuideLst xmlns:p15="http://schemas.microsoft.com/office/powerpoint/2012/main">
        <p15:guide id="1" orient="horz" pos="2844" userDrawn="1">
          <p15:clr>
            <a:srgbClr val="A4A3A4"/>
          </p15:clr>
        </p15:guide>
        <p15:guide id="2" pos="20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44"/>
        <p:guide pos="2032"/>
      </p:guideLst>
    </p:cSldViewPr>
  </p:slideViewPr>
  <p:notesTextViewPr>
    <p:cViewPr>
      <p:scale>
        <a:sx n="100" d="100"/>
        <a:sy n="100" d="100"/>
      </p:scale>
      <p:origin x="0" y="0"/>
    </p:cViewPr>
  </p:notesTextViewPr>
  <p:notesViewPr>
    <p:cSldViewPr>
      <p:cViewPr>
        <p:scale>
          <a:sx n="1" d="100"/>
          <a:sy n="1"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2277295" y="0"/>
            <a:ext cx="9392356" cy="25806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294283" y="642938"/>
            <a:ext cx="3086100" cy="1735931"/>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167467" y="2475309"/>
            <a:ext cx="17339733" cy="2025253"/>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4885432"/>
            <a:ext cx="9392356" cy="25806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2277295" y="4885432"/>
            <a:ext cx="9392356" cy="25806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宋体" panose="02010600030101010101" pitchFamily="2" charset="-122"/>
                <a:cs typeface="宋体" panose="02010600030101010101" pitchFamily="2" charset="-122"/>
              </a:defRPr>
            </a:lvl1pPr>
          </a:lstStyle>
          <a:p/>
        </p:txBody>
      </p:sp>
      <p:sp>
        <p:nvSpPr>
          <p:cNvPr id="3" name="Holder 3"/>
          <p:cNvSpPr>
            <a:spLocks noGrp="1"/>
          </p:cNvSpPr>
          <p:nvPr>
            <p:ph type="body" idx="1"/>
          </p:nvPr>
        </p:nvSpPr>
        <p:spPr/>
        <p:txBody>
          <a:bodyPr lIns="0" tIns="0" rIns="0" bIns="0"/>
          <a:lstStyle>
            <a:lvl1pPr>
              <a:defRPr sz="2400" b="0" i="0">
                <a:solidFill>
                  <a:schemeClr val="tx1"/>
                </a:solidFill>
                <a:latin typeface="宋体" panose="02010600030101010101" pitchFamily="2" charset="-122"/>
                <a:cs typeface="宋体" panose="02010600030101010101" pitchFamily="2" charset="-122"/>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宋体" panose="02010600030101010101" pitchFamily="2" charset="-122"/>
                <a:cs typeface="宋体" panose="02010600030101010101" pitchFamily="2" charset="-122"/>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宋体" panose="02010600030101010101" pitchFamily="2" charset="-122"/>
                <a:cs typeface="宋体" panose="02010600030101010101" pitchFamily="2" charset="-122"/>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2631439"/>
            <a:ext cx="12192000" cy="2987040"/>
          </a:xfrm>
          <a:custGeom>
            <a:avLst/>
            <a:gdLst/>
            <a:ahLst/>
            <a:cxnLst/>
            <a:rect l="l" t="t" r="r" b="b"/>
            <a:pathLst>
              <a:path w="12192000" h="2987040">
                <a:moveTo>
                  <a:pt x="12192000" y="0"/>
                </a:moveTo>
                <a:lnTo>
                  <a:pt x="0" y="0"/>
                </a:lnTo>
                <a:lnTo>
                  <a:pt x="0" y="2987039"/>
                </a:lnTo>
                <a:lnTo>
                  <a:pt x="12192000" y="2987039"/>
                </a:lnTo>
                <a:lnTo>
                  <a:pt x="12192000" y="0"/>
                </a:lnTo>
                <a:close/>
              </a:path>
            </a:pathLst>
          </a:custGeom>
          <a:solidFill>
            <a:srgbClr val="006453"/>
          </a:solidFill>
        </p:spPr>
        <p:txBody>
          <a:bodyPr wrap="square" lIns="0" tIns="0" rIns="0" bIns="0" rtlCol="0"/>
          <a:lstStyle/>
          <a:p/>
        </p:txBody>
      </p:sp>
      <p:sp>
        <p:nvSpPr>
          <p:cNvPr id="17" name="bg object 17"/>
          <p:cNvSpPr/>
          <p:nvPr/>
        </p:nvSpPr>
        <p:spPr>
          <a:xfrm>
            <a:off x="0" y="2631439"/>
            <a:ext cx="12192000" cy="2987040"/>
          </a:xfrm>
          <a:custGeom>
            <a:avLst/>
            <a:gdLst/>
            <a:ahLst/>
            <a:cxnLst/>
            <a:rect l="l" t="t" r="r" b="b"/>
            <a:pathLst>
              <a:path w="12192000" h="2987040">
                <a:moveTo>
                  <a:pt x="0" y="2987039"/>
                </a:moveTo>
                <a:lnTo>
                  <a:pt x="12192000" y="2987039"/>
                </a:lnTo>
                <a:lnTo>
                  <a:pt x="12192000" y="0"/>
                </a:lnTo>
                <a:lnTo>
                  <a:pt x="0" y="0"/>
                </a:lnTo>
                <a:lnTo>
                  <a:pt x="0" y="2987039"/>
                </a:lnTo>
                <a:close/>
              </a:path>
            </a:pathLst>
          </a:custGeom>
          <a:ln w="12700">
            <a:solidFill>
              <a:srgbClr val="435D4E"/>
            </a:solidFill>
          </a:ln>
        </p:spPr>
        <p:txBody>
          <a:bodyPr wrap="square" lIns="0" tIns="0" rIns="0" bIns="0" rtlCol="0"/>
          <a:lstStyle/>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57147" y="319278"/>
            <a:ext cx="1250950" cy="391159"/>
          </a:xfrm>
          <a:prstGeom prst="rect">
            <a:avLst/>
          </a:prstGeom>
        </p:spPr>
        <p:txBody>
          <a:bodyPr wrap="square" lIns="0" tIns="0" rIns="0" bIns="0">
            <a:spAutoFit/>
          </a:bodyPr>
          <a:lstStyle>
            <a:lvl1pPr>
              <a:defRPr sz="2400" b="1" i="0">
                <a:solidFill>
                  <a:schemeClr val="bg1"/>
                </a:solidFill>
                <a:latin typeface="宋体" panose="02010600030101010101" pitchFamily="2" charset="-122"/>
                <a:cs typeface="宋体" panose="02010600030101010101" pitchFamily="2" charset="-122"/>
              </a:defRPr>
            </a:lvl1pPr>
          </a:lstStyle>
          <a:p/>
        </p:txBody>
      </p:sp>
      <p:sp>
        <p:nvSpPr>
          <p:cNvPr id="3" name="Holder 3"/>
          <p:cNvSpPr>
            <a:spLocks noGrp="1"/>
          </p:cNvSpPr>
          <p:nvPr>
            <p:ph type="body" idx="1"/>
          </p:nvPr>
        </p:nvSpPr>
        <p:spPr>
          <a:xfrm>
            <a:off x="876401" y="1222045"/>
            <a:ext cx="10740390" cy="4191000"/>
          </a:xfrm>
          <a:prstGeom prst="rect">
            <a:avLst/>
          </a:prstGeom>
        </p:spPr>
        <p:txBody>
          <a:bodyPr wrap="square" lIns="0" tIns="0" rIns="0" bIns="0">
            <a:spAutoFit/>
          </a:bodyPr>
          <a:lstStyle>
            <a:lvl1pPr>
              <a:defRPr sz="2400" b="0" i="0">
                <a:solidFill>
                  <a:schemeClr val="tx1"/>
                </a:solidFill>
                <a:latin typeface="宋体" panose="02010600030101010101" pitchFamily="2" charset="-122"/>
                <a:cs typeface="宋体" panose="02010600030101010101" pitchFamily="2" charset="-122"/>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8.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 Id="rId3"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4.png"/><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2054860"/>
            <a:ext cx="12192000" cy="3953510"/>
          </a:xfrm>
          <a:custGeom>
            <a:avLst/>
            <a:gdLst/>
            <a:ahLst/>
            <a:cxnLst/>
            <a:rect l="l" t="t" r="r" b="b"/>
            <a:pathLst>
              <a:path w="12192000" h="3953510">
                <a:moveTo>
                  <a:pt x="12192000" y="0"/>
                </a:moveTo>
                <a:lnTo>
                  <a:pt x="0" y="0"/>
                </a:lnTo>
                <a:lnTo>
                  <a:pt x="0" y="3953510"/>
                </a:lnTo>
                <a:lnTo>
                  <a:pt x="12192000" y="3953510"/>
                </a:lnTo>
                <a:lnTo>
                  <a:pt x="12192000" y="0"/>
                </a:lnTo>
                <a:close/>
              </a:path>
            </a:pathLst>
          </a:custGeom>
          <a:solidFill>
            <a:srgbClr val="006453"/>
          </a:solidFill>
        </p:spPr>
        <p:txBody>
          <a:bodyPr wrap="square" lIns="0" tIns="0" rIns="0" bIns="0" rtlCol="0"/>
          <a:lstStyle/>
          <a:p/>
        </p:txBody>
      </p:sp>
      <p:pic>
        <p:nvPicPr>
          <p:cNvPr id="3" name="object 3"/>
          <p:cNvPicPr/>
          <p:nvPr/>
        </p:nvPicPr>
        <p:blipFill>
          <a:blip r:embed="rId1"/>
          <a:stretch>
            <a:fillRect/>
          </a:stretch>
        </p:blipFill>
        <p:spPr>
          <a:xfrm>
            <a:off x="3452497" y="696409"/>
            <a:ext cx="5296531" cy="1102858"/>
          </a:xfrm>
          <a:prstGeom prst="rect">
            <a:avLst/>
          </a:prstGeom>
        </p:spPr>
      </p:pic>
      <p:sp>
        <p:nvSpPr>
          <p:cNvPr id="4" name="object 4"/>
          <p:cNvSpPr txBox="1">
            <a:spLocks noGrp="1"/>
          </p:cNvSpPr>
          <p:nvPr>
            <p:ph type="title"/>
          </p:nvPr>
        </p:nvSpPr>
        <p:spPr>
          <a:xfrm>
            <a:off x="0" y="2297430"/>
            <a:ext cx="12192000" cy="542925"/>
          </a:xfrm>
          <a:prstGeom prst="rect">
            <a:avLst/>
          </a:prstGeom>
        </p:spPr>
        <p:txBody>
          <a:bodyPr vert="horz" wrap="square" lIns="0" tIns="13335" rIns="0" bIns="0" rtlCol="0">
            <a:noAutofit/>
          </a:bodyPr>
          <a:lstStyle/>
          <a:p>
            <a:pPr marL="12700" algn="ctr">
              <a:lnSpc>
                <a:spcPct val="100000"/>
              </a:lnSpc>
              <a:spcBef>
                <a:spcPts val="105"/>
              </a:spcBef>
            </a:pPr>
            <a:r>
              <a:rPr lang="zh-CN" sz="3600" b="0" spc="85">
                <a:latin typeface="宋体" panose="02010600030101010101" pitchFamily="2" charset="-122"/>
                <a:cs typeface="宋体" panose="02010600030101010101" pitchFamily="2" charset="-122"/>
              </a:rPr>
              <a:t>组会进展汇报</a:t>
            </a:r>
            <a:endParaRPr lang="zh-CN" sz="3600" b="0" spc="85">
              <a:latin typeface="宋体" panose="02010600030101010101" pitchFamily="2" charset="-122"/>
              <a:cs typeface="宋体" panose="02010600030101010101" pitchFamily="2" charset="-122"/>
            </a:endParaRPr>
          </a:p>
        </p:txBody>
      </p:sp>
      <p:sp>
        <p:nvSpPr>
          <p:cNvPr id="5" name="object 5"/>
          <p:cNvSpPr txBox="1"/>
          <p:nvPr/>
        </p:nvSpPr>
        <p:spPr>
          <a:xfrm>
            <a:off x="-27305" y="3062605"/>
            <a:ext cx="12218670" cy="3500120"/>
          </a:xfrm>
          <a:prstGeom prst="rect">
            <a:avLst/>
          </a:prstGeom>
        </p:spPr>
        <p:txBody>
          <a:bodyPr vert="horz" wrap="square" lIns="0" tIns="13335" rIns="0" bIns="0" rtlCol="0">
            <a:spAutoFit/>
          </a:bodyPr>
          <a:lstStyle/>
          <a:p>
            <a:pPr marL="12700" marR="5080" algn="ctr">
              <a:lnSpc>
                <a:spcPct val="100000"/>
              </a:lnSpc>
              <a:spcBef>
                <a:spcPts val="105"/>
              </a:spcBef>
            </a:pPr>
            <a:r>
              <a:rPr kumimoji="0" sz="4400" b="1" i="0" u="none" strike="noStrike" kern="0" cap="none" spc="265" normalizeH="0" baseline="0" noProof="1">
                <a:solidFill>
                  <a:srgbClr val="FFFFFF"/>
                </a:solidFill>
                <a:latin typeface="宋体" panose="02010600030101010101" pitchFamily="2" charset="-122"/>
                <a:ea typeface="Arial" panose="020B0604020202020204" pitchFamily="34" charset="0"/>
                <a:cs typeface="宋体" panose="02010600030101010101" pitchFamily="2" charset="-122"/>
                <a:sym typeface="+mn-ea"/>
              </a:rPr>
              <a:t>基于</a:t>
            </a:r>
            <a:r>
              <a:rPr kumimoji="0" lang="zh-CN" altLang="en-US" sz="4400" b="1" i="0" u="none" strike="noStrike" kern="0" cap="none" spc="265" normalizeH="0" baseline="0" noProof="1">
                <a:solidFill>
                  <a:srgbClr val="FFFFFF"/>
                </a:solidFill>
                <a:latin typeface="宋体" panose="02010600030101010101" pitchFamily="2" charset="-122"/>
                <a:ea typeface="Arial" panose="020B0604020202020204" pitchFamily="34" charset="0"/>
                <a:cs typeface="宋体" panose="02010600030101010101" pitchFamily="2" charset="-122"/>
                <a:sym typeface="+mn-ea"/>
              </a:rPr>
              <a:t>视觉动态感知人体穴位与</a:t>
            </a:r>
            <a:r>
              <a:rPr kumimoji="0" lang="zh-CN" altLang="en-US" sz="4400" b="1" i="0" u="none" strike="noStrike" kern="0" cap="none" spc="265" normalizeH="0" baseline="0" noProof="1">
                <a:solidFill>
                  <a:srgbClr val="FFFFFF"/>
                </a:solidFill>
                <a:latin typeface="宋体" panose="02010600030101010101" pitchFamily="2" charset="-122"/>
                <a:ea typeface="Arial" panose="020B0604020202020204" pitchFamily="34" charset="0"/>
                <a:cs typeface="宋体" panose="02010600030101010101" pitchFamily="2" charset="-122"/>
                <a:sym typeface="+mn-ea"/>
              </a:rPr>
              <a:t>骨架定位及三维点云优化</a:t>
            </a:r>
            <a:r>
              <a:rPr kumimoji="0" sz="4400" b="1" i="0" u="none" strike="noStrike" kern="0" cap="none" spc="265" normalizeH="0" baseline="0" noProof="1">
                <a:solidFill>
                  <a:srgbClr val="FFFFFF"/>
                </a:solidFill>
                <a:latin typeface="宋体" panose="02010600030101010101" pitchFamily="2" charset="-122"/>
                <a:ea typeface="Arial" panose="020B0604020202020204" pitchFamily="34" charset="0"/>
                <a:cs typeface="宋体" panose="02010600030101010101" pitchFamily="2" charset="-122"/>
                <a:sym typeface="+mn-ea"/>
              </a:rPr>
              <a:t>研究</a:t>
            </a:r>
            <a:endParaRPr sz="4400">
              <a:latin typeface="宋体" panose="02010600030101010101" pitchFamily="2" charset="-122"/>
              <a:cs typeface="宋体" panose="02010600030101010101" pitchFamily="2" charset="-122"/>
            </a:endParaRPr>
          </a:p>
          <a:p>
            <a:pPr marL="3663950" algn="l">
              <a:lnSpc>
                <a:spcPct val="100000"/>
              </a:lnSpc>
              <a:spcBef>
                <a:spcPts val="410"/>
              </a:spcBef>
            </a:pPr>
            <a:r>
              <a:rPr sz="2400" spc="-10">
                <a:solidFill>
                  <a:srgbClr val="FFFFFF"/>
                </a:solidFill>
                <a:latin typeface="宋体" panose="02010600030101010101" pitchFamily="2" charset="-122"/>
                <a:cs typeface="宋体" panose="02010600030101010101" pitchFamily="2" charset="-122"/>
              </a:rPr>
              <a:t>答辩人：</a:t>
            </a:r>
            <a:r>
              <a:rPr lang="zh-CN" altLang="en-US" sz="2400" spc="-10">
                <a:solidFill>
                  <a:srgbClr val="FFFFFF"/>
                </a:solidFill>
                <a:latin typeface="宋体" panose="02010600030101010101" pitchFamily="2" charset="-122"/>
                <a:cs typeface="宋体" panose="02010600030101010101" pitchFamily="2" charset="-122"/>
              </a:rPr>
              <a:t>郭兴雨</a:t>
            </a:r>
            <a:endParaRPr sz="2400">
              <a:latin typeface="宋体" panose="02010600030101010101" pitchFamily="2" charset="-122"/>
              <a:cs typeface="宋体" panose="02010600030101010101" pitchFamily="2" charset="-122"/>
            </a:endParaRPr>
          </a:p>
          <a:p>
            <a:pPr marL="3663950" algn="l">
              <a:lnSpc>
                <a:spcPct val="100000"/>
              </a:lnSpc>
              <a:spcBef>
                <a:spcPts val="720"/>
              </a:spcBef>
              <a:tabLst>
                <a:tab pos="4273550" algn="l"/>
              </a:tabLst>
            </a:pPr>
            <a:r>
              <a:rPr sz="2400" spc="-50">
                <a:solidFill>
                  <a:srgbClr val="FFFFFF"/>
                </a:solidFill>
                <a:latin typeface="宋体" panose="02010600030101010101" pitchFamily="2" charset="-122"/>
                <a:cs typeface="宋体" panose="02010600030101010101" pitchFamily="2" charset="-122"/>
              </a:rPr>
              <a:t>专</a:t>
            </a:r>
            <a:r>
              <a:rPr sz="2400">
                <a:solidFill>
                  <a:srgbClr val="FFFFFF"/>
                </a:solidFill>
                <a:latin typeface="宋体" panose="02010600030101010101" pitchFamily="2" charset="-122"/>
                <a:cs typeface="宋体" panose="02010600030101010101" pitchFamily="2" charset="-122"/>
              </a:rPr>
              <a:t>	业：机械</a:t>
            </a:r>
            <a:r>
              <a:rPr lang="zh-CN" altLang="en-US" sz="2400">
                <a:solidFill>
                  <a:srgbClr val="FFFFFF"/>
                </a:solidFill>
                <a:latin typeface="宋体" panose="02010600030101010101" pitchFamily="2" charset="-122"/>
                <a:cs typeface="宋体" panose="02010600030101010101" pitchFamily="2" charset="-122"/>
              </a:rPr>
              <a:t>电子工程</a:t>
            </a:r>
            <a:endParaRPr sz="2400">
              <a:latin typeface="宋体" panose="02010600030101010101" pitchFamily="2" charset="-122"/>
              <a:cs typeface="宋体" panose="02010600030101010101" pitchFamily="2" charset="-122"/>
            </a:endParaRPr>
          </a:p>
          <a:p>
            <a:pPr marL="3663950" algn="l">
              <a:lnSpc>
                <a:spcPct val="100000"/>
              </a:lnSpc>
              <a:spcBef>
                <a:spcPts val="725"/>
              </a:spcBef>
              <a:tabLst>
                <a:tab pos="4273550" algn="l"/>
              </a:tabLst>
            </a:pPr>
            <a:r>
              <a:rPr sz="2400" spc="-50">
                <a:solidFill>
                  <a:srgbClr val="FFFFFF"/>
                </a:solidFill>
                <a:latin typeface="宋体" panose="02010600030101010101" pitchFamily="2" charset="-122"/>
                <a:cs typeface="宋体" panose="02010600030101010101" pitchFamily="2" charset="-122"/>
              </a:rPr>
              <a:t>导</a:t>
            </a:r>
            <a:r>
              <a:rPr sz="2400">
                <a:solidFill>
                  <a:srgbClr val="FFFFFF"/>
                </a:solidFill>
                <a:latin typeface="宋体" panose="02010600030101010101" pitchFamily="2" charset="-122"/>
                <a:cs typeface="宋体" panose="02010600030101010101" pitchFamily="2" charset="-122"/>
              </a:rPr>
              <a:t>	师：</a:t>
            </a:r>
            <a:r>
              <a:rPr lang="zh-CN" altLang="en-US" sz="2400">
                <a:solidFill>
                  <a:srgbClr val="FFFFFF"/>
                </a:solidFill>
                <a:latin typeface="宋体" panose="02010600030101010101" pitchFamily="2" charset="-122"/>
                <a:cs typeface="宋体" panose="02010600030101010101" pitchFamily="2" charset="-122"/>
              </a:rPr>
              <a:t>吴雁</a:t>
            </a:r>
            <a:r>
              <a:rPr sz="2400" spc="-10">
                <a:solidFill>
                  <a:srgbClr val="FFFFFF"/>
                </a:solidFill>
                <a:latin typeface="宋体" panose="02010600030101010101" pitchFamily="2" charset="-122"/>
                <a:cs typeface="宋体" panose="02010600030101010101" pitchFamily="2" charset="-122"/>
              </a:rPr>
              <a:t> </a:t>
            </a:r>
            <a:r>
              <a:rPr sz="2400">
                <a:solidFill>
                  <a:srgbClr val="FFFFFF"/>
                </a:solidFill>
                <a:latin typeface="宋体" panose="02010600030101010101" pitchFamily="2" charset="-122"/>
                <a:cs typeface="宋体" panose="02010600030101010101" pitchFamily="2" charset="-122"/>
              </a:rPr>
              <a:t>教</a:t>
            </a:r>
            <a:r>
              <a:rPr sz="2400" spc="-50">
                <a:solidFill>
                  <a:srgbClr val="FFFFFF"/>
                </a:solidFill>
                <a:latin typeface="宋体" panose="02010600030101010101" pitchFamily="2" charset="-122"/>
                <a:cs typeface="宋体" panose="02010600030101010101" pitchFamily="2" charset="-122"/>
              </a:rPr>
              <a:t>授</a:t>
            </a:r>
            <a:endParaRPr sz="2400">
              <a:latin typeface="宋体" panose="02010600030101010101" pitchFamily="2" charset="-122"/>
              <a:cs typeface="宋体" panose="02010600030101010101" pitchFamily="2" charset="-122"/>
            </a:endParaRPr>
          </a:p>
          <a:p>
            <a:pPr>
              <a:lnSpc>
                <a:spcPct val="100000"/>
              </a:lnSpc>
              <a:spcBef>
                <a:spcPts val="15"/>
              </a:spcBef>
            </a:pPr>
            <a:endParaRPr sz="2300">
              <a:latin typeface="宋体" panose="02010600030101010101" pitchFamily="2" charset="-122"/>
              <a:cs typeface="宋体" panose="02010600030101010101" pitchFamily="2" charset="-122"/>
            </a:endParaRPr>
          </a:p>
          <a:p>
            <a:pPr marL="40005" algn="ctr">
              <a:lnSpc>
                <a:spcPct val="100000"/>
              </a:lnSpc>
            </a:pPr>
            <a:r>
              <a:rPr sz="2800" b="1">
                <a:solidFill>
                  <a:srgbClr val="006453"/>
                </a:solidFill>
                <a:latin typeface="微软雅黑" panose="020B0503020204020204" charset="-122"/>
                <a:cs typeface="微软雅黑" panose="020B0503020204020204" charset="-122"/>
              </a:rPr>
              <a:t>—— </a:t>
            </a:r>
            <a:r>
              <a:rPr sz="2800" b="1" spc="-30">
                <a:solidFill>
                  <a:srgbClr val="006453"/>
                </a:solidFill>
                <a:latin typeface="Microsoft JhengHei" panose="020B0604030504040204" charset="-120"/>
                <a:cs typeface="Microsoft JhengHei" panose="020B0604030504040204" charset="-120"/>
              </a:rPr>
              <a:t>明德、明学</a:t>
            </a:r>
            <a:r>
              <a:rPr sz="2800" b="1" spc="-35">
                <a:solidFill>
                  <a:srgbClr val="006453"/>
                </a:solidFill>
                <a:latin typeface="Microsoft JhengHei" panose="020B0604030504040204" charset="-120"/>
                <a:cs typeface="Microsoft JhengHei" panose="020B0604030504040204" charset="-120"/>
              </a:rPr>
              <a:t>、明</a:t>
            </a:r>
            <a:r>
              <a:rPr sz="2800" b="1" spc="650">
                <a:solidFill>
                  <a:srgbClr val="006453"/>
                </a:solidFill>
                <a:latin typeface="Microsoft JhengHei" panose="020B0604030504040204" charset="-120"/>
                <a:cs typeface="Microsoft JhengHei" panose="020B0604030504040204" charset="-120"/>
              </a:rPr>
              <a:t>事</a:t>
            </a:r>
            <a:r>
              <a:rPr sz="2800" b="1" spc="-45">
                <a:solidFill>
                  <a:srgbClr val="006453"/>
                </a:solidFill>
                <a:latin typeface="微软雅黑" panose="020B0503020204020204" charset="-122"/>
                <a:cs typeface="微软雅黑" panose="020B0503020204020204" charset="-122"/>
              </a:rPr>
              <a:t>——</a:t>
            </a:r>
            <a:endParaRPr sz="2800">
              <a:latin typeface="微软雅黑" panose="020B0503020204020204" charset="-122"/>
              <a:cs typeface="微软雅黑" panose="020B050302020402020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35"/>
            <a:ext cx="12192000" cy="6858634"/>
            <a:chOff x="0" y="-635"/>
            <a:chExt cx="12192000" cy="6858634"/>
          </a:xfrm>
        </p:grpSpPr>
        <p:pic>
          <p:nvPicPr>
            <p:cNvPr id="3" name="object 3"/>
            <p:cNvPicPr/>
            <p:nvPr/>
          </p:nvPicPr>
          <p:blipFill>
            <a:blip r:embed="rId1"/>
            <a:stretch>
              <a:fillRect/>
            </a:stretch>
          </p:blipFill>
          <p:spPr>
            <a:xfrm>
              <a:off x="3316604" y="-635"/>
              <a:ext cx="5367020" cy="6858634"/>
            </a:xfrm>
            <a:prstGeom prst="rect">
              <a:avLst/>
            </a:prstGeom>
          </p:spPr>
        </p:pic>
        <p:sp>
          <p:nvSpPr>
            <p:cNvPr id="4" name="object 4"/>
            <p:cNvSpPr/>
            <p:nvPr/>
          </p:nvSpPr>
          <p:spPr>
            <a:xfrm>
              <a:off x="0" y="1733550"/>
              <a:ext cx="12192000" cy="4032250"/>
            </a:xfrm>
            <a:custGeom>
              <a:avLst/>
              <a:gdLst/>
              <a:ahLst/>
              <a:cxnLst/>
              <a:rect l="l" t="t" r="r" b="b"/>
              <a:pathLst>
                <a:path w="12192000" h="4032250">
                  <a:moveTo>
                    <a:pt x="12192000" y="0"/>
                  </a:moveTo>
                  <a:lnTo>
                    <a:pt x="0" y="0"/>
                  </a:lnTo>
                  <a:lnTo>
                    <a:pt x="0" y="4032250"/>
                  </a:lnTo>
                  <a:lnTo>
                    <a:pt x="12192000" y="4032250"/>
                  </a:lnTo>
                  <a:lnTo>
                    <a:pt x="12192000" y="0"/>
                  </a:lnTo>
                  <a:close/>
                </a:path>
              </a:pathLst>
            </a:custGeom>
            <a:solidFill>
              <a:srgbClr val="006453"/>
            </a:solidFill>
          </p:spPr>
          <p:txBody>
            <a:bodyPr wrap="square" lIns="0" tIns="0" rIns="0" bIns="0" rtlCol="0"/>
            <a:lstStyle/>
            <a:p/>
          </p:txBody>
        </p:sp>
        <p:pic>
          <p:nvPicPr>
            <p:cNvPr id="5" name="object 5"/>
            <p:cNvPicPr/>
            <p:nvPr/>
          </p:nvPicPr>
          <p:blipFill>
            <a:blip r:embed="rId2"/>
            <a:stretch>
              <a:fillRect/>
            </a:stretch>
          </p:blipFill>
          <p:spPr>
            <a:xfrm>
              <a:off x="320915" y="303315"/>
              <a:ext cx="399787" cy="408734"/>
            </a:xfrm>
            <a:prstGeom prst="rect">
              <a:avLst/>
            </a:prstGeom>
          </p:spPr>
        </p:pic>
      </p:grpSp>
      <p:sp>
        <p:nvSpPr>
          <p:cNvPr id="6" name="object 6"/>
          <p:cNvSpPr txBox="1"/>
          <p:nvPr/>
        </p:nvSpPr>
        <p:spPr>
          <a:xfrm>
            <a:off x="3622040" y="2485390"/>
            <a:ext cx="5642610" cy="2155190"/>
          </a:xfrm>
          <a:prstGeom prst="rect">
            <a:avLst/>
          </a:prstGeom>
        </p:spPr>
        <p:txBody>
          <a:bodyPr vert="horz" wrap="square" lIns="0" tIns="183515" rIns="0" bIns="0" rtlCol="0">
            <a:spAutoFit/>
          </a:bodyPr>
          <a:lstStyle/>
          <a:p>
            <a:pPr marL="472440" indent="-460375">
              <a:lnSpc>
                <a:spcPct val="100000"/>
              </a:lnSpc>
              <a:spcBef>
                <a:spcPts val="1445"/>
              </a:spcBef>
              <a:buSzPct val="97000"/>
              <a:buAutoNum type="arabicPlain"/>
              <a:tabLst>
                <a:tab pos="473075" algn="l"/>
              </a:tabLst>
            </a:pPr>
            <a:r>
              <a:rPr lang="zh-CN" altLang="en-US" sz="3600" b="1" spc="-50">
                <a:solidFill>
                  <a:srgbClr val="FFFFFF"/>
                </a:solidFill>
                <a:latin typeface="宋体" panose="02010600030101010101" pitchFamily="2" charset="-122"/>
                <a:cs typeface="宋体" panose="02010600030101010101" pitchFamily="2" charset="-122"/>
              </a:rPr>
              <a:t>总体框架</a:t>
            </a:r>
            <a:endParaRPr sz="3600">
              <a:latin typeface="宋体" panose="02010600030101010101" pitchFamily="2" charset="-122"/>
              <a:cs typeface="宋体" panose="02010600030101010101" pitchFamily="2" charset="-122"/>
            </a:endParaRPr>
          </a:p>
          <a:p>
            <a:pPr marL="477520" indent="-460375">
              <a:lnSpc>
                <a:spcPct val="100000"/>
              </a:lnSpc>
              <a:spcBef>
                <a:spcPts val="1345"/>
              </a:spcBef>
              <a:buSzPct val="97000"/>
              <a:buAutoNum type="arabicPlain"/>
              <a:tabLst>
                <a:tab pos="477520" algn="l"/>
              </a:tabLst>
            </a:pPr>
            <a:r>
              <a:rPr lang="zh-CN" altLang="en-US" sz="3600" b="1" spc="-35">
                <a:solidFill>
                  <a:srgbClr val="FFFFFF"/>
                </a:solidFill>
                <a:latin typeface="楷体" panose="02010609060101010101" charset="-122"/>
                <a:cs typeface="楷体" panose="02010609060101010101" charset="-122"/>
                <a:sym typeface="+mn-ea"/>
              </a:rPr>
              <a:t>穴位识别处理总体框架</a:t>
            </a:r>
            <a:endParaRPr sz="3600">
              <a:latin typeface="宋体" panose="02010600030101010101" pitchFamily="2" charset="-122"/>
              <a:cs typeface="宋体" panose="02010600030101010101" pitchFamily="2" charset="-122"/>
            </a:endParaRPr>
          </a:p>
          <a:p>
            <a:pPr marL="487680" indent="-461010">
              <a:lnSpc>
                <a:spcPct val="100000"/>
              </a:lnSpc>
              <a:spcBef>
                <a:spcPts val="1070"/>
              </a:spcBef>
              <a:buSzPct val="97000"/>
              <a:buAutoNum type="arabicPlain"/>
              <a:tabLst>
                <a:tab pos="488315" algn="l"/>
              </a:tabLst>
            </a:pPr>
            <a:r>
              <a:rPr lang="zh-CN" altLang="en-US" sz="3600" b="1" spc="-35">
                <a:solidFill>
                  <a:srgbClr val="FFFFFF"/>
                </a:solidFill>
                <a:latin typeface="楷体" panose="02010609060101010101" charset="-122"/>
                <a:cs typeface="楷体" panose="02010609060101010101" charset="-122"/>
                <a:sym typeface="+mn-ea"/>
              </a:rPr>
              <a:t>点云滤波处理</a:t>
            </a:r>
            <a:endParaRPr sz="3600">
              <a:latin typeface="宋体" panose="02010600030101010101" pitchFamily="2" charset="-122"/>
              <a:cs typeface="宋体" panose="02010600030101010101" pitchFamily="2" charset="-122"/>
            </a:endParaRPr>
          </a:p>
        </p:txBody>
      </p:sp>
      <p:grpSp>
        <p:nvGrpSpPr>
          <p:cNvPr id="7" name="object 7"/>
          <p:cNvGrpSpPr/>
          <p:nvPr/>
        </p:nvGrpSpPr>
        <p:grpSpPr>
          <a:xfrm>
            <a:off x="3926840" y="697865"/>
            <a:ext cx="4039870" cy="1082675"/>
            <a:chOff x="3926840" y="697865"/>
            <a:chExt cx="4039870" cy="1082675"/>
          </a:xfrm>
        </p:grpSpPr>
        <p:sp>
          <p:nvSpPr>
            <p:cNvPr id="8" name="object 8"/>
            <p:cNvSpPr/>
            <p:nvPr/>
          </p:nvSpPr>
          <p:spPr>
            <a:xfrm>
              <a:off x="3926840" y="1139189"/>
              <a:ext cx="4039870" cy="63500"/>
            </a:xfrm>
            <a:custGeom>
              <a:avLst/>
              <a:gdLst/>
              <a:ahLst/>
              <a:cxnLst/>
              <a:rect l="l" t="t" r="r" b="b"/>
              <a:pathLst>
                <a:path w="4039870" h="63500">
                  <a:moveTo>
                    <a:pt x="1163955" y="42291"/>
                  </a:moveTo>
                  <a:lnTo>
                    <a:pt x="0" y="42291"/>
                  </a:lnTo>
                  <a:lnTo>
                    <a:pt x="0" y="63500"/>
                  </a:lnTo>
                  <a:lnTo>
                    <a:pt x="1163955" y="63500"/>
                  </a:lnTo>
                  <a:lnTo>
                    <a:pt x="1163955" y="42291"/>
                  </a:lnTo>
                  <a:close/>
                </a:path>
                <a:path w="4039870" h="63500">
                  <a:moveTo>
                    <a:pt x="1163955" y="0"/>
                  </a:moveTo>
                  <a:lnTo>
                    <a:pt x="0" y="0"/>
                  </a:lnTo>
                  <a:lnTo>
                    <a:pt x="0" y="21209"/>
                  </a:lnTo>
                  <a:lnTo>
                    <a:pt x="1163955" y="21209"/>
                  </a:lnTo>
                  <a:lnTo>
                    <a:pt x="1163955" y="0"/>
                  </a:lnTo>
                  <a:close/>
                </a:path>
                <a:path w="4039870" h="63500">
                  <a:moveTo>
                    <a:pt x="4039870" y="42291"/>
                  </a:moveTo>
                  <a:lnTo>
                    <a:pt x="2982595" y="42291"/>
                  </a:lnTo>
                  <a:lnTo>
                    <a:pt x="2982595" y="63500"/>
                  </a:lnTo>
                  <a:lnTo>
                    <a:pt x="4039870" y="63500"/>
                  </a:lnTo>
                  <a:lnTo>
                    <a:pt x="4039870" y="42291"/>
                  </a:lnTo>
                  <a:close/>
                </a:path>
                <a:path w="4039870" h="63500">
                  <a:moveTo>
                    <a:pt x="4039870" y="0"/>
                  </a:moveTo>
                  <a:lnTo>
                    <a:pt x="2982595" y="0"/>
                  </a:lnTo>
                  <a:lnTo>
                    <a:pt x="2982595" y="21209"/>
                  </a:lnTo>
                  <a:lnTo>
                    <a:pt x="4039870" y="21209"/>
                  </a:lnTo>
                  <a:lnTo>
                    <a:pt x="4039870" y="0"/>
                  </a:lnTo>
                  <a:close/>
                </a:path>
              </a:pathLst>
            </a:custGeom>
            <a:solidFill>
              <a:srgbClr val="006453"/>
            </a:solidFill>
          </p:spPr>
          <p:txBody>
            <a:bodyPr wrap="square" lIns="0" tIns="0" rIns="0" bIns="0" rtlCol="0"/>
            <a:lstStyle/>
            <a:p/>
          </p:txBody>
        </p:sp>
        <p:sp>
          <p:nvSpPr>
            <p:cNvPr id="9" name="object 9"/>
            <p:cNvSpPr/>
            <p:nvPr/>
          </p:nvSpPr>
          <p:spPr>
            <a:xfrm>
              <a:off x="5090795" y="697865"/>
              <a:ext cx="1818639" cy="1082675"/>
            </a:xfrm>
            <a:custGeom>
              <a:avLst/>
              <a:gdLst/>
              <a:ahLst/>
              <a:cxnLst/>
              <a:rect l="l" t="t" r="r" b="b"/>
              <a:pathLst>
                <a:path w="1818639" h="1082675">
                  <a:moveTo>
                    <a:pt x="1818639" y="0"/>
                  </a:moveTo>
                  <a:lnTo>
                    <a:pt x="0" y="0"/>
                  </a:lnTo>
                  <a:lnTo>
                    <a:pt x="0" y="1082675"/>
                  </a:lnTo>
                  <a:lnTo>
                    <a:pt x="1818639" y="1082675"/>
                  </a:lnTo>
                  <a:lnTo>
                    <a:pt x="1818639" y="0"/>
                  </a:lnTo>
                  <a:close/>
                </a:path>
              </a:pathLst>
            </a:custGeom>
            <a:solidFill>
              <a:srgbClr val="B1D0CA"/>
            </a:solidFill>
          </p:spPr>
          <p:txBody>
            <a:bodyPr wrap="square" lIns="0" tIns="0" rIns="0" bIns="0" rtlCol="0"/>
            <a:lstStyle/>
            <a:p/>
          </p:txBody>
        </p:sp>
      </p:grpSp>
      <p:sp>
        <p:nvSpPr>
          <p:cNvPr id="10" name="object 10"/>
          <p:cNvSpPr txBox="1">
            <a:spLocks noGrp="1"/>
          </p:cNvSpPr>
          <p:nvPr>
            <p:ph type="title"/>
          </p:nvPr>
        </p:nvSpPr>
        <p:spPr>
          <a:xfrm>
            <a:off x="5148198" y="744677"/>
            <a:ext cx="1704975" cy="1031875"/>
          </a:xfrm>
          <a:prstGeom prst="rect">
            <a:avLst/>
          </a:prstGeom>
        </p:spPr>
        <p:txBody>
          <a:bodyPr vert="horz" wrap="square" lIns="0" tIns="12700" rIns="0" bIns="0" rtlCol="0">
            <a:spAutoFit/>
          </a:bodyPr>
          <a:lstStyle/>
          <a:p>
            <a:pPr marL="12700">
              <a:lnSpc>
                <a:spcPct val="100000"/>
              </a:lnSpc>
              <a:spcBef>
                <a:spcPts val="100"/>
              </a:spcBef>
            </a:pPr>
            <a:r>
              <a:rPr sz="6600" spc="-70">
                <a:solidFill>
                  <a:srgbClr val="006453"/>
                </a:solidFill>
              </a:rPr>
              <a:t>目</a:t>
            </a:r>
            <a:r>
              <a:rPr sz="6600" spc="-60">
                <a:solidFill>
                  <a:srgbClr val="006453"/>
                </a:solidFill>
              </a:rPr>
              <a:t>录</a:t>
            </a:r>
            <a:endParaRPr sz="6600"/>
          </a:p>
        </p:txBody>
      </p:sp>
      <p:pic>
        <p:nvPicPr>
          <p:cNvPr id="11" name="图片 10" descr="机械臂"/>
          <p:cNvPicPr>
            <a:picLocks noChangeAspect="1"/>
          </p:cNvPicPr>
          <p:nvPr/>
        </p:nvPicPr>
        <p:blipFill>
          <a:blip r:embed="rId3"/>
          <a:stretch>
            <a:fillRect/>
          </a:stretch>
        </p:blipFill>
        <p:spPr>
          <a:xfrm>
            <a:off x="7391400" y="-76200"/>
            <a:ext cx="5143500" cy="6858000"/>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机械臂"/>
          <p:cNvPicPr>
            <a:picLocks noChangeAspect="1"/>
          </p:cNvPicPr>
          <p:nvPr/>
        </p:nvPicPr>
        <p:blipFill>
          <a:blip r:embed="rId1"/>
          <a:stretch>
            <a:fillRect/>
          </a:stretch>
        </p:blipFill>
        <p:spPr>
          <a:xfrm>
            <a:off x="7391400" y="0"/>
            <a:ext cx="5143500" cy="6858000"/>
          </a:xfrm>
          <a:prstGeom prst="rect">
            <a:avLst/>
          </a:prstGeom>
        </p:spPr>
      </p:pic>
      <p:sp>
        <p:nvSpPr>
          <p:cNvPr id="2" name="object 2"/>
          <p:cNvSpPr txBox="1"/>
          <p:nvPr/>
        </p:nvSpPr>
        <p:spPr>
          <a:xfrm>
            <a:off x="1821815" y="3585210"/>
            <a:ext cx="6269355" cy="751205"/>
          </a:xfrm>
          <a:prstGeom prst="rect">
            <a:avLst/>
          </a:prstGeom>
        </p:spPr>
        <p:txBody>
          <a:bodyPr vert="horz" wrap="square" lIns="0" tIns="12700" rIns="0" bIns="0" rtlCol="0">
            <a:spAutoFit/>
          </a:bodyPr>
          <a:lstStyle/>
          <a:p>
            <a:pPr marL="12700">
              <a:lnSpc>
                <a:spcPct val="100000"/>
              </a:lnSpc>
              <a:spcBef>
                <a:spcPts val="100"/>
              </a:spcBef>
            </a:pPr>
            <a:r>
              <a:rPr lang="zh-CN" altLang="en-US" sz="4800" b="1" spc="-35">
                <a:solidFill>
                  <a:srgbClr val="FFFFFF"/>
                </a:solidFill>
                <a:latin typeface="楷体" panose="02010609060101010101" charset="-122"/>
                <a:cs typeface="楷体" panose="02010609060101010101" charset="-122"/>
              </a:rPr>
              <a:t>穴位识别</a:t>
            </a:r>
            <a:r>
              <a:rPr lang="zh-CN" altLang="en-US" sz="4800" b="1" spc="-35">
                <a:solidFill>
                  <a:srgbClr val="FFFFFF"/>
                </a:solidFill>
                <a:latin typeface="楷体" panose="02010609060101010101" charset="-122"/>
                <a:cs typeface="楷体" panose="02010609060101010101" charset="-122"/>
              </a:rPr>
              <a:t>处理总体</a:t>
            </a:r>
            <a:r>
              <a:rPr lang="zh-CN" altLang="en-US" sz="4800" b="1" spc="-35">
                <a:solidFill>
                  <a:srgbClr val="FFFFFF"/>
                </a:solidFill>
                <a:latin typeface="楷体" panose="02010609060101010101" charset="-122"/>
                <a:cs typeface="楷体" panose="02010609060101010101" charset="-122"/>
              </a:rPr>
              <a:t>框架</a:t>
            </a:r>
            <a:endParaRPr lang="zh-CN" altLang="en-US" sz="4800" b="1" spc="-35">
              <a:solidFill>
                <a:srgbClr val="FFFFFF"/>
              </a:solidFill>
              <a:latin typeface="楷体" panose="02010609060101010101" charset="-122"/>
              <a:cs typeface="楷体" panose="02010609060101010101" charset="-122"/>
            </a:endParaRPr>
          </a:p>
        </p:txBody>
      </p:sp>
      <p:grpSp>
        <p:nvGrpSpPr>
          <p:cNvPr id="3" name="object 3"/>
          <p:cNvGrpSpPr/>
          <p:nvPr/>
        </p:nvGrpSpPr>
        <p:grpSpPr>
          <a:xfrm>
            <a:off x="7976361" y="1990089"/>
            <a:ext cx="3702685" cy="3495040"/>
            <a:chOff x="7976361" y="1990089"/>
            <a:chExt cx="3702685" cy="3495040"/>
          </a:xfrm>
        </p:grpSpPr>
        <p:sp>
          <p:nvSpPr>
            <p:cNvPr id="4" name="object 4"/>
            <p:cNvSpPr/>
            <p:nvPr/>
          </p:nvSpPr>
          <p:spPr>
            <a:xfrm>
              <a:off x="7982711" y="1996439"/>
              <a:ext cx="3689985" cy="3482340"/>
            </a:xfrm>
            <a:custGeom>
              <a:avLst/>
              <a:gdLst/>
              <a:ahLst/>
              <a:cxnLst/>
              <a:rect l="l" t="t" r="r" b="b"/>
              <a:pathLst>
                <a:path w="3689984" h="3482340">
                  <a:moveTo>
                    <a:pt x="3689858" y="0"/>
                  </a:moveTo>
                  <a:lnTo>
                    <a:pt x="0" y="0"/>
                  </a:lnTo>
                  <a:lnTo>
                    <a:pt x="3689858" y="3482086"/>
                  </a:lnTo>
                  <a:lnTo>
                    <a:pt x="3689858" y="0"/>
                  </a:lnTo>
                  <a:close/>
                </a:path>
              </a:pathLst>
            </a:custGeom>
            <a:solidFill>
              <a:srgbClr val="435D4E">
                <a:alpha val="58822"/>
              </a:srgbClr>
            </a:solidFill>
          </p:spPr>
          <p:txBody>
            <a:bodyPr wrap="square" lIns="0" tIns="0" rIns="0" bIns="0" rtlCol="0"/>
            <a:lstStyle/>
            <a:p/>
          </p:txBody>
        </p:sp>
        <p:sp>
          <p:nvSpPr>
            <p:cNvPr id="5" name="object 5"/>
            <p:cNvSpPr/>
            <p:nvPr/>
          </p:nvSpPr>
          <p:spPr>
            <a:xfrm>
              <a:off x="7982711" y="1996439"/>
              <a:ext cx="3689985" cy="3482340"/>
            </a:xfrm>
            <a:custGeom>
              <a:avLst/>
              <a:gdLst/>
              <a:ahLst/>
              <a:cxnLst/>
              <a:rect l="l" t="t" r="r" b="b"/>
              <a:pathLst>
                <a:path w="3689984" h="3482340">
                  <a:moveTo>
                    <a:pt x="3689858" y="0"/>
                  </a:moveTo>
                  <a:lnTo>
                    <a:pt x="3689858" y="3482086"/>
                  </a:lnTo>
                  <a:lnTo>
                    <a:pt x="0" y="0"/>
                  </a:lnTo>
                  <a:lnTo>
                    <a:pt x="3689858" y="0"/>
                  </a:lnTo>
                  <a:close/>
                </a:path>
              </a:pathLst>
            </a:custGeom>
            <a:ln w="12700">
              <a:solidFill>
                <a:srgbClr val="172C51"/>
              </a:solidFill>
            </a:ln>
          </p:spPr>
          <p:txBody>
            <a:bodyPr wrap="square" lIns="0" tIns="0" rIns="0" bIns="0" rtlCol="0"/>
            <a:lstStyle/>
            <a:p/>
          </p:txBody>
        </p:sp>
      </p:grpSp>
      <p:sp>
        <p:nvSpPr>
          <p:cNvPr id="6" name="object 6"/>
          <p:cNvSpPr txBox="1"/>
          <p:nvPr/>
        </p:nvSpPr>
        <p:spPr>
          <a:xfrm>
            <a:off x="9117583" y="2308047"/>
            <a:ext cx="2337435" cy="635000"/>
          </a:xfrm>
          <a:prstGeom prst="rect">
            <a:avLst/>
          </a:prstGeom>
        </p:spPr>
        <p:txBody>
          <a:bodyPr vert="horz" wrap="square" lIns="0" tIns="12065" rIns="0" bIns="0" rtlCol="0">
            <a:spAutoFit/>
          </a:bodyPr>
          <a:lstStyle/>
          <a:p>
            <a:pPr marL="12700">
              <a:lnSpc>
                <a:spcPct val="100000"/>
              </a:lnSpc>
              <a:spcBef>
                <a:spcPts val="95"/>
              </a:spcBef>
            </a:pPr>
            <a:r>
              <a:rPr sz="4000">
                <a:solidFill>
                  <a:srgbClr val="FFFFFF"/>
                </a:solidFill>
                <a:latin typeface="等线" panose="02010600030101010101" charset="-122"/>
                <a:cs typeface="等线" panose="02010600030101010101" charset="-122"/>
              </a:rPr>
              <a:t>PART</a:t>
            </a:r>
            <a:r>
              <a:rPr sz="4000" spc="-75">
                <a:solidFill>
                  <a:srgbClr val="FFFFFF"/>
                </a:solidFill>
                <a:latin typeface="等线" panose="02010600030101010101" charset="-122"/>
                <a:cs typeface="等线" panose="02010600030101010101" charset="-122"/>
              </a:rPr>
              <a:t> </a:t>
            </a:r>
            <a:r>
              <a:rPr sz="4000" spc="-25">
                <a:solidFill>
                  <a:srgbClr val="FFFFFF"/>
                </a:solidFill>
                <a:latin typeface="等线" panose="02010600030101010101" charset="-122"/>
                <a:cs typeface="等线" panose="02010600030101010101" charset="-122"/>
              </a:rPr>
              <a:t>ONE</a:t>
            </a:r>
            <a:endParaRPr sz="4000">
              <a:latin typeface="等线" panose="02010600030101010101" charset="-122"/>
              <a:cs typeface="等线" panose="02010600030101010101" charset="-122"/>
            </a:endParaRPr>
          </a:p>
        </p:txBody>
      </p:sp>
      <p:pic>
        <p:nvPicPr>
          <p:cNvPr id="7" name="object 7"/>
          <p:cNvPicPr/>
          <p:nvPr/>
        </p:nvPicPr>
        <p:blipFill>
          <a:blip r:embed="rId2"/>
          <a:stretch>
            <a:fillRect/>
          </a:stretch>
        </p:blipFill>
        <p:spPr>
          <a:xfrm>
            <a:off x="132348" y="114384"/>
            <a:ext cx="741145" cy="740188"/>
          </a:xfrm>
          <a:prstGeom prst="rect">
            <a:avLst/>
          </a:prstGeom>
        </p:spPr>
      </p:pic>
      <p:sp>
        <p:nvSpPr>
          <p:cNvPr id="8" name="object 8"/>
          <p:cNvSpPr txBox="1"/>
          <p:nvPr/>
        </p:nvSpPr>
        <p:spPr>
          <a:xfrm>
            <a:off x="938580" y="56923"/>
            <a:ext cx="2463800" cy="730885"/>
          </a:xfrm>
          <a:prstGeom prst="rect">
            <a:avLst/>
          </a:prstGeom>
        </p:spPr>
        <p:txBody>
          <a:bodyPr vert="horz" wrap="square" lIns="0" tIns="145415" rIns="0" bIns="0" rtlCol="0">
            <a:spAutoFit/>
          </a:bodyPr>
          <a:lstStyle/>
          <a:p>
            <a:pPr marL="12700">
              <a:lnSpc>
                <a:spcPct val="100000"/>
              </a:lnSpc>
              <a:spcBef>
                <a:spcPts val="1145"/>
              </a:spcBef>
            </a:pPr>
            <a:r>
              <a:rPr sz="2400" spc="-10">
                <a:latin typeface="PMingLiU"/>
                <a:cs typeface="PMingLiU"/>
              </a:rPr>
              <a:t>上海应用技术大学</a:t>
            </a:r>
            <a:endParaRPr sz="2400">
              <a:latin typeface="PMingLiU"/>
              <a:cs typeface="PMingLiU"/>
            </a:endParaRPr>
          </a:p>
          <a:p>
            <a:pPr marL="48895">
              <a:lnSpc>
                <a:spcPct val="100000"/>
              </a:lnSpc>
              <a:spcBef>
                <a:spcPts val="430"/>
              </a:spcBef>
            </a:pPr>
            <a:r>
              <a:rPr sz="1000" b="1">
                <a:latin typeface="微软雅黑" panose="020B0503020204020204" charset="-122"/>
                <a:cs typeface="微软雅黑" panose="020B0503020204020204" charset="-122"/>
              </a:rPr>
              <a:t>Shanghai</a:t>
            </a:r>
            <a:r>
              <a:rPr sz="1000" b="1" spc="280">
                <a:latin typeface="微软雅黑" panose="020B0503020204020204" charset="-122"/>
                <a:cs typeface="微软雅黑" panose="020B0503020204020204" charset="-122"/>
              </a:rPr>
              <a:t> </a:t>
            </a:r>
            <a:r>
              <a:rPr sz="1000" b="1">
                <a:latin typeface="微软雅黑" panose="020B0503020204020204" charset="-122"/>
                <a:cs typeface="微软雅黑" panose="020B0503020204020204" charset="-122"/>
              </a:rPr>
              <a:t>Institute</a:t>
            </a:r>
            <a:r>
              <a:rPr sz="1000" b="1" spc="290">
                <a:latin typeface="微软雅黑" panose="020B0503020204020204" charset="-122"/>
                <a:cs typeface="微软雅黑" panose="020B0503020204020204" charset="-122"/>
              </a:rPr>
              <a:t> </a:t>
            </a:r>
            <a:r>
              <a:rPr sz="1000" b="1">
                <a:latin typeface="微软雅黑" panose="020B0503020204020204" charset="-122"/>
                <a:cs typeface="微软雅黑" panose="020B0503020204020204" charset="-122"/>
              </a:rPr>
              <a:t>of</a:t>
            </a:r>
            <a:r>
              <a:rPr sz="1000" b="1" spc="120">
                <a:latin typeface="微软雅黑" panose="020B0503020204020204" charset="-122"/>
                <a:cs typeface="微软雅黑" panose="020B0503020204020204" charset="-122"/>
              </a:rPr>
              <a:t>  </a:t>
            </a:r>
            <a:r>
              <a:rPr sz="1000" b="1" spc="-10">
                <a:latin typeface="微软雅黑" panose="020B0503020204020204" charset="-122"/>
                <a:cs typeface="微软雅黑" panose="020B0503020204020204" charset="-122"/>
              </a:rPr>
              <a:t>Technology</a:t>
            </a:r>
            <a:endParaRPr sz="1000">
              <a:latin typeface="微软雅黑" panose="020B0503020204020204" charset="-122"/>
              <a:cs typeface="微软雅黑" panose="020B0503020204020204" charset="-122"/>
            </a:endParaRPr>
          </a:p>
        </p:txBody>
      </p:sp>
      <p:grpSp>
        <p:nvGrpSpPr>
          <p:cNvPr id="9" name="object 9"/>
          <p:cNvGrpSpPr/>
          <p:nvPr/>
        </p:nvGrpSpPr>
        <p:grpSpPr>
          <a:xfrm>
            <a:off x="9336023" y="3715524"/>
            <a:ext cx="2557145" cy="2444115"/>
            <a:chOff x="9336023" y="3715524"/>
            <a:chExt cx="2557145" cy="2444115"/>
          </a:xfrm>
        </p:grpSpPr>
        <p:pic>
          <p:nvPicPr>
            <p:cNvPr id="10" name="object 10"/>
            <p:cNvPicPr/>
            <p:nvPr/>
          </p:nvPicPr>
          <p:blipFill>
            <a:blip r:embed="rId3"/>
            <a:stretch>
              <a:fillRect/>
            </a:stretch>
          </p:blipFill>
          <p:spPr>
            <a:xfrm>
              <a:off x="9480803" y="4000500"/>
              <a:ext cx="2267330" cy="1554099"/>
            </a:xfrm>
            <a:prstGeom prst="rect">
              <a:avLst/>
            </a:prstGeom>
          </p:spPr>
        </p:pic>
        <p:pic>
          <p:nvPicPr>
            <p:cNvPr id="11" name="object 11"/>
            <p:cNvPicPr/>
            <p:nvPr/>
          </p:nvPicPr>
          <p:blipFill>
            <a:blip r:embed="rId4"/>
            <a:stretch>
              <a:fillRect/>
            </a:stretch>
          </p:blipFill>
          <p:spPr>
            <a:xfrm>
              <a:off x="9336023" y="3715524"/>
              <a:ext cx="2556891" cy="2444115"/>
            </a:xfrm>
            <a:prstGeom prst="rect">
              <a:avLst/>
            </a:prstGeom>
          </p:spPr>
        </p:pic>
      </p:grpSp>
      <p:sp>
        <p:nvSpPr>
          <p:cNvPr id="12" name="object 12"/>
          <p:cNvSpPr txBox="1"/>
          <p:nvPr/>
        </p:nvSpPr>
        <p:spPr>
          <a:xfrm>
            <a:off x="9512554" y="4031996"/>
            <a:ext cx="2160270" cy="1446530"/>
          </a:xfrm>
          <a:prstGeom prst="rect">
            <a:avLst/>
          </a:prstGeom>
          <a:solidFill>
            <a:srgbClr val="435D4E"/>
          </a:solidFill>
          <a:ln w="9525">
            <a:solidFill>
              <a:srgbClr val="A6A6A6"/>
            </a:solidFill>
          </a:ln>
        </p:spPr>
        <p:txBody>
          <a:bodyPr vert="horz" wrap="square" lIns="0" tIns="8255" rIns="0" bIns="0" rtlCol="0">
            <a:spAutoFit/>
          </a:bodyPr>
          <a:lstStyle/>
          <a:p>
            <a:pPr marL="521335">
              <a:lnSpc>
                <a:spcPct val="100000"/>
              </a:lnSpc>
              <a:spcBef>
                <a:spcPts val="65"/>
              </a:spcBef>
            </a:pPr>
            <a:r>
              <a:rPr sz="8800" b="1" spc="-25">
                <a:solidFill>
                  <a:srgbClr val="FFFFFF"/>
                </a:solidFill>
                <a:latin typeface="Times New Roman" panose="02020603050405020304"/>
                <a:cs typeface="Times New Roman" panose="02020603050405020304"/>
              </a:rPr>
              <a:t>01</a:t>
            </a:r>
            <a:endParaRPr sz="8800">
              <a:latin typeface="Times New Roman" panose="02020603050405020304"/>
              <a:cs typeface="Times New Roman" panose="02020603050405020304"/>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46075" y="113664"/>
            <a:ext cx="3082290" cy="788035"/>
            <a:chOff x="346075" y="113664"/>
            <a:chExt cx="3082290" cy="788035"/>
          </a:xfrm>
        </p:grpSpPr>
        <p:sp>
          <p:nvSpPr>
            <p:cNvPr id="3" name="object 3"/>
            <p:cNvSpPr/>
            <p:nvPr/>
          </p:nvSpPr>
          <p:spPr>
            <a:xfrm>
              <a:off x="365125" y="132714"/>
              <a:ext cx="3044190" cy="749935"/>
            </a:xfrm>
            <a:custGeom>
              <a:avLst/>
              <a:gdLst/>
              <a:ahLst/>
              <a:cxnLst/>
              <a:rect l="l" t="t" r="r" b="b"/>
              <a:pathLst>
                <a:path w="3044190" h="749935">
                  <a:moveTo>
                    <a:pt x="2716276" y="0"/>
                  </a:moveTo>
                  <a:lnTo>
                    <a:pt x="2702306" y="1650"/>
                  </a:lnTo>
                  <a:lnTo>
                    <a:pt x="2702306" y="0"/>
                  </a:lnTo>
                  <a:lnTo>
                    <a:pt x="327812" y="0"/>
                  </a:lnTo>
                  <a:lnTo>
                    <a:pt x="283329" y="3423"/>
                  </a:lnTo>
                  <a:lnTo>
                    <a:pt x="240664" y="13394"/>
                  </a:lnTo>
                  <a:lnTo>
                    <a:pt x="200210" y="29467"/>
                  </a:lnTo>
                  <a:lnTo>
                    <a:pt x="162356" y="51195"/>
                  </a:lnTo>
                  <a:lnTo>
                    <a:pt x="127493" y="78129"/>
                  </a:lnTo>
                  <a:lnTo>
                    <a:pt x="96011" y="109823"/>
                  </a:lnTo>
                  <a:lnTo>
                    <a:pt x="68302" y="145829"/>
                  </a:lnTo>
                  <a:lnTo>
                    <a:pt x="44754" y="185702"/>
                  </a:lnTo>
                  <a:lnTo>
                    <a:pt x="25760" y="228992"/>
                  </a:lnTo>
                  <a:lnTo>
                    <a:pt x="11709" y="275254"/>
                  </a:lnTo>
                  <a:lnTo>
                    <a:pt x="2992" y="324040"/>
                  </a:lnTo>
                  <a:lnTo>
                    <a:pt x="0" y="374903"/>
                  </a:lnTo>
                  <a:lnTo>
                    <a:pt x="2992" y="425796"/>
                  </a:lnTo>
                  <a:lnTo>
                    <a:pt x="11709" y="474606"/>
                  </a:lnTo>
                  <a:lnTo>
                    <a:pt x="25760" y="520888"/>
                  </a:lnTo>
                  <a:lnTo>
                    <a:pt x="44754" y="564195"/>
                  </a:lnTo>
                  <a:lnTo>
                    <a:pt x="68302" y="604079"/>
                  </a:lnTo>
                  <a:lnTo>
                    <a:pt x="96011" y="640095"/>
                  </a:lnTo>
                  <a:lnTo>
                    <a:pt x="127493" y="671796"/>
                  </a:lnTo>
                  <a:lnTo>
                    <a:pt x="162356" y="698735"/>
                  </a:lnTo>
                  <a:lnTo>
                    <a:pt x="200210" y="720465"/>
                  </a:lnTo>
                  <a:lnTo>
                    <a:pt x="240664" y="736539"/>
                  </a:lnTo>
                  <a:lnTo>
                    <a:pt x="283329" y="746511"/>
                  </a:lnTo>
                  <a:lnTo>
                    <a:pt x="327812" y="749934"/>
                  </a:lnTo>
                  <a:lnTo>
                    <a:pt x="2702306" y="749934"/>
                  </a:lnTo>
                  <a:lnTo>
                    <a:pt x="2702306" y="748283"/>
                  </a:lnTo>
                  <a:lnTo>
                    <a:pt x="2716276" y="749934"/>
                  </a:lnTo>
                  <a:lnTo>
                    <a:pt x="2760742" y="746511"/>
                  </a:lnTo>
                  <a:lnTo>
                    <a:pt x="2803395" y="736540"/>
                  </a:lnTo>
                  <a:lnTo>
                    <a:pt x="2843841" y="720467"/>
                  </a:lnTo>
                  <a:lnTo>
                    <a:pt x="2881691" y="698739"/>
                  </a:lnTo>
                  <a:lnTo>
                    <a:pt x="2916552" y="671805"/>
                  </a:lnTo>
                  <a:lnTo>
                    <a:pt x="2948035" y="640111"/>
                  </a:lnTo>
                  <a:lnTo>
                    <a:pt x="2975747" y="604105"/>
                  </a:lnTo>
                  <a:lnTo>
                    <a:pt x="2999297" y="564232"/>
                  </a:lnTo>
                  <a:lnTo>
                    <a:pt x="3018295" y="520942"/>
                  </a:lnTo>
                  <a:lnTo>
                    <a:pt x="3032350" y="474680"/>
                  </a:lnTo>
                  <a:lnTo>
                    <a:pt x="3041069" y="425894"/>
                  </a:lnTo>
                  <a:lnTo>
                    <a:pt x="3044063" y="375030"/>
                  </a:lnTo>
                  <a:lnTo>
                    <a:pt x="3041069" y="324138"/>
                  </a:lnTo>
                  <a:lnTo>
                    <a:pt x="3032350" y="275328"/>
                  </a:lnTo>
                  <a:lnTo>
                    <a:pt x="3018295" y="229046"/>
                  </a:lnTo>
                  <a:lnTo>
                    <a:pt x="2999297" y="185739"/>
                  </a:lnTo>
                  <a:lnTo>
                    <a:pt x="2975747" y="145855"/>
                  </a:lnTo>
                  <a:lnTo>
                    <a:pt x="2948035" y="109839"/>
                  </a:lnTo>
                  <a:lnTo>
                    <a:pt x="2916552" y="78138"/>
                  </a:lnTo>
                  <a:lnTo>
                    <a:pt x="2881691" y="51199"/>
                  </a:lnTo>
                  <a:lnTo>
                    <a:pt x="2843841" y="29469"/>
                  </a:lnTo>
                  <a:lnTo>
                    <a:pt x="2803395" y="13395"/>
                  </a:lnTo>
                  <a:lnTo>
                    <a:pt x="2760742" y="3423"/>
                  </a:lnTo>
                  <a:lnTo>
                    <a:pt x="2716276" y="0"/>
                  </a:lnTo>
                  <a:close/>
                </a:path>
              </a:pathLst>
            </a:custGeom>
            <a:solidFill>
              <a:srgbClr val="39877A"/>
            </a:solidFill>
          </p:spPr>
          <p:txBody>
            <a:bodyPr wrap="square" lIns="0" tIns="0" rIns="0" bIns="0" rtlCol="0"/>
            <a:lstStyle/>
            <a:p/>
          </p:txBody>
        </p:sp>
        <p:sp>
          <p:nvSpPr>
            <p:cNvPr id="4" name="object 4"/>
            <p:cNvSpPr/>
            <p:nvPr/>
          </p:nvSpPr>
          <p:spPr>
            <a:xfrm>
              <a:off x="365125" y="132714"/>
              <a:ext cx="3044190" cy="749935"/>
            </a:xfrm>
            <a:custGeom>
              <a:avLst/>
              <a:gdLst/>
              <a:ahLst/>
              <a:cxnLst/>
              <a:rect l="l" t="t" r="r" b="b"/>
              <a:pathLst>
                <a:path w="3044190" h="749935">
                  <a:moveTo>
                    <a:pt x="327812" y="0"/>
                  </a:moveTo>
                  <a:lnTo>
                    <a:pt x="2702306" y="0"/>
                  </a:lnTo>
                  <a:lnTo>
                    <a:pt x="2702306" y="1650"/>
                  </a:lnTo>
                  <a:lnTo>
                    <a:pt x="2760742" y="3423"/>
                  </a:lnTo>
                  <a:lnTo>
                    <a:pt x="2803395" y="13395"/>
                  </a:lnTo>
                  <a:lnTo>
                    <a:pt x="2843841" y="29469"/>
                  </a:lnTo>
                  <a:lnTo>
                    <a:pt x="2881691" y="51199"/>
                  </a:lnTo>
                  <a:lnTo>
                    <a:pt x="2916552" y="78138"/>
                  </a:lnTo>
                  <a:lnTo>
                    <a:pt x="2948035" y="109839"/>
                  </a:lnTo>
                  <a:lnTo>
                    <a:pt x="2975747" y="145855"/>
                  </a:lnTo>
                  <a:lnTo>
                    <a:pt x="2999297" y="185739"/>
                  </a:lnTo>
                  <a:lnTo>
                    <a:pt x="3018295" y="229046"/>
                  </a:lnTo>
                  <a:lnTo>
                    <a:pt x="3032350" y="275328"/>
                  </a:lnTo>
                  <a:lnTo>
                    <a:pt x="3041069" y="324138"/>
                  </a:lnTo>
                  <a:lnTo>
                    <a:pt x="3044063" y="375030"/>
                  </a:lnTo>
                  <a:lnTo>
                    <a:pt x="3041069" y="425894"/>
                  </a:lnTo>
                  <a:lnTo>
                    <a:pt x="3032350" y="474680"/>
                  </a:lnTo>
                  <a:lnTo>
                    <a:pt x="3018295" y="520942"/>
                  </a:lnTo>
                  <a:lnTo>
                    <a:pt x="2999297" y="564232"/>
                  </a:lnTo>
                  <a:lnTo>
                    <a:pt x="2975747" y="604105"/>
                  </a:lnTo>
                  <a:lnTo>
                    <a:pt x="2948035" y="640111"/>
                  </a:lnTo>
                  <a:lnTo>
                    <a:pt x="2916552" y="671805"/>
                  </a:lnTo>
                  <a:lnTo>
                    <a:pt x="2881691" y="698739"/>
                  </a:lnTo>
                  <a:lnTo>
                    <a:pt x="2843841" y="720467"/>
                  </a:lnTo>
                  <a:lnTo>
                    <a:pt x="2803395" y="736540"/>
                  </a:lnTo>
                  <a:lnTo>
                    <a:pt x="2760742" y="746511"/>
                  </a:lnTo>
                  <a:lnTo>
                    <a:pt x="2716276" y="749934"/>
                  </a:lnTo>
                  <a:lnTo>
                    <a:pt x="2702306" y="748283"/>
                  </a:lnTo>
                  <a:lnTo>
                    <a:pt x="2702306" y="749934"/>
                  </a:lnTo>
                  <a:lnTo>
                    <a:pt x="327812" y="749934"/>
                  </a:lnTo>
                  <a:lnTo>
                    <a:pt x="283329" y="746511"/>
                  </a:lnTo>
                  <a:lnTo>
                    <a:pt x="240664" y="736539"/>
                  </a:lnTo>
                  <a:lnTo>
                    <a:pt x="200210" y="720465"/>
                  </a:lnTo>
                  <a:lnTo>
                    <a:pt x="162356" y="698735"/>
                  </a:lnTo>
                  <a:lnTo>
                    <a:pt x="127493" y="671796"/>
                  </a:lnTo>
                  <a:lnTo>
                    <a:pt x="96011" y="640095"/>
                  </a:lnTo>
                  <a:lnTo>
                    <a:pt x="68302" y="604079"/>
                  </a:lnTo>
                  <a:lnTo>
                    <a:pt x="44754" y="564195"/>
                  </a:lnTo>
                  <a:lnTo>
                    <a:pt x="25760" y="520888"/>
                  </a:lnTo>
                  <a:lnTo>
                    <a:pt x="11709" y="474606"/>
                  </a:lnTo>
                  <a:lnTo>
                    <a:pt x="2992" y="425796"/>
                  </a:lnTo>
                  <a:lnTo>
                    <a:pt x="0" y="374903"/>
                  </a:lnTo>
                  <a:lnTo>
                    <a:pt x="2992" y="324040"/>
                  </a:lnTo>
                  <a:lnTo>
                    <a:pt x="11709" y="275254"/>
                  </a:lnTo>
                  <a:lnTo>
                    <a:pt x="25760" y="228992"/>
                  </a:lnTo>
                  <a:lnTo>
                    <a:pt x="44754" y="185702"/>
                  </a:lnTo>
                  <a:lnTo>
                    <a:pt x="68302" y="145829"/>
                  </a:lnTo>
                  <a:lnTo>
                    <a:pt x="96011" y="109823"/>
                  </a:lnTo>
                  <a:lnTo>
                    <a:pt x="127493" y="78129"/>
                  </a:lnTo>
                  <a:lnTo>
                    <a:pt x="162356" y="51195"/>
                  </a:lnTo>
                  <a:lnTo>
                    <a:pt x="200210" y="29467"/>
                  </a:lnTo>
                  <a:lnTo>
                    <a:pt x="240664" y="13394"/>
                  </a:lnTo>
                  <a:lnTo>
                    <a:pt x="283329" y="3423"/>
                  </a:lnTo>
                  <a:lnTo>
                    <a:pt x="327812" y="0"/>
                  </a:lnTo>
                  <a:close/>
                </a:path>
              </a:pathLst>
            </a:custGeom>
            <a:ln w="38099">
              <a:solidFill>
                <a:srgbClr val="006453"/>
              </a:solidFill>
            </a:ln>
          </p:spPr>
          <p:txBody>
            <a:bodyPr wrap="square" lIns="0" tIns="0" rIns="0" bIns="0" rtlCol="0"/>
            <a:lstStyle/>
            <a:p/>
          </p:txBody>
        </p:sp>
        <p:pic>
          <p:nvPicPr>
            <p:cNvPr id="5" name="object 5"/>
            <p:cNvPicPr/>
            <p:nvPr/>
          </p:nvPicPr>
          <p:blipFill>
            <a:blip r:embed="rId1"/>
            <a:stretch>
              <a:fillRect/>
            </a:stretch>
          </p:blipFill>
          <p:spPr>
            <a:xfrm>
              <a:off x="493077" y="198704"/>
              <a:ext cx="485419" cy="617905"/>
            </a:xfrm>
            <a:prstGeom prst="rect">
              <a:avLst/>
            </a:prstGeom>
          </p:spPr>
        </p:pic>
        <p:sp>
          <p:nvSpPr>
            <p:cNvPr id="6" name="object 6"/>
            <p:cNvSpPr/>
            <p:nvPr/>
          </p:nvSpPr>
          <p:spPr>
            <a:xfrm>
              <a:off x="977900" y="276860"/>
              <a:ext cx="2329180" cy="460375"/>
            </a:xfrm>
            <a:custGeom>
              <a:avLst/>
              <a:gdLst/>
              <a:ahLst/>
              <a:cxnLst/>
              <a:rect l="l" t="t" r="r" b="b"/>
              <a:pathLst>
                <a:path w="2329179" h="460375">
                  <a:moveTo>
                    <a:pt x="2329179" y="0"/>
                  </a:moveTo>
                  <a:lnTo>
                    <a:pt x="0" y="0"/>
                  </a:lnTo>
                  <a:lnTo>
                    <a:pt x="0" y="460375"/>
                  </a:lnTo>
                  <a:lnTo>
                    <a:pt x="2329179" y="460375"/>
                  </a:lnTo>
                  <a:lnTo>
                    <a:pt x="2329179" y="0"/>
                  </a:lnTo>
                  <a:close/>
                </a:path>
              </a:pathLst>
            </a:custGeom>
            <a:solidFill>
              <a:srgbClr val="39877A"/>
            </a:solidFill>
          </p:spPr>
          <p:txBody>
            <a:bodyPr wrap="square" lIns="0" tIns="0" rIns="0" bIns="0" rtlCol="0"/>
            <a:lstStyle/>
            <a:p/>
          </p:txBody>
        </p:sp>
      </p:grpSp>
      <p:sp>
        <p:nvSpPr>
          <p:cNvPr id="7" name="object 7"/>
          <p:cNvSpPr txBox="1">
            <a:spLocks noGrp="1"/>
          </p:cNvSpPr>
          <p:nvPr>
            <p:ph type="title"/>
          </p:nvPr>
        </p:nvSpPr>
        <p:spPr>
          <a:xfrm>
            <a:off x="1056843" y="319278"/>
            <a:ext cx="2169795" cy="381635"/>
          </a:xfrm>
          <a:prstGeom prst="rect">
            <a:avLst/>
          </a:prstGeom>
        </p:spPr>
        <p:txBody>
          <a:bodyPr vert="horz" wrap="square" lIns="0" tIns="12700" rIns="0" bIns="0" rtlCol="0">
            <a:spAutoFit/>
          </a:bodyPr>
          <a:lstStyle/>
          <a:p>
            <a:pPr marL="12700">
              <a:lnSpc>
                <a:spcPct val="100000"/>
              </a:lnSpc>
              <a:spcBef>
                <a:spcPts val="100"/>
              </a:spcBef>
            </a:pPr>
            <a:r>
              <a:rPr lang="zh-CN" spc="-20"/>
              <a:t>总体</a:t>
            </a:r>
            <a:r>
              <a:rPr lang="zh-CN" spc="-20"/>
              <a:t>框架</a:t>
            </a:r>
            <a:endParaRPr lang="zh-CN" spc="-20"/>
          </a:p>
        </p:txBody>
      </p:sp>
      <p:sp>
        <p:nvSpPr>
          <p:cNvPr id="8" name="object 8"/>
          <p:cNvSpPr txBox="1"/>
          <p:nvPr/>
        </p:nvSpPr>
        <p:spPr>
          <a:xfrm>
            <a:off x="304800" y="853440"/>
            <a:ext cx="8643620" cy="1654810"/>
          </a:xfrm>
          <a:prstGeom prst="rect">
            <a:avLst/>
          </a:prstGeom>
        </p:spPr>
        <p:txBody>
          <a:bodyPr vert="horz" wrap="square" lIns="0" tIns="196215" rIns="0" bIns="0" rtlCol="0">
            <a:noAutofit/>
          </a:bodyPr>
          <a:lstStyle/>
          <a:p>
            <a:pPr marR="5080" algn="just">
              <a:lnSpc>
                <a:spcPct val="100000"/>
              </a:lnSpc>
              <a:spcBef>
                <a:spcPts val="1545"/>
              </a:spcBef>
            </a:pPr>
            <a:r>
              <a:rPr kumimoji="0" sz="2400" b="0" i="0" u="none" strike="noStrike" kern="0" cap="none" spc="40" normalizeH="0" baseline="0" noProof="1">
                <a:latin typeface="宋体" panose="02010600030101010101" pitchFamily="2" charset="-122"/>
                <a:ea typeface="Arial" panose="020B0604020202020204" pitchFamily="34" charset="0"/>
                <a:cs typeface="宋体" panose="02010600030101010101" pitchFamily="2" charset="-122"/>
              </a:rPr>
              <a:t>随着</a:t>
            </a:r>
            <a:r>
              <a:rPr kumimoji="0" lang="zh-CN" altLang="en-US" sz="2400" b="0" i="0" u="none" strike="noStrike" kern="0" cap="none" spc="40" normalizeH="0" baseline="0" noProof="1">
                <a:latin typeface="宋体" panose="02010600030101010101" pitchFamily="2" charset="-122"/>
                <a:ea typeface="Arial" panose="020B0604020202020204" pitchFamily="34" charset="0"/>
                <a:cs typeface="宋体" panose="02010600030101010101" pitchFamily="2" charset="-122"/>
              </a:rPr>
              <a:t>智能医疗与服务机器人技术的深度融合，将机器人引入中医诊疗与康复保健场景</a:t>
            </a:r>
            <a:r>
              <a:rPr kumimoji="0" sz="2400" b="0" i="0" u="none" strike="noStrike" kern="0" cap="none" spc="40" normalizeH="0" baseline="0" noProof="1">
                <a:latin typeface="宋体" panose="02010600030101010101" pitchFamily="2" charset="-122"/>
                <a:ea typeface="Arial" panose="020B0604020202020204" pitchFamily="34" charset="0"/>
                <a:cs typeface="宋体" panose="02010600030101010101" pitchFamily="2" charset="-122"/>
              </a:rPr>
              <a:t>的应用需求日益旺盛，</a:t>
            </a:r>
            <a:r>
              <a:rPr kumimoji="0" lang="zh-CN" altLang="en-US" sz="2400" b="0" i="0" u="none" strike="noStrike" kern="0" cap="none" spc="40" normalizeH="0" baseline="0" noProof="1">
                <a:latin typeface="宋体" panose="02010600030101010101" pitchFamily="2" charset="-122"/>
                <a:ea typeface="Arial" panose="020B0604020202020204" pitchFamily="34" charset="0"/>
                <a:cs typeface="宋体" panose="02010600030101010101" pitchFamily="2" charset="-122"/>
              </a:rPr>
              <a:t>要实现机械臂在非结构化人体表面进行精准、柔顺的穴位操作</a:t>
            </a:r>
            <a:r>
              <a:rPr kumimoji="0" sz="2400" b="0" i="0" u="none" strike="noStrike" kern="0" cap="none" spc="40" normalizeH="0" baseline="0" noProof="1">
                <a:latin typeface="宋体" panose="02010600030101010101" pitchFamily="2" charset="-122"/>
                <a:ea typeface="Arial" panose="020B0604020202020204" pitchFamily="34" charset="0"/>
                <a:cs typeface="宋体" panose="02010600030101010101" pitchFamily="2" charset="-122"/>
              </a:rPr>
              <a:t>，需攻克</a:t>
            </a:r>
            <a:r>
              <a:rPr kumimoji="0" lang="zh-CN" altLang="en-US" sz="2400" b="0" i="0" u="none" strike="noStrike" kern="0" cap="none" spc="40" normalizeH="0" baseline="0" noProof="1">
                <a:latin typeface="宋体" panose="02010600030101010101" pitchFamily="2" charset="-122"/>
                <a:ea typeface="Arial" panose="020B0604020202020204" pitchFamily="34" charset="0"/>
                <a:cs typeface="宋体" panose="02010600030101010101" pitchFamily="2" charset="-122"/>
              </a:rPr>
              <a:t>两</a:t>
            </a:r>
            <a:r>
              <a:rPr kumimoji="0" sz="2400" b="0" i="0" u="none" strike="noStrike" kern="0" cap="none" spc="40" normalizeH="0" baseline="0" noProof="1">
                <a:latin typeface="宋体" panose="02010600030101010101" pitchFamily="2" charset="-122"/>
                <a:ea typeface="Arial" panose="020B0604020202020204" pitchFamily="34" charset="0"/>
                <a:cs typeface="宋体" panose="02010600030101010101" pitchFamily="2" charset="-122"/>
              </a:rPr>
              <a:t>大核心挑战：</a:t>
            </a:r>
            <a:endParaRPr sz="2400">
              <a:latin typeface="宋体" panose="02010600030101010101" pitchFamily="2" charset="-122"/>
              <a:cs typeface="宋体" panose="02010600030101010101" pitchFamily="2" charset="-122"/>
            </a:endParaRPr>
          </a:p>
        </p:txBody>
      </p:sp>
      <p:sp>
        <p:nvSpPr>
          <p:cNvPr id="11" name="object 11"/>
          <p:cNvSpPr/>
          <p:nvPr/>
        </p:nvSpPr>
        <p:spPr>
          <a:xfrm>
            <a:off x="0" y="6497955"/>
            <a:ext cx="12171045" cy="360045"/>
          </a:xfrm>
          <a:custGeom>
            <a:avLst/>
            <a:gdLst/>
            <a:ahLst/>
            <a:cxnLst/>
            <a:rect l="l" t="t" r="r" b="b"/>
            <a:pathLst>
              <a:path w="10434320" h="360045">
                <a:moveTo>
                  <a:pt x="10434066" y="0"/>
                </a:moveTo>
                <a:lnTo>
                  <a:pt x="0" y="0"/>
                </a:lnTo>
                <a:lnTo>
                  <a:pt x="0" y="359997"/>
                </a:lnTo>
                <a:lnTo>
                  <a:pt x="10434066" y="359997"/>
                </a:lnTo>
                <a:lnTo>
                  <a:pt x="10434066" y="0"/>
                </a:lnTo>
                <a:close/>
              </a:path>
            </a:pathLst>
          </a:custGeom>
          <a:solidFill>
            <a:srgbClr val="435D4E"/>
          </a:solidFill>
        </p:spPr>
        <p:txBody>
          <a:bodyPr wrap="square" lIns="0" tIns="0" rIns="0" bIns="0" rtlCol="0"/>
          <a:lstStyle/>
          <a:p/>
        </p:txBody>
      </p:sp>
      <p:sp>
        <p:nvSpPr>
          <p:cNvPr id="12" name="object 12"/>
          <p:cNvSpPr txBox="1"/>
          <p:nvPr/>
        </p:nvSpPr>
        <p:spPr>
          <a:xfrm>
            <a:off x="59690" y="6523355"/>
            <a:ext cx="7989570" cy="289560"/>
          </a:xfrm>
          <a:prstGeom prst="rect">
            <a:avLst/>
          </a:prstGeom>
        </p:spPr>
        <p:txBody>
          <a:bodyPr vert="horz" wrap="square" lIns="0" tIns="12700" rIns="0" bIns="0" rtlCol="0">
            <a:spAutoFit/>
          </a:bodyPr>
          <a:lstStyle/>
          <a:p>
            <a:pPr marL="12700">
              <a:lnSpc>
                <a:spcPct val="100000"/>
              </a:lnSpc>
              <a:spcBef>
                <a:spcPts val="100"/>
              </a:spcBef>
            </a:pPr>
            <a:r>
              <a:rPr kumimoji="0" sz="1800" b="1" i="0" u="none" strike="noStrike" kern="0" cap="none" spc="265" normalizeH="0" baseline="0" noProof="1">
                <a:solidFill>
                  <a:srgbClr val="FFFFFF"/>
                </a:solidFill>
                <a:latin typeface="宋体" panose="02010600030101010101" pitchFamily="2" charset="-122"/>
                <a:ea typeface="Arial" panose="020B0604020202020204" pitchFamily="34" charset="0"/>
                <a:cs typeface="宋体" panose="02010600030101010101" pitchFamily="2" charset="-122"/>
                <a:sym typeface="+mn-ea"/>
              </a:rPr>
              <a:t>基于视觉感知与自适应双向超椭球体RRT的机械臂运动规划研究</a:t>
            </a:r>
            <a:endParaRPr sz="1800">
              <a:latin typeface="微软雅黑" panose="020B0503020204020204" charset="-122"/>
              <a:cs typeface="微软雅黑" panose="020B0503020204020204" charset="-122"/>
            </a:endParaRPr>
          </a:p>
        </p:txBody>
      </p:sp>
      <p:sp>
        <p:nvSpPr>
          <p:cNvPr id="13" name="object 13"/>
          <p:cNvSpPr/>
          <p:nvPr/>
        </p:nvSpPr>
        <p:spPr>
          <a:xfrm>
            <a:off x="10434066" y="6497999"/>
            <a:ext cx="1758314" cy="360045"/>
          </a:xfrm>
          <a:custGeom>
            <a:avLst/>
            <a:gdLst/>
            <a:ahLst/>
            <a:cxnLst/>
            <a:rect l="l" t="t" r="r" b="b"/>
            <a:pathLst>
              <a:path w="1758314" h="360045">
                <a:moveTo>
                  <a:pt x="1757933" y="0"/>
                </a:moveTo>
                <a:lnTo>
                  <a:pt x="0" y="0"/>
                </a:lnTo>
                <a:lnTo>
                  <a:pt x="0" y="359997"/>
                </a:lnTo>
                <a:lnTo>
                  <a:pt x="1757933" y="359997"/>
                </a:lnTo>
                <a:lnTo>
                  <a:pt x="1757933" y="0"/>
                </a:lnTo>
                <a:close/>
              </a:path>
            </a:pathLst>
          </a:custGeom>
          <a:solidFill>
            <a:srgbClr val="385622"/>
          </a:solidFill>
        </p:spPr>
        <p:txBody>
          <a:bodyPr wrap="square" lIns="0" tIns="0" rIns="0" bIns="0" rtlCol="0"/>
          <a:lstStyle/>
          <a:p/>
        </p:txBody>
      </p:sp>
      <p:sp>
        <p:nvSpPr>
          <p:cNvPr id="14" name="object 14"/>
          <p:cNvSpPr txBox="1"/>
          <p:nvPr/>
        </p:nvSpPr>
        <p:spPr>
          <a:xfrm>
            <a:off x="9042400" y="379095"/>
            <a:ext cx="2957830" cy="2074545"/>
          </a:xfrm>
          <a:prstGeom prst="rect">
            <a:avLst/>
          </a:prstGeom>
          <a:ln w="28575">
            <a:solidFill>
              <a:srgbClr val="006453"/>
            </a:solidFill>
          </a:ln>
        </p:spPr>
        <p:txBody>
          <a:bodyPr vert="horz" wrap="square" lIns="0" tIns="35560" rIns="0" bIns="0" rtlCol="0">
            <a:noAutofit/>
          </a:bodyPr>
          <a:lstStyle/>
          <a:p>
            <a:pPr marL="92075">
              <a:lnSpc>
                <a:spcPct val="100000"/>
              </a:lnSpc>
              <a:spcBef>
                <a:spcPts val="280"/>
              </a:spcBef>
            </a:pPr>
            <a:r>
              <a:rPr sz="1800" b="1" spc="-5">
                <a:latin typeface="微软雅黑" panose="020B0503020204020204" charset="-122"/>
                <a:cs typeface="微软雅黑" panose="020B0503020204020204" charset="-122"/>
              </a:rPr>
              <a:t>现存问题：</a:t>
            </a:r>
            <a:endParaRPr sz="1800">
              <a:latin typeface="微软雅黑" panose="020B0503020204020204" charset="-122"/>
              <a:cs typeface="微软雅黑" panose="020B0503020204020204" charset="-122"/>
            </a:endParaRPr>
          </a:p>
          <a:p>
            <a:pPr marL="379095" indent="-287020">
              <a:lnSpc>
                <a:spcPct val="100000"/>
              </a:lnSpc>
              <a:spcBef>
                <a:spcPts val="780"/>
              </a:spcBef>
              <a:buFont typeface="Wingdings" panose="05000000000000000000"/>
              <a:buChar char=""/>
              <a:tabLst>
                <a:tab pos="379095" algn="l"/>
              </a:tabLst>
            </a:pPr>
            <a:r>
              <a:rPr lang="zh-CN" altLang="en-US" sz="1800" b="1" dirty="0">
                <a:solidFill>
                  <a:schemeClr val="tx1"/>
                </a:solidFill>
                <a:latin typeface="+mn-ea"/>
                <a:cs typeface="+mn-ea"/>
                <a:sym typeface="+mn-ea"/>
              </a:rPr>
              <a:t>人体体型的参差性</a:t>
            </a:r>
            <a:endParaRPr lang="zh-CN" altLang="en-US" sz="1800" b="1" dirty="0">
              <a:solidFill>
                <a:schemeClr val="tx1"/>
              </a:solidFill>
              <a:latin typeface="+mn-ea"/>
              <a:cs typeface="+mn-ea"/>
              <a:sym typeface="+mn-ea"/>
            </a:endParaRPr>
          </a:p>
          <a:p>
            <a:pPr marL="379095" indent="-287020">
              <a:lnSpc>
                <a:spcPct val="100000"/>
              </a:lnSpc>
              <a:spcBef>
                <a:spcPts val="780"/>
              </a:spcBef>
              <a:buFont typeface="Wingdings" panose="05000000000000000000"/>
              <a:buChar char=""/>
              <a:tabLst>
                <a:tab pos="379095" algn="l"/>
              </a:tabLst>
            </a:pPr>
            <a:r>
              <a:rPr lang="zh-CN" altLang="en-US" sz="1800" b="1" dirty="0">
                <a:solidFill>
                  <a:schemeClr val="tx1"/>
                </a:solidFill>
                <a:latin typeface="+mn-ea"/>
                <a:cs typeface="+mn-ea"/>
              </a:rPr>
              <a:t>姿态与穴位的动态感知</a:t>
            </a:r>
            <a:endParaRPr lang="zh-CN" altLang="en-US" sz="1800" b="1" dirty="0">
              <a:solidFill>
                <a:schemeClr val="tx1"/>
              </a:solidFill>
              <a:latin typeface="+mn-ea"/>
              <a:cs typeface="+mn-ea"/>
            </a:endParaRPr>
          </a:p>
          <a:p>
            <a:pPr marL="379095" indent="-287020">
              <a:lnSpc>
                <a:spcPct val="100000"/>
              </a:lnSpc>
              <a:spcBef>
                <a:spcPts val="780"/>
              </a:spcBef>
              <a:buFont typeface="Wingdings" panose="05000000000000000000"/>
              <a:buChar char=""/>
              <a:tabLst>
                <a:tab pos="379095" algn="l"/>
              </a:tabLst>
            </a:pPr>
            <a:r>
              <a:rPr lang="zh-CN" altLang="en-US" sz="1800" b="1" dirty="0">
                <a:solidFill>
                  <a:schemeClr val="tx1"/>
                </a:solidFill>
                <a:latin typeface="+mn-ea"/>
                <a:cs typeface="+mn-ea"/>
                <a:sym typeface="+mn-ea"/>
              </a:rPr>
              <a:t>穴位像素坐标转三维点云计算量过大</a:t>
            </a:r>
            <a:endParaRPr lang="zh-CN" altLang="en-US" sz="1800" b="1" dirty="0">
              <a:solidFill>
                <a:schemeClr val="tx1"/>
              </a:solidFill>
              <a:latin typeface="+mn-ea"/>
              <a:cs typeface="+mn-ea"/>
            </a:endParaRPr>
          </a:p>
          <a:p>
            <a:pPr marL="379095" indent="-287020">
              <a:lnSpc>
                <a:spcPct val="100000"/>
              </a:lnSpc>
              <a:spcBef>
                <a:spcPts val="780"/>
              </a:spcBef>
              <a:buFont typeface="Wingdings" panose="05000000000000000000"/>
              <a:buChar char=""/>
              <a:tabLst>
                <a:tab pos="379095" algn="l"/>
              </a:tabLst>
            </a:pPr>
            <a:endParaRPr lang="zh-CN" altLang="en-US" sz="1800" b="1" dirty="0">
              <a:solidFill>
                <a:schemeClr val="tx1"/>
              </a:solidFill>
              <a:latin typeface="+mn-ea"/>
              <a:cs typeface="+mn-ea"/>
            </a:endParaRPr>
          </a:p>
        </p:txBody>
      </p:sp>
      <p:sp>
        <p:nvSpPr>
          <p:cNvPr id="17" name="object 17"/>
          <p:cNvSpPr/>
          <p:nvPr/>
        </p:nvSpPr>
        <p:spPr>
          <a:xfrm>
            <a:off x="306070" y="2619375"/>
            <a:ext cx="11685270" cy="76200"/>
          </a:xfrm>
          <a:custGeom>
            <a:avLst/>
            <a:gdLst/>
            <a:ahLst/>
            <a:cxnLst/>
            <a:rect l="l" t="t" r="r" b="b"/>
            <a:pathLst>
              <a:path w="11498580">
                <a:moveTo>
                  <a:pt x="0" y="0"/>
                </a:moveTo>
                <a:lnTo>
                  <a:pt x="11498008" y="0"/>
                </a:lnTo>
              </a:path>
            </a:pathLst>
          </a:custGeom>
          <a:ln w="28575">
            <a:solidFill>
              <a:srgbClr val="006453"/>
            </a:solidFill>
          </a:ln>
        </p:spPr>
        <p:txBody>
          <a:bodyPr wrap="square" lIns="0" tIns="0" rIns="0" bIns="0" rtlCol="0"/>
          <a:lstStyle/>
          <a:p/>
        </p:txBody>
      </p:sp>
      <p:sp>
        <p:nvSpPr>
          <p:cNvPr id="19" name="object 19"/>
          <p:cNvSpPr txBox="1"/>
          <p:nvPr/>
        </p:nvSpPr>
        <p:spPr>
          <a:xfrm>
            <a:off x="381635" y="2777490"/>
            <a:ext cx="11508105" cy="3021965"/>
          </a:xfrm>
          <a:prstGeom prst="rect">
            <a:avLst/>
          </a:prstGeom>
        </p:spPr>
        <p:txBody>
          <a:bodyPr vert="horz" wrap="square" lIns="0" tIns="104775" rIns="0" bIns="0" rtlCol="0">
            <a:noAutofit/>
          </a:bodyPr>
          <a:lstStyle/>
          <a:p>
            <a:pPr marL="355600" indent="-342900">
              <a:lnSpc>
                <a:spcPct val="100000"/>
              </a:lnSpc>
              <a:spcBef>
                <a:spcPts val="825"/>
              </a:spcBef>
              <a:buFont typeface="Wingdings" panose="05000000000000000000"/>
              <a:buChar char=""/>
              <a:tabLst>
                <a:tab pos="355600" algn="l"/>
              </a:tabLst>
            </a:pPr>
            <a:r>
              <a:rPr kumimoji="0" sz="2800" b="1" i="0" u="none" strike="noStrike" kern="0" cap="none" spc="-10" normalizeH="0" baseline="0" noProof="1">
                <a:solidFill>
                  <a:srgbClr val="006453"/>
                </a:solidFill>
                <a:latin typeface="宋体" panose="02010600030101010101" pitchFamily="2" charset="-122"/>
                <a:ea typeface="Arial" panose="020B0604020202020204" pitchFamily="34" charset="0"/>
                <a:cs typeface="宋体" panose="02010600030101010101" pitchFamily="2" charset="-122"/>
                <a:sym typeface="+mn-ea"/>
              </a:rPr>
              <a:t>人体体型的参差性</a:t>
            </a:r>
            <a:r>
              <a:rPr kumimoji="0" sz="2800" b="1" i="0" u="none" strike="noStrike" kern="0" cap="none" spc="-10" normalizeH="0" baseline="0" noProof="1">
                <a:solidFill>
                  <a:srgbClr val="006453"/>
                </a:solidFill>
                <a:latin typeface="宋体" panose="02010600030101010101" pitchFamily="2" charset="-122"/>
                <a:ea typeface="Arial" panose="020B0604020202020204" pitchFamily="34" charset="0"/>
                <a:cs typeface="宋体" panose="02010600030101010101" pitchFamily="2" charset="-122"/>
                <a:sym typeface="+mn-ea"/>
              </a:rPr>
              <a:t>：</a:t>
            </a:r>
            <a:r>
              <a:rPr lang="zh-CN" altLang="en-US" sz="2400">
                <a:latin typeface="宋体" panose="02010600030101010101" pitchFamily="2" charset="-122"/>
                <a:cs typeface="宋体" panose="02010600030101010101" pitchFamily="2" charset="-122"/>
              </a:rPr>
              <a:t>个体间体型差异显著，导致穴位相对位置变化大，传统基于固定模板的定位方法精度不足，易在肥胖或特殊体型目标上产生较大的定位偏差。</a:t>
            </a:r>
            <a:endParaRPr lang="zh-CN" altLang="en-US" sz="2400">
              <a:latin typeface="宋体" panose="02010600030101010101" pitchFamily="2" charset="-122"/>
              <a:cs typeface="宋体" panose="02010600030101010101" pitchFamily="2" charset="-122"/>
            </a:endParaRPr>
          </a:p>
          <a:p>
            <a:pPr marL="354965" marR="5080" indent="-342900">
              <a:lnSpc>
                <a:spcPct val="125000"/>
              </a:lnSpc>
              <a:buFont typeface="Wingdings" panose="05000000000000000000"/>
              <a:buChar char=""/>
              <a:tabLst>
                <a:tab pos="355600" algn="l"/>
              </a:tabLst>
            </a:pPr>
            <a:r>
              <a:rPr kumimoji="0" sz="2800" b="1" i="0" u="none" strike="noStrike" kern="0" cap="none" spc="-10" normalizeH="0" baseline="0" noProof="1">
                <a:solidFill>
                  <a:srgbClr val="006453"/>
                </a:solidFill>
                <a:latin typeface="宋体" panose="02010600030101010101" pitchFamily="2" charset="-122"/>
                <a:ea typeface="Arial" panose="020B0604020202020204" pitchFamily="34" charset="0"/>
                <a:cs typeface="宋体" panose="02010600030101010101" pitchFamily="2" charset="-122"/>
                <a:sym typeface="+mn-ea"/>
              </a:rPr>
              <a:t>姿态与穴位的动态感知</a:t>
            </a:r>
            <a:r>
              <a:rPr kumimoji="0" sz="2800" b="1" i="0" u="none" strike="noStrike" kern="0" cap="none" spc="-10" normalizeH="0" baseline="0" noProof="1">
                <a:solidFill>
                  <a:srgbClr val="006453"/>
                </a:solidFill>
                <a:latin typeface="宋体" panose="02010600030101010101" pitchFamily="2" charset="-122"/>
                <a:ea typeface="Arial" panose="020B0604020202020204" pitchFamily="34" charset="0"/>
                <a:cs typeface="宋体" panose="02010600030101010101" pitchFamily="2" charset="-122"/>
              </a:rPr>
              <a:t>：</a:t>
            </a:r>
            <a:r>
              <a:rPr lang="zh-CN" altLang="en-US" sz="2400" spc="-15">
                <a:latin typeface="宋体" panose="02010600030101010101" pitchFamily="2" charset="-122"/>
                <a:cs typeface="宋体" panose="02010600030101010101" pitchFamily="2" charset="-122"/>
              </a:rPr>
              <a:t>人体姿态变化时，穴位产生偏移，现有方法难以同步追踪姿态与穴位，导致错误</a:t>
            </a:r>
            <a:r>
              <a:rPr lang="zh-CN" altLang="en-US" sz="2400" spc="-15">
                <a:latin typeface="宋体" panose="02010600030101010101" pitchFamily="2" charset="-122"/>
                <a:cs typeface="宋体" panose="02010600030101010101" pitchFamily="2" charset="-122"/>
              </a:rPr>
              <a:t>标定或偏差。</a:t>
            </a:r>
            <a:endParaRPr lang="zh-CN" altLang="en-US" sz="2400" spc="-15">
              <a:latin typeface="宋体" panose="02010600030101010101" pitchFamily="2" charset="-122"/>
              <a:cs typeface="宋体" panose="02010600030101010101" pitchFamily="2" charset="-122"/>
            </a:endParaRPr>
          </a:p>
          <a:p>
            <a:pPr marL="354965" marR="5080" indent="-342900">
              <a:lnSpc>
                <a:spcPct val="125000"/>
              </a:lnSpc>
              <a:buFont typeface="Wingdings" panose="05000000000000000000"/>
              <a:buChar char=""/>
              <a:tabLst>
                <a:tab pos="355600" algn="l"/>
              </a:tabLst>
            </a:pPr>
            <a:r>
              <a:rPr kumimoji="0" sz="2800" b="1" i="0" u="none" strike="noStrike" kern="0" cap="none" spc="-10" normalizeH="0" baseline="0" noProof="1">
                <a:solidFill>
                  <a:srgbClr val="006453"/>
                </a:solidFill>
                <a:latin typeface="宋体" panose="02010600030101010101" pitchFamily="2" charset="-122"/>
                <a:ea typeface="Arial" panose="020B0604020202020204" pitchFamily="34" charset="0"/>
                <a:cs typeface="宋体" panose="02010600030101010101" pitchFamily="2" charset="-122"/>
              </a:rPr>
              <a:t>穴位像素坐标转三维点云计算量过大：</a:t>
            </a:r>
            <a:r>
              <a:rPr lang="zh-CN" altLang="en-US" sz="2400">
                <a:latin typeface="宋体" panose="02010600030101010101" pitchFamily="2" charset="-122"/>
                <a:cs typeface="宋体" panose="02010600030101010101" pitchFamily="2" charset="-122"/>
              </a:rPr>
              <a:t>从二维图像像素坐标映射到</a:t>
            </a:r>
            <a:r>
              <a:rPr lang="zh-CN" altLang="en-US" sz="2400">
                <a:latin typeface="宋体" panose="02010600030101010101" pitchFamily="2" charset="-122"/>
                <a:cs typeface="宋体" panose="02010600030101010101" pitchFamily="2" charset="-122"/>
              </a:rPr>
              <a:t>三维空间点云需复杂计算，实时性差，难以满足临床快速响应需求。</a:t>
            </a:r>
            <a:endParaRPr lang="zh-CN" altLang="en-US" sz="2400">
              <a:latin typeface="宋体" panose="02010600030101010101" pitchFamily="2" charset="-122"/>
              <a:cs typeface="宋体" panose="02010600030101010101" pitchFamily="2" charset="-122"/>
            </a:endParaRPr>
          </a:p>
        </p:txBody>
      </p:sp>
      <p:sp>
        <p:nvSpPr>
          <p:cNvPr id="21" name="object 21"/>
          <p:cNvSpPr/>
          <p:nvPr/>
        </p:nvSpPr>
        <p:spPr>
          <a:xfrm>
            <a:off x="4761230" y="6058535"/>
            <a:ext cx="7116445" cy="76200"/>
          </a:xfrm>
          <a:custGeom>
            <a:avLst/>
            <a:gdLst/>
            <a:ahLst/>
            <a:cxnLst/>
            <a:rect l="l" t="t" r="r" b="b"/>
            <a:pathLst>
              <a:path w="11498580">
                <a:moveTo>
                  <a:pt x="0" y="0"/>
                </a:moveTo>
                <a:lnTo>
                  <a:pt x="11498008" y="0"/>
                </a:lnTo>
              </a:path>
            </a:pathLst>
          </a:custGeom>
          <a:ln w="28575">
            <a:solidFill>
              <a:srgbClr val="006453"/>
            </a:solidFill>
          </a:ln>
        </p:spPr>
        <p:txBody>
          <a:bodyPr wrap="square" lIns="0" tIns="0" rIns="0" bIns="0" rtlCol="0"/>
          <a:lstStyle/>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497999"/>
            <a:ext cx="12192000" cy="360045"/>
            <a:chOff x="0" y="6497999"/>
            <a:chExt cx="12192000" cy="360045"/>
          </a:xfrm>
        </p:grpSpPr>
        <p:sp>
          <p:nvSpPr>
            <p:cNvPr id="3" name="object 3"/>
            <p:cNvSpPr/>
            <p:nvPr/>
          </p:nvSpPr>
          <p:spPr>
            <a:xfrm>
              <a:off x="0" y="6497999"/>
              <a:ext cx="10434320" cy="360045"/>
            </a:xfrm>
            <a:custGeom>
              <a:avLst/>
              <a:gdLst/>
              <a:ahLst/>
              <a:cxnLst/>
              <a:rect l="l" t="t" r="r" b="b"/>
              <a:pathLst>
                <a:path w="10434320" h="360045">
                  <a:moveTo>
                    <a:pt x="10434066" y="0"/>
                  </a:moveTo>
                  <a:lnTo>
                    <a:pt x="0" y="0"/>
                  </a:lnTo>
                  <a:lnTo>
                    <a:pt x="0" y="359997"/>
                  </a:lnTo>
                  <a:lnTo>
                    <a:pt x="10434066" y="359997"/>
                  </a:lnTo>
                  <a:lnTo>
                    <a:pt x="10434066" y="0"/>
                  </a:lnTo>
                  <a:close/>
                </a:path>
              </a:pathLst>
            </a:custGeom>
            <a:solidFill>
              <a:srgbClr val="435D4E"/>
            </a:solidFill>
          </p:spPr>
          <p:txBody>
            <a:bodyPr wrap="square" lIns="0" tIns="0" rIns="0" bIns="0" rtlCol="0"/>
            <a:lstStyle/>
            <a:p/>
          </p:txBody>
        </p:sp>
        <p:sp>
          <p:nvSpPr>
            <p:cNvPr id="4" name="object 4"/>
            <p:cNvSpPr/>
            <p:nvPr/>
          </p:nvSpPr>
          <p:spPr>
            <a:xfrm>
              <a:off x="10434066" y="6497999"/>
              <a:ext cx="1758314" cy="360045"/>
            </a:xfrm>
            <a:custGeom>
              <a:avLst/>
              <a:gdLst/>
              <a:ahLst/>
              <a:cxnLst/>
              <a:rect l="l" t="t" r="r" b="b"/>
              <a:pathLst>
                <a:path w="1758314" h="360045">
                  <a:moveTo>
                    <a:pt x="1757933" y="0"/>
                  </a:moveTo>
                  <a:lnTo>
                    <a:pt x="0" y="0"/>
                  </a:lnTo>
                  <a:lnTo>
                    <a:pt x="0" y="359997"/>
                  </a:lnTo>
                  <a:lnTo>
                    <a:pt x="1757933" y="359997"/>
                  </a:lnTo>
                  <a:lnTo>
                    <a:pt x="1757933" y="0"/>
                  </a:lnTo>
                  <a:close/>
                </a:path>
              </a:pathLst>
            </a:custGeom>
            <a:solidFill>
              <a:srgbClr val="385622"/>
            </a:solidFill>
          </p:spPr>
          <p:txBody>
            <a:bodyPr wrap="square" lIns="0" tIns="0" rIns="0" bIns="0" rtlCol="0"/>
            <a:lstStyle/>
            <a:p/>
          </p:txBody>
        </p:sp>
      </p:grpSp>
      <p:sp>
        <p:nvSpPr>
          <p:cNvPr id="6" name="object 6"/>
          <p:cNvSpPr txBox="1"/>
          <p:nvPr/>
        </p:nvSpPr>
        <p:spPr>
          <a:xfrm>
            <a:off x="944245" y="894715"/>
            <a:ext cx="4402455" cy="875030"/>
          </a:xfrm>
          <a:prstGeom prst="rect">
            <a:avLst/>
          </a:prstGeom>
        </p:spPr>
        <p:txBody>
          <a:bodyPr vert="horz" wrap="square" lIns="0" tIns="13335" rIns="0" bIns="0" rtlCol="0">
            <a:spAutoFit/>
          </a:bodyPr>
          <a:lstStyle/>
          <a:p>
            <a:pPr marL="12700">
              <a:lnSpc>
                <a:spcPct val="100000"/>
              </a:lnSpc>
              <a:spcBef>
                <a:spcPts val="105"/>
              </a:spcBef>
            </a:pPr>
            <a:r>
              <a:rPr lang="en-US" altLang="en-US" sz="2800" b="1" spc="-10">
                <a:latin typeface="微软雅黑" panose="020B0503020204020204" charset="-122"/>
                <a:cs typeface="微软雅黑" panose="020B0503020204020204" charset="-122"/>
              </a:rPr>
              <a:t>1</a:t>
            </a:r>
            <a:r>
              <a:rPr lang="zh-CN" altLang="en-US" sz="2800" b="1" spc="-10">
                <a:latin typeface="微软雅黑" panose="020B0503020204020204" charset="-122"/>
                <a:ea typeface="宋体" panose="02010600030101010101" pitchFamily="2" charset="-122"/>
                <a:cs typeface="微软雅黑" panose="020B0503020204020204" charset="-122"/>
              </a:rPr>
              <a:t>、针对人体体型的参差性问题处理</a:t>
            </a:r>
            <a:endParaRPr lang="zh-CN" altLang="en-US" sz="2800" b="1" spc="-10">
              <a:latin typeface="微软雅黑" panose="020B0503020204020204" charset="-122"/>
              <a:ea typeface="宋体" panose="02010600030101010101" pitchFamily="2" charset="-122"/>
              <a:cs typeface="微软雅黑" panose="020B0503020204020204" charset="-122"/>
            </a:endParaRPr>
          </a:p>
        </p:txBody>
      </p:sp>
      <p:pic>
        <p:nvPicPr>
          <p:cNvPr id="7" name="object 7"/>
          <p:cNvPicPr/>
          <p:nvPr/>
        </p:nvPicPr>
        <p:blipFill>
          <a:blip r:embed="rId1"/>
          <a:stretch>
            <a:fillRect/>
          </a:stretch>
        </p:blipFill>
        <p:spPr>
          <a:xfrm>
            <a:off x="495300" y="946785"/>
            <a:ext cx="244475" cy="233680"/>
          </a:xfrm>
          <a:prstGeom prst="rect">
            <a:avLst/>
          </a:prstGeom>
        </p:spPr>
      </p:pic>
      <p:sp>
        <p:nvSpPr>
          <p:cNvPr id="9" name="object 9"/>
          <p:cNvSpPr txBox="1"/>
          <p:nvPr/>
        </p:nvSpPr>
        <p:spPr>
          <a:xfrm>
            <a:off x="457200" y="1826260"/>
            <a:ext cx="2849880" cy="4631055"/>
          </a:xfrm>
          <a:prstGeom prst="rect">
            <a:avLst/>
          </a:prstGeom>
        </p:spPr>
        <p:txBody>
          <a:bodyPr vert="horz" wrap="square" lIns="0" tIns="12700" rIns="0" bIns="0" rtlCol="0">
            <a:noAutofit/>
          </a:bodyPr>
          <a:lstStyle/>
          <a:p>
            <a:pPr marL="12700">
              <a:lnSpc>
                <a:spcPct val="100000"/>
              </a:lnSpc>
              <a:spcBef>
                <a:spcPts val="100"/>
              </a:spcBef>
            </a:pPr>
            <a:r>
              <a:rPr lang="zh-CN" altLang="en-US" sz="2000" b="0" spc="-10">
                <a:latin typeface="等线" panose="02010600030101010101" charset="-122"/>
                <a:cs typeface="等线" panose="02010600030101010101" charset="-122"/>
              </a:rPr>
              <a:t>研究采用</a:t>
            </a:r>
            <a:r>
              <a:rPr lang="en-US" altLang="zh-CN" sz="2000" b="0" spc="-10">
                <a:latin typeface="等线" panose="02010600030101010101" charset="-122"/>
                <a:cs typeface="等线" panose="02010600030101010101" charset="-122"/>
              </a:rPr>
              <a:t>YOLOv11</a:t>
            </a:r>
            <a:r>
              <a:rPr lang="zh-CN" altLang="en-US" sz="2000" b="0" spc="-10">
                <a:latin typeface="等线" panose="02010600030101010101" charset="-122"/>
                <a:cs typeface="等线" panose="02010600030101010101" charset="-122"/>
              </a:rPr>
              <a:t>算法框架构建穴位识别模型，通过大规模预训练策略提升特征提取能力。在模型迭代阶段，通过采集多姿态、多体型的人体穴位图像数据，构建专属训练集。为保证算法对遮挡、模糊等复杂场景的鲁棒性针对各特异场景人员进行测试，最终交叉验证与临床实测数据对比，验证模型在不同光照、姿态条件下的定位精度，确保系统在实际应用中的可靠性。</a:t>
            </a:r>
            <a:endParaRPr lang="zh-CN" altLang="en-US" sz="2000" b="0" spc="-10">
              <a:latin typeface="等线" panose="02010600030101010101" charset="-122"/>
              <a:cs typeface="等线" panose="02010600030101010101" charset="-122"/>
            </a:endParaRPr>
          </a:p>
        </p:txBody>
      </p:sp>
      <p:grpSp>
        <p:nvGrpSpPr>
          <p:cNvPr id="13" name="object 13"/>
          <p:cNvGrpSpPr/>
          <p:nvPr/>
        </p:nvGrpSpPr>
        <p:grpSpPr>
          <a:xfrm>
            <a:off x="346075" y="113664"/>
            <a:ext cx="3082290" cy="788035"/>
            <a:chOff x="346075" y="113664"/>
            <a:chExt cx="3082290" cy="788035"/>
          </a:xfrm>
        </p:grpSpPr>
        <p:sp>
          <p:nvSpPr>
            <p:cNvPr id="14" name="object 14"/>
            <p:cNvSpPr/>
            <p:nvPr/>
          </p:nvSpPr>
          <p:spPr>
            <a:xfrm>
              <a:off x="365125" y="132714"/>
              <a:ext cx="3044190" cy="749935"/>
            </a:xfrm>
            <a:custGeom>
              <a:avLst/>
              <a:gdLst/>
              <a:ahLst/>
              <a:cxnLst/>
              <a:rect l="l" t="t" r="r" b="b"/>
              <a:pathLst>
                <a:path w="3044190" h="749935">
                  <a:moveTo>
                    <a:pt x="2716276" y="0"/>
                  </a:moveTo>
                  <a:lnTo>
                    <a:pt x="2702306" y="1650"/>
                  </a:lnTo>
                  <a:lnTo>
                    <a:pt x="2702306" y="0"/>
                  </a:lnTo>
                  <a:lnTo>
                    <a:pt x="327812" y="0"/>
                  </a:lnTo>
                  <a:lnTo>
                    <a:pt x="283329" y="3423"/>
                  </a:lnTo>
                  <a:lnTo>
                    <a:pt x="240664" y="13394"/>
                  </a:lnTo>
                  <a:lnTo>
                    <a:pt x="200210" y="29467"/>
                  </a:lnTo>
                  <a:lnTo>
                    <a:pt x="162356" y="51195"/>
                  </a:lnTo>
                  <a:lnTo>
                    <a:pt x="127493" y="78129"/>
                  </a:lnTo>
                  <a:lnTo>
                    <a:pt x="96011" y="109823"/>
                  </a:lnTo>
                  <a:lnTo>
                    <a:pt x="68302" y="145829"/>
                  </a:lnTo>
                  <a:lnTo>
                    <a:pt x="44754" y="185702"/>
                  </a:lnTo>
                  <a:lnTo>
                    <a:pt x="25760" y="228992"/>
                  </a:lnTo>
                  <a:lnTo>
                    <a:pt x="11709" y="275254"/>
                  </a:lnTo>
                  <a:lnTo>
                    <a:pt x="2992" y="324040"/>
                  </a:lnTo>
                  <a:lnTo>
                    <a:pt x="0" y="374903"/>
                  </a:lnTo>
                  <a:lnTo>
                    <a:pt x="2992" y="425796"/>
                  </a:lnTo>
                  <a:lnTo>
                    <a:pt x="11709" y="474606"/>
                  </a:lnTo>
                  <a:lnTo>
                    <a:pt x="25760" y="520888"/>
                  </a:lnTo>
                  <a:lnTo>
                    <a:pt x="44754" y="564195"/>
                  </a:lnTo>
                  <a:lnTo>
                    <a:pt x="68302" y="604079"/>
                  </a:lnTo>
                  <a:lnTo>
                    <a:pt x="96011" y="640095"/>
                  </a:lnTo>
                  <a:lnTo>
                    <a:pt x="127493" y="671796"/>
                  </a:lnTo>
                  <a:lnTo>
                    <a:pt x="162356" y="698735"/>
                  </a:lnTo>
                  <a:lnTo>
                    <a:pt x="200210" y="720465"/>
                  </a:lnTo>
                  <a:lnTo>
                    <a:pt x="240664" y="736539"/>
                  </a:lnTo>
                  <a:lnTo>
                    <a:pt x="283329" y="746511"/>
                  </a:lnTo>
                  <a:lnTo>
                    <a:pt x="327812" y="749934"/>
                  </a:lnTo>
                  <a:lnTo>
                    <a:pt x="2702306" y="749934"/>
                  </a:lnTo>
                  <a:lnTo>
                    <a:pt x="2702306" y="748283"/>
                  </a:lnTo>
                  <a:lnTo>
                    <a:pt x="2716276" y="749934"/>
                  </a:lnTo>
                  <a:lnTo>
                    <a:pt x="2760742" y="746511"/>
                  </a:lnTo>
                  <a:lnTo>
                    <a:pt x="2803395" y="736540"/>
                  </a:lnTo>
                  <a:lnTo>
                    <a:pt x="2843841" y="720467"/>
                  </a:lnTo>
                  <a:lnTo>
                    <a:pt x="2881691" y="698739"/>
                  </a:lnTo>
                  <a:lnTo>
                    <a:pt x="2916552" y="671805"/>
                  </a:lnTo>
                  <a:lnTo>
                    <a:pt x="2948035" y="640111"/>
                  </a:lnTo>
                  <a:lnTo>
                    <a:pt x="2975747" y="604105"/>
                  </a:lnTo>
                  <a:lnTo>
                    <a:pt x="2999297" y="564232"/>
                  </a:lnTo>
                  <a:lnTo>
                    <a:pt x="3018295" y="520942"/>
                  </a:lnTo>
                  <a:lnTo>
                    <a:pt x="3032350" y="474680"/>
                  </a:lnTo>
                  <a:lnTo>
                    <a:pt x="3041069" y="425894"/>
                  </a:lnTo>
                  <a:lnTo>
                    <a:pt x="3044063" y="375030"/>
                  </a:lnTo>
                  <a:lnTo>
                    <a:pt x="3041069" y="324138"/>
                  </a:lnTo>
                  <a:lnTo>
                    <a:pt x="3032350" y="275328"/>
                  </a:lnTo>
                  <a:lnTo>
                    <a:pt x="3018295" y="229046"/>
                  </a:lnTo>
                  <a:lnTo>
                    <a:pt x="2999297" y="185739"/>
                  </a:lnTo>
                  <a:lnTo>
                    <a:pt x="2975747" y="145855"/>
                  </a:lnTo>
                  <a:lnTo>
                    <a:pt x="2948035" y="109839"/>
                  </a:lnTo>
                  <a:lnTo>
                    <a:pt x="2916552" y="78138"/>
                  </a:lnTo>
                  <a:lnTo>
                    <a:pt x="2881691" y="51199"/>
                  </a:lnTo>
                  <a:lnTo>
                    <a:pt x="2843841" y="29469"/>
                  </a:lnTo>
                  <a:lnTo>
                    <a:pt x="2803395" y="13395"/>
                  </a:lnTo>
                  <a:lnTo>
                    <a:pt x="2760742" y="3423"/>
                  </a:lnTo>
                  <a:lnTo>
                    <a:pt x="2716276" y="0"/>
                  </a:lnTo>
                  <a:close/>
                </a:path>
              </a:pathLst>
            </a:custGeom>
            <a:solidFill>
              <a:srgbClr val="39877A"/>
            </a:solidFill>
          </p:spPr>
          <p:txBody>
            <a:bodyPr wrap="square" lIns="0" tIns="0" rIns="0" bIns="0" rtlCol="0"/>
            <a:lstStyle/>
            <a:p/>
          </p:txBody>
        </p:sp>
        <p:sp>
          <p:nvSpPr>
            <p:cNvPr id="15" name="object 15"/>
            <p:cNvSpPr/>
            <p:nvPr/>
          </p:nvSpPr>
          <p:spPr>
            <a:xfrm>
              <a:off x="365125" y="132714"/>
              <a:ext cx="3044190" cy="749935"/>
            </a:xfrm>
            <a:custGeom>
              <a:avLst/>
              <a:gdLst/>
              <a:ahLst/>
              <a:cxnLst/>
              <a:rect l="l" t="t" r="r" b="b"/>
              <a:pathLst>
                <a:path w="3044190" h="749935">
                  <a:moveTo>
                    <a:pt x="327812" y="0"/>
                  </a:moveTo>
                  <a:lnTo>
                    <a:pt x="2702306" y="0"/>
                  </a:lnTo>
                  <a:lnTo>
                    <a:pt x="2702306" y="1650"/>
                  </a:lnTo>
                  <a:lnTo>
                    <a:pt x="2760742" y="3423"/>
                  </a:lnTo>
                  <a:lnTo>
                    <a:pt x="2803395" y="13395"/>
                  </a:lnTo>
                  <a:lnTo>
                    <a:pt x="2843841" y="29469"/>
                  </a:lnTo>
                  <a:lnTo>
                    <a:pt x="2881691" y="51199"/>
                  </a:lnTo>
                  <a:lnTo>
                    <a:pt x="2916552" y="78138"/>
                  </a:lnTo>
                  <a:lnTo>
                    <a:pt x="2948035" y="109839"/>
                  </a:lnTo>
                  <a:lnTo>
                    <a:pt x="2975747" y="145855"/>
                  </a:lnTo>
                  <a:lnTo>
                    <a:pt x="2999297" y="185739"/>
                  </a:lnTo>
                  <a:lnTo>
                    <a:pt x="3018295" y="229046"/>
                  </a:lnTo>
                  <a:lnTo>
                    <a:pt x="3032350" y="275328"/>
                  </a:lnTo>
                  <a:lnTo>
                    <a:pt x="3041069" y="324138"/>
                  </a:lnTo>
                  <a:lnTo>
                    <a:pt x="3044063" y="375030"/>
                  </a:lnTo>
                  <a:lnTo>
                    <a:pt x="3041069" y="425894"/>
                  </a:lnTo>
                  <a:lnTo>
                    <a:pt x="3032350" y="474680"/>
                  </a:lnTo>
                  <a:lnTo>
                    <a:pt x="3018295" y="520942"/>
                  </a:lnTo>
                  <a:lnTo>
                    <a:pt x="2999297" y="564232"/>
                  </a:lnTo>
                  <a:lnTo>
                    <a:pt x="2975747" y="604105"/>
                  </a:lnTo>
                  <a:lnTo>
                    <a:pt x="2948035" y="640111"/>
                  </a:lnTo>
                  <a:lnTo>
                    <a:pt x="2916552" y="671805"/>
                  </a:lnTo>
                  <a:lnTo>
                    <a:pt x="2881691" y="698739"/>
                  </a:lnTo>
                  <a:lnTo>
                    <a:pt x="2843841" y="720467"/>
                  </a:lnTo>
                  <a:lnTo>
                    <a:pt x="2803395" y="736540"/>
                  </a:lnTo>
                  <a:lnTo>
                    <a:pt x="2760742" y="746511"/>
                  </a:lnTo>
                  <a:lnTo>
                    <a:pt x="2716276" y="749934"/>
                  </a:lnTo>
                  <a:lnTo>
                    <a:pt x="2702306" y="748283"/>
                  </a:lnTo>
                  <a:lnTo>
                    <a:pt x="2702306" y="749934"/>
                  </a:lnTo>
                  <a:lnTo>
                    <a:pt x="327812" y="749934"/>
                  </a:lnTo>
                  <a:lnTo>
                    <a:pt x="283329" y="746511"/>
                  </a:lnTo>
                  <a:lnTo>
                    <a:pt x="240664" y="736539"/>
                  </a:lnTo>
                  <a:lnTo>
                    <a:pt x="200210" y="720465"/>
                  </a:lnTo>
                  <a:lnTo>
                    <a:pt x="162356" y="698735"/>
                  </a:lnTo>
                  <a:lnTo>
                    <a:pt x="127493" y="671796"/>
                  </a:lnTo>
                  <a:lnTo>
                    <a:pt x="96011" y="640095"/>
                  </a:lnTo>
                  <a:lnTo>
                    <a:pt x="68302" y="604079"/>
                  </a:lnTo>
                  <a:lnTo>
                    <a:pt x="44754" y="564195"/>
                  </a:lnTo>
                  <a:lnTo>
                    <a:pt x="25760" y="520888"/>
                  </a:lnTo>
                  <a:lnTo>
                    <a:pt x="11709" y="474606"/>
                  </a:lnTo>
                  <a:lnTo>
                    <a:pt x="2992" y="425796"/>
                  </a:lnTo>
                  <a:lnTo>
                    <a:pt x="0" y="374903"/>
                  </a:lnTo>
                  <a:lnTo>
                    <a:pt x="2992" y="324040"/>
                  </a:lnTo>
                  <a:lnTo>
                    <a:pt x="11709" y="275254"/>
                  </a:lnTo>
                  <a:lnTo>
                    <a:pt x="25760" y="228992"/>
                  </a:lnTo>
                  <a:lnTo>
                    <a:pt x="44754" y="185702"/>
                  </a:lnTo>
                  <a:lnTo>
                    <a:pt x="68302" y="145829"/>
                  </a:lnTo>
                  <a:lnTo>
                    <a:pt x="96011" y="109823"/>
                  </a:lnTo>
                  <a:lnTo>
                    <a:pt x="127493" y="78129"/>
                  </a:lnTo>
                  <a:lnTo>
                    <a:pt x="162356" y="51195"/>
                  </a:lnTo>
                  <a:lnTo>
                    <a:pt x="200210" y="29467"/>
                  </a:lnTo>
                  <a:lnTo>
                    <a:pt x="240664" y="13394"/>
                  </a:lnTo>
                  <a:lnTo>
                    <a:pt x="283329" y="3423"/>
                  </a:lnTo>
                  <a:lnTo>
                    <a:pt x="327812" y="0"/>
                  </a:lnTo>
                  <a:close/>
                </a:path>
              </a:pathLst>
            </a:custGeom>
            <a:ln w="38099">
              <a:solidFill>
                <a:srgbClr val="006453"/>
              </a:solidFill>
            </a:ln>
          </p:spPr>
          <p:txBody>
            <a:bodyPr wrap="square" lIns="0" tIns="0" rIns="0" bIns="0" rtlCol="0"/>
            <a:lstStyle/>
            <a:p/>
          </p:txBody>
        </p:sp>
        <p:pic>
          <p:nvPicPr>
            <p:cNvPr id="16" name="object 16"/>
            <p:cNvPicPr/>
            <p:nvPr/>
          </p:nvPicPr>
          <p:blipFill>
            <a:blip r:embed="rId2"/>
            <a:stretch>
              <a:fillRect/>
            </a:stretch>
          </p:blipFill>
          <p:spPr>
            <a:xfrm>
              <a:off x="493077" y="198704"/>
              <a:ext cx="485419" cy="617905"/>
            </a:xfrm>
            <a:prstGeom prst="rect">
              <a:avLst/>
            </a:prstGeom>
          </p:spPr>
        </p:pic>
        <p:sp>
          <p:nvSpPr>
            <p:cNvPr id="17" name="object 17"/>
            <p:cNvSpPr/>
            <p:nvPr/>
          </p:nvSpPr>
          <p:spPr>
            <a:xfrm>
              <a:off x="977900" y="276860"/>
              <a:ext cx="2329180" cy="460375"/>
            </a:xfrm>
            <a:custGeom>
              <a:avLst/>
              <a:gdLst/>
              <a:ahLst/>
              <a:cxnLst/>
              <a:rect l="l" t="t" r="r" b="b"/>
              <a:pathLst>
                <a:path w="2329179" h="460375">
                  <a:moveTo>
                    <a:pt x="2329179" y="0"/>
                  </a:moveTo>
                  <a:lnTo>
                    <a:pt x="0" y="0"/>
                  </a:lnTo>
                  <a:lnTo>
                    <a:pt x="0" y="460375"/>
                  </a:lnTo>
                  <a:lnTo>
                    <a:pt x="2329179" y="460375"/>
                  </a:lnTo>
                  <a:lnTo>
                    <a:pt x="2329179" y="0"/>
                  </a:lnTo>
                  <a:close/>
                </a:path>
              </a:pathLst>
            </a:custGeom>
            <a:solidFill>
              <a:srgbClr val="39877A"/>
            </a:solidFill>
          </p:spPr>
          <p:txBody>
            <a:bodyPr wrap="square" lIns="0" tIns="0" rIns="0" bIns="0" rtlCol="0"/>
            <a:lstStyle/>
            <a:p/>
          </p:txBody>
        </p:sp>
      </p:grpSp>
      <p:sp>
        <p:nvSpPr>
          <p:cNvPr id="18" name="object 18"/>
          <p:cNvSpPr txBox="1">
            <a:spLocks noGrp="1"/>
          </p:cNvSpPr>
          <p:nvPr>
            <p:ph type="title"/>
          </p:nvPr>
        </p:nvSpPr>
        <p:spPr>
          <a:xfrm>
            <a:off x="1056843" y="319278"/>
            <a:ext cx="2169795" cy="381635"/>
          </a:xfrm>
          <a:prstGeom prst="rect">
            <a:avLst/>
          </a:prstGeom>
        </p:spPr>
        <p:txBody>
          <a:bodyPr vert="horz" wrap="square" lIns="0" tIns="12700" rIns="0" bIns="0" rtlCol="0">
            <a:spAutoFit/>
          </a:bodyPr>
          <a:lstStyle/>
          <a:p>
            <a:pPr marL="12700">
              <a:lnSpc>
                <a:spcPct val="100000"/>
              </a:lnSpc>
              <a:spcBef>
                <a:spcPts val="100"/>
              </a:spcBef>
            </a:pPr>
            <a:r>
              <a:rPr lang="zh-CN" altLang="en-US" spc="-35">
                <a:solidFill>
                  <a:srgbClr val="FFFFFF"/>
                </a:solidFill>
                <a:sym typeface="+mn-ea"/>
              </a:rPr>
              <a:t>已完成的工作</a:t>
            </a:r>
            <a:endParaRPr spc="-50"/>
          </a:p>
        </p:txBody>
      </p:sp>
      <p:sp>
        <p:nvSpPr>
          <p:cNvPr id="21" name="object 12"/>
          <p:cNvSpPr txBox="1"/>
          <p:nvPr/>
        </p:nvSpPr>
        <p:spPr>
          <a:xfrm>
            <a:off x="59690" y="6523355"/>
            <a:ext cx="7989570" cy="289560"/>
          </a:xfrm>
          <a:prstGeom prst="rect">
            <a:avLst/>
          </a:prstGeom>
        </p:spPr>
        <p:txBody>
          <a:bodyPr vert="horz" wrap="square" lIns="0" tIns="12700" rIns="0" bIns="0" rtlCol="0">
            <a:spAutoFit/>
          </a:bodyPr>
          <a:lstStyle/>
          <a:p>
            <a:pPr marL="12700">
              <a:lnSpc>
                <a:spcPct val="100000"/>
              </a:lnSpc>
              <a:spcBef>
                <a:spcPts val="100"/>
              </a:spcBef>
            </a:pPr>
            <a:r>
              <a:rPr kumimoji="0" sz="1800" b="1" i="0" u="none" strike="noStrike" kern="0" cap="none" spc="265" normalizeH="0" baseline="0" noProof="1">
                <a:solidFill>
                  <a:srgbClr val="FFFFFF"/>
                </a:solidFill>
                <a:latin typeface="宋体" panose="02010600030101010101" pitchFamily="2" charset="-122"/>
                <a:ea typeface="Arial" panose="020B0604020202020204" pitchFamily="34" charset="0"/>
                <a:cs typeface="宋体" panose="02010600030101010101" pitchFamily="2" charset="-122"/>
                <a:sym typeface="+mn-ea"/>
              </a:rPr>
              <a:t>基于视觉感知与自适应双向超椭球体RRT的机械臂运动规划研究</a:t>
            </a:r>
            <a:endParaRPr sz="1800">
              <a:latin typeface="微软雅黑" panose="020B0503020204020204" charset="-122"/>
              <a:cs typeface="微软雅黑" panose="020B0503020204020204" charset="-122"/>
            </a:endParaRPr>
          </a:p>
        </p:txBody>
      </p:sp>
      <p:pic>
        <p:nvPicPr>
          <p:cNvPr id="10" name="图片 9" descr="偏移"/>
          <p:cNvPicPr>
            <a:picLocks noChangeAspect="1"/>
          </p:cNvPicPr>
          <p:nvPr/>
        </p:nvPicPr>
        <p:blipFill>
          <a:blip r:embed="rId3"/>
          <a:stretch>
            <a:fillRect/>
          </a:stretch>
        </p:blipFill>
        <p:spPr>
          <a:xfrm>
            <a:off x="8915400" y="1600200"/>
            <a:ext cx="2968625" cy="4198620"/>
          </a:xfrm>
          <a:prstGeom prst="rect">
            <a:avLst/>
          </a:prstGeom>
        </p:spPr>
      </p:pic>
      <p:sp>
        <p:nvSpPr>
          <p:cNvPr id="19" name="object 9"/>
          <p:cNvSpPr txBox="1"/>
          <p:nvPr/>
        </p:nvSpPr>
        <p:spPr>
          <a:xfrm>
            <a:off x="6870065" y="5902325"/>
            <a:ext cx="2279650" cy="443230"/>
          </a:xfrm>
          <a:prstGeom prst="rect">
            <a:avLst/>
          </a:prstGeom>
        </p:spPr>
        <p:txBody>
          <a:bodyPr vert="horz" wrap="square" lIns="0" tIns="12700" rIns="0" bIns="0" rtlCol="0">
            <a:spAutoFit/>
          </a:bodyPr>
          <a:lstStyle/>
          <a:p>
            <a:pPr marL="12700">
              <a:lnSpc>
                <a:spcPct val="100000"/>
              </a:lnSpc>
              <a:spcBef>
                <a:spcPts val="100"/>
              </a:spcBef>
            </a:pPr>
            <a:r>
              <a:rPr lang="zh-CN" altLang="en-US" sz="2800" spc="-10">
                <a:latin typeface="等线" panose="02010600030101010101" charset="-122"/>
                <a:cs typeface="等线" panose="02010600030101010101" charset="-122"/>
              </a:rPr>
              <a:t>图</a:t>
            </a:r>
            <a:r>
              <a:rPr lang="en-US" altLang="zh-CN" sz="2800" spc="-10">
                <a:latin typeface="等线" panose="02010600030101010101" charset="-122"/>
                <a:cs typeface="等线" panose="02010600030101010101" charset="-122"/>
              </a:rPr>
              <a:t>1 </a:t>
            </a:r>
            <a:r>
              <a:rPr lang="zh-CN" altLang="en-US" sz="2800" spc="-10">
                <a:latin typeface="等线" panose="02010600030101010101" charset="-122"/>
                <a:cs typeface="等线" panose="02010600030101010101" charset="-122"/>
              </a:rPr>
              <a:t>骨架提取</a:t>
            </a:r>
            <a:endParaRPr lang="zh-CN" altLang="en-US" sz="2800" spc="-10">
              <a:latin typeface="等线" panose="02010600030101010101" charset="-122"/>
              <a:cs typeface="等线" panose="02010600030101010101" charset="-122"/>
            </a:endParaRPr>
          </a:p>
        </p:txBody>
      </p:sp>
      <p:pic>
        <p:nvPicPr>
          <p:cNvPr id="24" name="图片 23" descr="骨架提取"/>
          <p:cNvPicPr>
            <a:picLocks noChangeAspect="1"/>
          </p:cNvPicPr>
          <p:nvPr/>
        </p:nvPicPr>
        <p:blipFill>
          <a:blip r:embed="rId4"/>
          <a:stretch>
            <a:fillRect/>
          </a:stretch>
        </p:blipFill>
        <p:spPr>
          <a:xfrm>
            <a:off x="6144895" y="1600200"/>
            <a:ext cx="2797810" cy="4196715"/>
          </a:xfrm>
          <a:prstGeom prst="rect">
            <a:avLst/>
          </a:prstGeom>
        </p:spPr>
      </p:pic>
      <p:pic>
        <p:nvPicPr>
          <p:cNvPr id="25" name="图片 24" descr="骨架提取2"/>
          <p:cNvPicPr>
            <a:picLocks noChangeAspect="1"/>
          </p:cNvPicPr>
          <p:nvPr/>
        </p:nvPicPr>
        <p:blipFill>
          <a:blip r:embed="rId5"/>
          <a:stretch>
            <a:fillRect/>
          </a:stretch>
        </p:blipFill>
        <p:spPr>
          <a:xfrm>
            <a:off x="3751580" y="1600200"/>
            <a:ext cx="2393315" cy="4189730"/>
          </a:xfrm>
          <a:prstGeom prst="rect">
            <a:avLst/>
          </a:prstGeom>
        </p:spPr>
      </p:pic>
      <p:sp>
        <p:nvSpPr>
          <p:cNvPr id="26" name="文本框 25"/>
          <p:cNvSpPr txBox="1"/>
          <p:nvPr/>
        </p:nvSpPr>
        <p:spPr>
          <a:xfrm>
            <a:off x="10668000" y="5791835"/>
            <a:ext cx="4013835" cy="582295"/>
          </a:xfrm>
          <a:prstGeom prst="rect">
            <a:avLst/>
          </a:prstGeom>
          <a:noFill/>
        </p:spPr>
        <p:txBody>
          <a:bodyPr wrap="square" rtlCol="0">
            <a:noAutofit/>
          </a:bodyPr>
          <a:p>
            <a:endParaRPr lang="zh-CN" alt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6497999"/>
            <a:ext cx="12192000" cy="360045"/>
            <a:chOff x="0" y="6497999"/>
            <a:chExt cx="12192000" cy="360045"/>
          </a:xfrm>
        </p:grpSpPr>
        <p:sp>
          <p:nvSpPr>
            <p:cNvPr id="3" name="object 3"/>
            <p:cNvSpPr/>
            <p:nvPr/>
          </p:nvSpPr>
          <p:spPr>
            <a:xfrm>
              <a:off x="0" y="6497999"/>
              <a:ext cx="10434320" cy="360045"/>
            </a:xfrm>
            <a:custGeom>
              <a:avLst/>
              <a:gdLst/>
              <a:ahLst/>
              <a:cxnLst/>
              <a:rect l="l" t="t" r="r" b="b"/>
              <a:pathLst>
                <a:path w="10434320" h="360045">
                  <a:moveTo>
                    <a:pt x="10434066" y="0"/>
                  </a:moveTo>
                  <a:lnTo>
                    <a:pt x="0" y="0"/>
                  </a:lnTo>
                  <a:lnTo>
                    <a:pt x="0" y="359997"/>
                  </a:lnTo>
                  <a:lnTo>
                    <a:pt x="10434066" y="359997"/>
                  </a:lnTo>
                  <a:lnTo>
                    <a:pt x="10434066" y="0"/>
                  </a:lnTo>
                  <a:close/>
                </a:path>
              </a:pathLst>
            </a:custGeom>
            <a:solidFill>
              <a:srgbClr val="435D4E"/>
            </a:solidFill>
          </p:spPr>
          <p:txBody>
            <a:bodyPr wrap="square" lIns="0" tIns="0" rIns="0" bIns="0" rtlCol="0"/>
            <a:lstStyle/>
            <a:p/>
          </p:txBody>
        </p:sp>
        <p:sp>
          <p:nvSpPr>
            <p:cNvPr id="4" name="object 4"/>
            <p:cNvSpPr/>
            <p:nvPr/>
          </p:nvSpPr>
          <p:spPr>
            <a:xfrm>
              <a:off x="10434066" y="6497999"/>
              <a:ext cx="1758314" cy="360045"/>
            </a:xfrm>
            <a:custGeom>
              <a:avLst/>
              <a:gdLst/>
              <a:ahLst/>
              <a:cxnLst/>
              <a:rect l="l" t="t" r="r" b="b"/>
              <a:pathLst>
                <a:path w="1758314" h="360045">
                  <a:moveTo>
                    <a:pt x="1757933" y="0"/>
                  </a:moveTo>
                  <a:lnTo>
                    <a:pt x="0" y="0"/>
                  </a:lnTo>
                  <a:lnTo>
                    <a:pt x="0" y="359997"/>
                  </a:lnTo>
                  <a:lnTo>
                    <a:pt x="1757933" y="359997"/>
                  </a:lnTo>
                  <a:lnTo>
                    <a:pt x="1757933" y="0"/>
                  </a:lnTo>
                  <a:close/>
                </a:path>
              </a:pathLst>
            </a:custGeom>
            <a:solidFill>
              <a:srgbClr val="385622"/>
            </a:solidFill>
          </p:spPr>
          <p:txBody>
            <a:bodyPr wrap="square" lIns="0" tIns="0" rIns="0" bIns="0" rtlCol="0"/>
            <a:lstStyle/>
            <a:p/>
          </p:txBody>
        </p:sp>
      </p:grpSp>
      <p:sp>
        <p:nvSpPr>
          <p:cNvPr id="6" name="object 6"/>
          <p:cNvSpPr txBox="1"/>
          <p:nvPr/>
        </p:nvSpPr>
        <p:spPr>
          <a:xfrm>
            <a:off x="1401445" y="970915"/>
            <a:ext cx="3226435" cy="320675"/>
          </a:xfrm>
          <a:prstGeom prst="rect">
            <a:avLst/>
          </a:prstGeom>
        </p:spPr>
        <p:txBody>
          <a:bodyPr vert="horz" wrap="square" lIns="0" tIns="13335" rIns="0" bIns="0" rtlCol="0">
            <a:spAutoFit/>
          </a:bodyPr>
          <a:lstStyle/>
          <a:p>
            <a:pPr marL="12700">
              <a:lnSpc>
                <a:spcPct val="100000"/>
              </a:lnSpc>
              <a:spcBef>
                <a:spcPts val="105"/>
              </a:spcBef>
            </a:pPr>
            <a:r>
              <a:rPr lang="zh-CN" altLang="en-US" sz="2000" b="1" spc="-10">
                <a:latin typeface="微软雅黑" panose="020B0503020204020204" charset="-122"/>
                <a:cs typeface="微软雅黑" panose="020B0503020204020204" charset="-122"/>
              </a:rPr>
              <a:t>姿态与穴位的联合动态感知</a:t>
            </a:r>
            <a:endParaRPr sz="2000">
              <a:latin typeface="微软雅黑" panose="020B0503020204020204" charset="-122"/>
              <a:cs typeface="微软雅黑" panose="020B0503020204020204" charset="-122"/>
            </a:endParaRPr>
          </a:p>
        </p:txBody>
      </p:sp>
      <p:pic>
        <p:nvPicPr>
          <p:cNvPr id="7" name="object 7"/>
          <p:cNvPicPr/>
          <p:nvPr/>
        </p:nvPicPr>
        <p:blipFill>
          <a:blip r:embed="rId1"/>
          <a:stretch>
            <a:fillRect/>
          </a:stretch>
        </p:blipFill>
        <p:spPr>
          <a:xfrm>
            <a:off x="952222" y="1023176"/>
            <a:ext cx="265938" cy="233773"/>
          </a:xfrm>
          <a:prstGeom prst="rect">
            <a:avLst/>
          </a:prstGeom>
        </p:spPr>
      </p:pic>
      <p:grpSp>
        <p:nvGrpSpPr>
          <p:cNvPr id="13" name="object 13"/>
          <p:cNvGrpSpPr/>
          <p:nvPr/>
        </p:nvGrpSpPr>
        <p:grpSpPr>
          <a:xfrm>
            <a:off x="346075" y="113664"/>
            <a:ext cx="3082290" cy="788035"/>
            <a:chOff x="346075" y="113664"/>
            <a:chExt cx="3082290" cy="788035"/>
          </a:xfrm>
        </p:grpSpPr>
        <p:sp>
          <p:nvSpPr>
            <p:cNvPr id="14" name="object 14"/>
            <p:cNvSpPr/>
            <p:nvPr/>
          </p:nvSpPr>
          <p:spPr>
            <a:xfrm>
              <a:off x="365125" y="132714"/>
              <a:ext cx="3044190" cy="749935"/>
            </a:xfrm>
            <a:custGeom>
              <a:avLst/>
              <a:gdLst/>
              <a:ahLst/>
              <a:cxnLst/>
              <a:rect l="l" t="t" r="r" b="b"/>
              <a:pathLst>
                <a:path w="3044190" h="749935">
                  <a:moveTo>
                    <a:pt x="2716276" y="0"/>
                  </a:moveTo>
                  <a:lnTo>
                    <a:pt x="2702306" y="1650"/>
                  </a:lnTo>
                  <a:lnTo>
                    <a:pt x="2702306" y="0"/>
                  </a:lnTo>
                  <a:lnTo>
                    <a:pt x="327812" y="0"/>
                  </a:lnTo>
                  <a:lnTo>
                    <a:pt x="283329" y="3423"/>
                  </a:lnTo>
                  <a:lnTo>
                    <a:pt x="240664" y="13394"/>
                  </a:lnTo>
                  <a:lnTo>
                    <a:pt x="200210" y="29467"/>
                  </a:lnTo>
                  <a:lnTo>
                    <a:pt x="162356" y="51195"/>
                  </a:lnTo>
                  <a:lnTo>
                    <a:pt x="127493" y="78129"/>
                  </a:lnTo>
                  <a:lnTo>
                    <a:pt x="96011" y="109823"/>
                  </a:lnTo>
                  <a:lnTo>
                    <a:pt x="68302" y="145829"/>
                  </a:lnTo>
                  <a:lnTo>
                    <a:pt x="44754" y="185702"/>
                  </a:lnTo>
                  <a:lnTo>
                    <a:pt x="25760" y="228992"/>
                  </a:lnTo>
                  <a:lnTo>
                    <a:pt x="11709" y="275254"/>
                  </a:lnTo>
                  <a:lnTo>
                    <a:pt x="2992" y="324040"/>
                  </a:lnTo>
                  <a:lnTo>
                    <a:pt x="0" y="374903"/>
                  </a:lnTo>
                  <a:lnTo>
                    <a:pt x="2992" y="425796"/>
                  </a:lnTo>
                  <a:lnTo>
                    <a:pt x="11709" y="474606"/>
                  </a:lnTo>
                  <a:lnTo>
                    <a:pt x="25760" y="520888"/>
                  </a:lnTo>
                  <a:lnTo>
                    <a:pt x="44754" y="564195"/>
                  </a:lnTo>
                  <a:lnTo>
                    <a:pt x="68302" y="604079"/>
                  </a:lnTo>
                  <a:lnTo>
                    <a:pt x="96011" y="640095"/>
                  </a:lnTo>
                  <a:lnTo>
                    <a:pt x="127493" y="671796"/>
                  </a:lnTo>
                  <a:lnTo>
                    <a:pt x="162356" y="698735"/>
                  </a:lnTo>
                  <a:lnTo>
                    <a:pt x="200210" y="720465"/>
                  </a:lnTo>
                  <a:lnTo>
                    <a:pt x="240664" y="736539"/>
                  </a:lnTo>
                  <a:lnTo>
                    <a:pt x="283329" y="746511"/>
                  </a:lnTo>
                  <a:lnTo>
                    <a:pt x="327812" y="749934"/>
                  </a:lnTo>
                  <a:lnTo>
                    <a:pt x="2702306" y="749934"/>
                  </a:lnTo>
                  <a:lnTo>
                    <a:pt x="2702306" y="748283"/>
                  </a:lnTo>
                  <a:lnTo>
                    <a:pt x="2716276" y="749934"/>
                  </a:lnTo>
                  <a:lnTo>
                    <a:pt x="2760742" y="746511"/>
                  </a:lnTo>
                  <a:lnTo>
                    <a:pt x="2803395" y="736540"/>
                  </a:lnTo>
                  <a:lnTo>
                    <a:pt x="2843841" y="720467"/>
                  </a:lnTo>
                  <a:lnTo>
                    <a:pt x="2881691" y="698739"/>
                  </a:lnTo>
                  <a:lnTo>
                    <a:pt x="2916552" y="671805"/>
                  </a:lnTo>
                  <a:lnTo>
                    <a:pt x="2948035" y="640111"/>
                  </a:lnTo>
                  <a:lnTo>
                    <a:pt x="2975747" y="604105"/>
                  </a:lnTo>
                  <a:lnTo>
                    <a:pt x="2999297" y="564232"/>
                  </a:lnTo>
                  <a:lnTo>
                    <a:pt x="3018295" y="520942"/>
                  </a:lnTo>
                  <a:lnTo>
                    <a:pt x="3032350" y="474680"/>
                  </a:lnTo>
                  <a:lnTo>
                    <a:pt x="3041069" y="425894"/>
                  </a:lnTo>
                  <a:lnTo>
                    <a:pt x="3044063" y="375030"/>
                  </a:lnTo>
                  <a:lnTo>
                    <a:pt x="3041069" y="324138"/>
                  </a:lnTo>
                  <a:lnTo>
                    <a:pt x="3032350" y="275328"/>
                  </a:lnTo>
                  <a:lnTo>
                    <a:pt x="3018295" y="229046"/>
                  </a:lnTo>
                  <a:lnTo>
                    <a:pt x="2999297" y="185739"/>
                  </a:lnTo>
                  <a:lnTo>
                    <a:pt x="2975747" y="145855"/>
                  </a:lnTo>
                  <a:lnTo>
                    <a:pt x="2948035" y="109839"/>
                  </a:lnTo>
                  <a:lnTo>
                    <a:pt x="2916552" y="78138"/>
                  </a:lnTo>
                  <a:lnTo>
                    <a:pt x="2881691" y="51199"/>
                  </a:lnTo>
                  <a:lnTo>
                    <a:pt x="2843841" y="29469"/>
                  </a:lnTo>
                  <a:lnTo>
                    <a:pt x="2803395" y="13395"/>
                  </a:lnTo>
                  <a:lnTo>
                    <a:pt x="2760742" y="3423"/>
                  </a:lnTo>
                  <a:lnTo>
                    <a:pt x="2716276" y="0"/>
                  </a:lnTo>
                  <a:close/>
                </a:path>
              </a:pathLst>
            </a:custGeom>
            <a:solidFill>
              <a:srgbClr val="39877A"/>
            </a:solidFill>
          </p:spPr>
          <p:txBody>
            <a:bodyPr wrap="square" lIns="0" tIns="0" rIns="0" bIns="0" rtlCol="0"/>
            <a:lstStyle/>
            <a:p/>
          </p:txBody>
        </p:sp>
        <p:sp>
          <p:nvSpPr>
            <p:cNvPr id="15" name="object 15"/>
            <p:cNvSpPr/>
            <p:nvPr/>
          </p:nvSpPr>
          <p:spPr>
            <a:xfrm>
              <a:off x="365125" y="132714"/>
              <a:ext cx="3044190" cy="749935"/>
            </a:xfrm>
            <a:custGeom>
              <a:avLst/>
              <a:gdLst/>
              <a:ahLst/>
              <a:cxnLst/>
              <a:rect l="l" t="t" r="r" b="b"/>
              <a:pathLst>
                <a:path w="3044190" h="749935">
                  <a:moveTo>
                    <a:pt x="327812" y="0"/>
                  </a:moveTo>
                  <a:lnTo>
                    <a:pt x="2702306" y="0"/>
                  </a:lnTo>
                  <a:lnTo>
                    <a:pt x="2702306" y="1650"/>
                  </a:lnTo>
                  <a:lnTo>
                    <a:pt x="2760742" y="3423"/>
                  </a:lnTo>
                  <a:lnTo>
                    <a:pt x="2803395" y="13395"/>
                  </a:lnTo>
                  <a:lnTo>
                    <a:pt x="2843841" y="29469"/>
                  </a:lnTo>
                  <a:lnTo>
                    <a:pt x="2881691" y="51199"/>
                  </a:lnTo>
                  <a:lnTo>
                    <a:pt x="2916552" y="78138"/>
                  </a:lnTo>
                  <a:lnTo>
                    <a:pt x="2948035" y="109839"/>
                  </a:lnTo>
                  <a:lnTo>
                    <a:pt x="2975747" y="145855"/>
                  </a:lnTo>
                  <a:lnTo>
                    <a:pt x="2999297" y="185739"/>
                  </a:lnTo>
                  <a:lnTo>
                    <a:pt x="3018295" y="229046"/>
                  </a:lnTo>
                  <a:lnTo>
                    <a:pt x="3032350" y="275328"/>
                  </a:lnTo>
                  <a:lnTo>
                    <a:pt x="3041069" y="324138"/>
                  </a:lnTo>
                  <a:lnTo>
                    <a:pt x="3044063" y="375030"/>
                  </a:lnTo>
                  <a:lnTo>
                    <a:pt x="3041069" y="425894"/>
                  </a:lnTo>
                  <a:lnTo>
                    <a:pt x="3032350" y="474680"/>
                  </a:lnTo>
                  <a:lnTo>
                    <a:pt x="3018295" y="520942"/>
                  </a:lnTo>
                  <a:lnTo>
                    <a:pt x="2999297" y="564232"/>
                  </a:lnTo>
                  <a:lnTo>
                    <a:pt x="2975747" y="604105"/>
                  </a:lnTo>
                  <a:lnTo>
                    <a:pt x="2948035" y="640111"/>
                  </a:lnTo>
                  <a:lnTo>
                    <a:pt x="2916552" y="671805"/>
                  </a:lnTo>
                  <a:lnTo>
                    <a:pt x="2881691" y="698739"/>
                  </a:lnTo>
                  <a:lnTo>
                    <a:pt x="2843841" y="720467"/>
                  </a:lnTo>
                  <a:lnTo>
                    <a:pt x="2803395" y="736540"/>
                  </a:lnTo>
                  <a:lnTo>
                    <a:pt x="2760742" y="746511"/>
                  </a:lnTo>
                  <a:lnTo>
                    <a:pt x="2716276" y="749934"/>
                  </a:lnTo>
                  <a:lnTo>
                    <a:pt x="2702306" y="748283"/>
                  </a:lnTo>
                  <a:lnTo>
                    <a:pt x="2702306" y="749934"/>
                  </a:lnTo>
                  <a:lnTo>
                    <a:pt x="327812" y="749934"/>
                  </a:lnTo>
                  <a:lnTo>
                    <a:pt x="283329" y="746511"/>
                  </a:lnTo>
                  <a:lnTo>
                    <a:pt x="240664" y="736539"/>
                  </a:lnTo>
                  <a:lnTo>
                    <a:pt x="200210" y="720465"/>
                  </a:lnTo>
                  <a:lnTo>
                    <a:pt x="162356" y="698735"/>
                  </a:lnTo>
                  <a:lnTo>
                    <a:pt x="127493" y="671796"/>
                  </a:lnTo>
                  <a:lnTo>
                    <a:pt x="96011" y="640095"/>
                  </a:lnTo>
                  <a:lnTo>
                    <a:pt x="68302" y="604079"/>
                  </a:lnTo>
                  <a:lnTo>
                    <a:pt x="44754" y="564195"/>
                  </a:lnTo>
                  <a:lnTo>
                    <a:pt x="25760" y="520888"/>
                  </a:lnTo>
                  <a:lnTo>
                    <a:pt x="11709" y="474606"/>
                  </a:lnTo>
                  <a:lnTo>
                    <a:pt x="2992" y="425796"/>
                  </a:lnTo>
                  <a:lnTo>
                    <a:pt x="0" y="374903"/>
                  </a:lnTo>
                  <a:lnTo>
                    <a:pt x="2992" y="324040"/>
                  </a:lnTo>
                  <a:lnTo>
                    <a:pt x="11709" y="275254"/>
                  </a:lnTo>
                  <a:lnTo>
                    <a:pt x="25760" y="228992"/>
                  </a:lnTo>
                  <a:lnTo>
                    <a:pt x="44754" y="185702"/>
                  </a:lnTo>
                  <a:lnTo>
                    <a:pt x="68302" y="145829"/>
                  </a:lnTo>
                  <a:lnTo>
                    <a:pt x="96011" y="109823"/>
                  </a:lnTo>
                  <a:lnTo>
                    <a:pt x="127493" y="78129"/>
                  </a:lnTo>
                  <a:lnTo>
                    <a:pt x="162356" y="51195"/>
                  </a:lnTo>
                  <a:lnTo>
                    <a:pt x="200210" y="29467"/>
                  </a:lnTo>
                  <a:lnTo>
                    <a:pt x="240664" y="13394"/>
                  </a:lnTo>
                  <a:lnTo>
                    <a:pt x="283329" y="3423"/>
                  </a:lnTo>
                  <a:lnTo>
                    <a:pt x="327812" y="0"/>
                  </a:lnTo>
                  <a:close/>
                </a:path>
              </a:pathLst>
            </a:custGeom>
            <a:ln w="38099">
              <a:solidFill>
                <a:srgbClr val="006453"/>
              </a:solidFill>
            </a:ln>
          </p:spPr>
          <p:txBody>
            <a:bodyPr wrap="square" lIns="0" tIns="0" rIns="0" bIns="0" rtlCol="0"/>
            <a:lstStyle/>
            <a:p/>
          </p:txBody>
        </p:sp>
        <p:pic>
          <p:nvPicPr>
            <p:cNvPr id="16" name="object 16"/>
            <p:cNvPicPr/>
            <p:nvPr/>
          </p:nvPicPr>
          <p:blipFill>
            <a:blip r:embed="rId2"/>
            <a:stretch>
              <a:fillRect/>
            </a:stretch>
          </p:blipFill>
          <p:spPr>
            <a:xfrm>
              <a:off x="493077" y="198704"/>
              <a:ext cx="485419" cy="617905"/>
            </a:xfrm>
            <a:prstGeom prst="rect">
              <a:avLst/>
            </a:prstGeom>
          </p:spPr>
        </p:pic>
        <p:sp>
          <p:nvSpPr>
            <p:cNvPr id="17" name="object 17"/>
            <p:cNvSpPr/>
            <p:nvPr/>
          </p:nvSpPr>
          <p:spPr>
            <a:xfrm>
              <a:off x="977900" y="276860"/>
              <a:ext cx="2329180" cy="460375"/>
            </a:xfrm>
            <a:custGeom>
              <a:avLst/>
              <a:gdLst/>
              <a:ahLst/>
              <a:cxnLst/>
              <a:rect l="l" t="t" r="r" b="b"/>
              <a:pathLst>
                <a:path w="2329179" h="460375">
                  <a:moveTo>
                    <a:pt x="2329179" y="0"/>
                  </a:moveTo>
                  <a:lnTo>
                    <a:pt x="0" y="0"/>
                  </a:lnTo>
                  <a:lnTo>
                    <a:pt x="0" y="460375"/>
                  </a:lnTo>
                  <a:lnTo>
                    <a:pt x="2329179" y="460375"/>
                  </a:lnTo>
                  <a:lnTo>
                    <a:pt x="2329179" y="0"/>
                  </a:lnTo>
                  <a:close/>
                </a:path>
              </a:pathLst>
            </a:custGeom>
            <a:solidFill>
              <a:srgbClr val="39877A"/>
            </a:solidFill>
          </p:spPr>
          <p:txBody>
            <a:bodyPr wrap="square" lIns="0" tIns="0" rIns="0" bIns="0" rtlCol="0"/>
            <a:lstStyle/>
            <a:p/>
          </p:txBody>
        </p:sp>
      </p:grpSp>
      <p:sp>
        <p:nvSpPr>
          <p:cNvPr id="18" name="object 18"/>
          <p:cNvSpPr txBox="1">
            <a:spLocks noGrp="1"/>
          </p:cNvSpPr>
          <p:nvPr>
            <p:ph type="title"/>
          </p:nvPr>
        </p:nvSpPr>
        <p:spPr>
          <a:xfrm>
            <a:off x="1056843" y="319278"/>
            <a:ext cx="2169795" cy="391160"/>
          </a:xfrm>
          <a:prstGeom prst="rect">
            <a:avLst/>
          </a:prstGeom>
        </p:spPr>
        <p:txBody>
          <a:bodyPr vert="horz" wrap="square" lIns="0" tIns="12700" rIns="0" bIns="0" rtlCol="0">
            <a:spAutoFit/>
          </a:bodyPr>
          <a:lstStyle/>
          <a:p>
            <a:pPr marL="12700">
              <a:lnSpc>
                <a:spcPct val="100000"/>
              </a:lnSpc>
              <a:spcBef>
                <a:spcPts val="100"/>
              </a:spcBef>
            </a:pPr>
            <a:r>
              <a:rPr spc="-20"/>
              <a:t>研究背景及意</a:t>
            </a:r>
            <a:r>
              <a:rPr spc="-50"/>
              <a:t>义</a:t>
            </a:r>
            <a:endParaRPr spc="-50"/>
          </a:p>
        </p:txBody>
      </p:sp>
      <p:sp>
        <p:nvSpPr>
          <p:cNvPr id="25" name="文本框 24"/>
          <p:cNvSpPr txBox="1"/>
          <p:nvPr/>
        </p:nvSpPr>
        <p:spPr>
          <a:xfrm>
            <a:off x="304800" y="1981200"/>
            <a:ext cx="3116580" cy="3974465"/>
          </a:xfrm>
          <a:prstGeom prst="rect">
            <a:avLst/>
          </a:prstGeom>
          <a:noFill/>
        </p:spPr>
        <p:txBody>
          <a:bodyPr wrap="square" rtlCol="0">
            <a:noAutofit/>
          </a:bodyPr>
          <a:p>
            <a:pPr marL="12700" marR="0" algn="l" rtl="0" eaLnBrk="1" fontAlgn="auto" latinLnBrk="0" hangingPunct="1">
              <a:spcBef>
                <a:spcPts val="100"/>
              </a:spcBef>
              <a:buClrTx/>
              <a:buSzTx/>
              <a:buFontTx/>
              <a:buNone/>
            </a:pPr>
            <a:r>
              <a:rPr kumimoji="0" lang="zh-CN" altLang="en-US" sz="2000" b="0" i="0" u="none" strike="noStrike" kern="0" cap="none" spc="-10" normalizeH="0" baseline="0" noProof="1">
                <a:latin typeface="等线" panose="02010600030101010101" charset="-122"/>
                <a:ea typeface="Arial" panose="020B0604020202020204" pitchFamily="34" charset="0"/>
                <a:cs typeface="等线" panose="02010600030101010101" charset="-122"/>
              </a:rPr>
              <a:t>提出一种结合传统中医理论与现代骨架提取技术的动态定位策略，引入中医“骨度分寸”方法，通过视觉提取人体骨架关键点如肩峰、肘横纹等，计算个体化的“一寸”物理长度，建立基于人体解剖结构的比例因子。 摒弃绝对坐标定位，采用基于骨架关键点的相对坐标体系，动态调整穴位的预测区域，实现穴位随人体姿态变化的同步动态追踪与精准锚定。</a:t>
            </a:r>
            <a:endParaRPr kumimoji="0" lang="zh-CN" altLang="en-US" sz="2000" b="0" i="0" u="none" strike="noStrike" kern="0" cap="none" spc="-10" normalizeH="0" baseline="0" noProof="1">
              <a:latin typeface="等线" panose="02010600030101010101" charset="-122"/>
              <a:ea typeface="Arial" panose="020B0604020202020204" pitchFamily="34" charset="0"/>
              <a:cs typeface="等线" panose="02010600030101010101" charset="-122"/>
            </a:endParaRPr>
          </a:p>
        </p:txBody>
      </p:sp>
      <p:pic>
        <p:nvPicPr>
          <p:cNvPr id="24" name="图片 23" descr="body_with_landmark"/>
          <p:cNvPicPr>
            <a:picLocks noChangeAspect="1"/>
          </p:cNvPicPr>
          <p:nvPr/>
        </p:nvPicPr>
        <p:blipFill>
          <a:blip r:embed="rId3"/>
          <a:stretch>
            <a:fillRect/>
          </a:stretch>
        </p:blipFill>
        <p:spPr>
          <a:xfrm>
            <a:off x="6740525" y="1933575"/>
            <a:ext cx="2726690" cy="4362450"/>
          </a:xfrm>
          <a:prstGeom prst="rect">
            <a:avLst/>
          </a:prstGeom>
        </p:spPr>
      </p:pic>
      <p:pic>
        <p:nvPicPr>
          <p:cNvPr id="26" name="图片 25" descr="瘦"/>
          <p:cNvPicPr>
            <a:picLocks noChangeAspect="1"/>
          </p:cNvPicPr>
          <p:nvPr/>
        </p:nvPicPr>
        <p:blipFill>
          <a:blip r:embed="rId4"/>
          <a:stretch>
            <a:fillRect/>
          </a:stretch>
        </p:blipFill>
        <p:spPr>
          <a:xfrm>
            <a:off x="9372600" y="1888490"/>
            <a:ext cx="2761615" cy="4418330"/>
          </a:xfrm>
          <a:prstGeom prst="rect">
            <a:avLst/>
          </a:prstGeom>
        </p:spPr>
      </p:pic>
      <p:sp>
        <p:nvSpPr>
          <p:cNvPr id="27" name="object 9"/>
          <p:cNvSpPr txBox="1"/>
          <p:nvPr/>
        </p:nvSpPr>
        <p:spPr>
          <a:xfrm>
            <a:off x="3778885" y="1561465"/>
            <a:ext cx="2962275" cy="289560"/>
          </a:xfrm>
          <a:prstGeom prst="rect">
            <a:avLst/>
          </a:prstGeom>
        </p:spPr>
        <p:txBody>
          <a:bodyPr vert="horz" wrap="square" lIns="0" tIns="12700" rIns="0" bIns="0" rtlCol="0">
            <a:spAutoFit/>
          </a:bodyPr>
          <a:lstStyle/>
          <a:p>
            <a:pPr marL="12700" algn="ctr">
              <a:lnSpc>
                <a:spcPct val="100000"/>
              </a:lnSpc>
              <a:spcBef>
                <a:spcPts val="100"/>
              </a:spcBef>
            </a:pPr>
            <a:r>
              <a:rPr lang="zh-CN" altLang="en-US" sz="1800" spc="-10">
                <a:latin typeface="等线" panose="02010600030101010101" charset="-122"/>
                <a:cs typeface="等线" panose="02010600030101010101" charset="-122"/>
              </a:rPr>
              <a:t>图</a:t>
            </a:r>
            <a:r>
              <a:rPr lang="en-US" altLang="zh-CN" sz="1800" spc="-10">
                <a:latin typeface="等线" panose="02010600030101010101" charset="-122"/>
                <a:cs typeface="等线" panose="02010600030101010101" charset="-122"/>
              </a:rPr>
              <a:t>A </a:t>
            </a:r>
            <a:r>
              <a:rPr lang="zh-CN" altLang="en-US" sz="1800" spc="-10">
                <a:latin typeface="等线" panose="02010600030101010101" charset="-122"/>
                <a:cs typeface="等线" panose="02010600030101010101" charset="-122"/>
              </a:rPr>
              <a:t>遮挡</a:t>
            </a:r>
            <a:r>
              <a:rPr lang="zh-CN" altLang="en-US" sz="1800" spc="-10">
                <a:latin typeface="等线" panose="02010600030101010101" charset="-122"/>
                <a:cs typeface="等线" panose="02010600030101010101" charset="-122"/>
              </a:rPr>
              <a:t>识别</a:t>
            </a:r>
            <a:endParaRPr lang="zh-CN" altLang="en-US" sz="1800" spc="-10">
              <a:latin typeface="等线" panose="02010600030101010101" charset="-122"/>
              <a:cs typeface="等线" panose="02010600030101010101" charset="-122"/>
            </a:endParaRPr>
          </a:p>
        </p:txBody>
      </p:sp>
      <p:sp>
        <p:nvSpPr>
          <p:cNvPr id="28" name="object 9"/>
          <p:cNvSpPr txBox="1"/>
          <p:nvPr/>
        </p:nvSpPr>
        <p:spPr>
          <a:xfrm>
            <a:off x="6740525" y="1561465"/>
            <a:ext cx="2631440" cy="289560"/>
          </a:xfrm>
          <a:prstGeom prst="rect">
            <a:avLst/>
          </a:prstGeom>
        </p:spPr>
        <p:txBody>
          <a:bodyPr vert="horz" wrap="square" lIns="0" tIns="12700" rIns="0" bIns="0" rtlCol="0">
            <a:spAutoFit/>
          </a:bodyPr>
          <a:lstStyle/>
          <a:p>
            <a:pPr marL="12700" algn="ctr">
              <a:lnSpc>
                <a:spcPct val="100000"/>
              </a:lnSpc>
              <a:spcBef>
                <a:spcPts val="100"/>
              </a:spcBef>
            </a:pPr>
            <a:r>
              <a:rPr lang="zh-CN" altLang="en-US" sz="1800" spc="-10">
                <a:latin typeface="等线" panose="02010600030101010101" charset="-122"/>
                <a:cs typeface="等线" panose="02010600030101010101" charset="-122"/>
              </a:rPr>
              <a:t>图</a:t>
            </a:r>
            <a:r>
              <a:rPr lang="en-US" altLang="zh-CN" sz="1800" spc="-10">
                <a:latin typeface="等线" panose="02010600030101010101" charset="-122"/>
                <a:cs typeface="等线" panose="02010600030101010101" charset="-122"/>
              </a:rPr>
              <a:t>B </a:t>
            </a:r>
            <a:r>
              <a:rPr lang="zh-CN" altLang="en-US" sz="1800" spc="-10">
                <a:latin typeface="等线" panose="02010600030101010101" charset="-122"/>
                <a:cs typeface="等线" panose="02010600030101010101" charset="-122"/>
              </a:rPr>
              <a:t>人体中线</a:t>
            </a:r>
            <a:r>
              <a:rPr lang="zh-CN" altLang="en-US" sz="1800" spc="-10">
                <a:latin typeface="等线" panose="02010600030101010101" charset="-122"/>
                <a:cs typeface="等线" panose="02010600030101010101" charset="-122"/>
              </a:rPr>
              <a:t>锚定</a:t>
            </a:r>
            <a:endParaRPr lang="zh-CN" altLang="en-US" sz="1800" spc="-10">
              <a:latin typeface="等线" panose="02010600030101010101" charset="-122"/>
              <a:cs typeface="等线" panose="02010600030101010101" charset="-122"/>
            </a:endParaRPr>
          </a:p>
        </p:txBody>
      </p:sp>
      <p:sp>
        <p:nvSpPr>
          <p:cNvPr id="29" name="object 9"/>
          <p:cNvSpPr txBox="1"/>
          <p:nvPr/>
        </p:nvSpPr>
        <p:spPr>
          <a:xfrm>
            <a:off x="10001885" y="1524000"/>
            <a:ext cx="1513840" cy="289560"/>
          </a:xfrm>
          <a:prstGeom prst="rect">
            <a:avLst/>
          </a:prstGeom>
        </p:spPr>
        <p:txBody>
          <a:bodyPr vert="horz" wrap="square" lIns="0" tIns="12700" rIns="0" bIns="0" rtlCol="0">
            <a:spAutoFit/>
          </a:bodyPr>
          <a:lstStyle/>
          <a:p>
            <a:pPr marL="12700">
              <a:lnSpc>
                <a:spcPct val="100000"/>
              </a:lnSpc>
              <a:spcBef>
                <a:spcPts val="100"/>
              </a:spcBef>
            </a:pPr>
            <a:r>
              <a:rPr lang="zh-CN" altLang="en-US" sz="1800" spc="-10">
                <a:latin typeface="等线" panose="02010600030101010101" charset="-122"/>
                <a:cs typeface="等线" panose="02010600030101010101" charset="-122"/>
              </a:rPr>
              <a:t>图</a:t>
            </a:r>
            <a:r>
              <a:rPr lang="en-US" altLang="zh-CN" sz="1800" spc="-10">
                <a:latin typeface="等线" panose="02010600030101010101" charset="-122"/>
                <a:cs typeface="等线" panose="02010600030101010101" charset="-122"/>
              </a:rPr>
              <a:t>C </a:t>
            </a:r>
            <a:r>
              <a:rPr lang="zh-CN" altLang="en-US" sz="1800" spc="-10">
                <a:latin typeface="等线" panose="02010600030101010101" charset="-122"/>
                <a:cs typeface="等线" panose="02010600030101010101" charset="-122"/>
              </a:rPr>
              <a:t>穴位</a:t>
            </a:r>
            <a:r>
              <a:rPr lang="zh-CN" altLang="en-US" sz="1800" spc="-10">
                <a:latin typeface="等线" panose="02010600030101010101" charset="-122"/>
                <a:cs typeface="等线" panose="02010600030101010101" charset="-122"/>
              </a:rPr>
              <a:t>识别</a:t>
            </a:r>
            <a:endParaRPr lang="zh-CN" altLang="en-US" sz="1800" spc="-10">
              <a:latin typeface="等线" panose="02010600030101010101" charset="-122"/>
              <a:cs typeface="等线" panose="02010600030101010101" charset="-122"/>
            </a:endParaRPr>
          </a:p>
        </p:txBody>
      </p:sp>
      <p:pic>
        <p:nvPicPr>
          <p:cNvPr id="30" name="图片 29" descr="遮挡"/>
          <p:cNvPicPr>
            <a:picLocks noChangeAspect="1"/>
          </p:cNvPicPr>
          <p:nvPr/>
        </p:nvPicPr>
        <p:blipFill>
          <a:blip r:embed="rId5"/>
          <a:stretch>
            <a:fillRect/>
          </a:stretch>
        </p:blipFill>
        <p:spPr>
          <a:xfrm>
            <a:off x="3778885" y="1875155"/>
            <a:ext cx="2961640" cy="442087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24404" y="3589731"/>
            <a:ext cx="4929505" cy="751205"/>
          </a:xfrm>
          <a:prstGeom prst="rect">
            <a:avLst/>
          </a:prstGeom>
        </p:spPr>
        <p:txBody>
          <a:bodyPr vert="horz" wrap="square" lIns="0" tIns="12700" rIns="0" bIns="0" rtlCol="0">
            <a:spAutoFit/>
          </a:bodyPr>
          <a:lstStyle/>
          <a:p>
            <a:pPr marL="12700">
              <a:lnSpc>
                <a:spcPct val="100000"/>
              </a:lnSpc>
              <a:spcBef>
                <a:spcPts val="100"/>
              </a:spcBef>
            </a:pPr>
            <a:r>
              <a:rPr lang="zh-CN" altLang="en-US" sz="4800" b="1" spc="-35">
                <a:solidFill>
                  <a:srgbClr val="FFFFFF"/>
                </a:solidFill>
                <a:latin typeface="楷体" panose="02010609060101010101" charset="-122"/>
                <a:cs typeface="楷体" panose="02010609060101010101" charset="-122"/>
              </a:rPr>
              <a:t>点云滤波</a:t>
            </a:r>
            <a:r>
              <a:rPr lang="zh-CN" altLang="en-US" sz="4800" b="1" spc="-35">
                <a:solidFill>
                  <a:srgbClr val="FFFFFF"/>
                </a:solidFill>
                <a:latin typeface="楷体" panose="02010609060101010101" charset="-122"/>
                <a:cs typeface="楷体" panose="02010609060101010101" charset="-122"/>
              </a:rPr>
              <a:t>处理</a:t>
            </a:r>
            <a:endParaRPr lang="zh-CN" altLang="en-US" sz="4800" b="1" spc="-35">
              <a:solidFill>
                <a:srgbClr val="FFFFFF"/>
              </a:solidFill>
              <a:latin typeface="楷体" panose="02010609060101010101" charset="-122"/>
              <a:cs typeface="楷体" panose="02010609060101010101" charset="-122"/>
            </a:endParaRPr>
          </a:p>
        </p:txBody>
      </p:sp>
      <p:grpSp>
        <p:nvGrpSpPr>
          <p:cNvPr id="3" name="object 3"/>
          <p:cNvGrpSpPr/>
          <p:nvPr/>
        </p:nvGrpSpPr>
        <p:grpSpPr>
          <a:xfrm>
            <a:off x="7976361" y="1990089"/>
            <a:ext cx="3702685" cy="3495040"/>
            <a:chOff x="7976361" y="1990089"/>
            <a:chExt cx="3702685" cy="3495040"/>
          </a:xfrm>
        </p:grpSpPr>
        <p:sp>
          <p:nvSpPr>
            <p:cNvPr id="4" name="object 4"/>
            <p:cNvSpPr/>
            <p:nvPr/>
          </p:nvSpPr>
          <p:spPr>
            <a:xfrm>
              <a:off x="7982711" y="1996439"/>
              <a:ext cx="3689985" cy="3482340"/>
            </a:xfrm>
            <a:custGeom>
              <a:avLst/>
              <a:gdLst/>
              <a:ahLst/>
              <a:cxnLst/>
              <a:rect l="l" t="t" r="r" b="b"/>
              <a:pathLst>
                <a:path w="3689984" h="3482340">
                  <a:moveTo>
                    <a:pt x="3689858" y="0"/>
                  </a:moveTo>
                  <a:lnTo>
                    <a:pt x="0" y="0"/>
                  </a:lnTo>
                  <a:lnTo>
                    <a:pt x="3689858" y="3482086"/>
                  </a:lnTo>
                  <a:lnTo>
                    <a:pt x="3689858" y="0"/>
                  </a:lnTo>
                  <a:close/>
                </a:path>
              </a:pathLst>
            </a:custGeom>
            <a:solidFill>
              <a:srgbClr val="435D4E">
                <a:alpha val="58822"/>
              </a:srgbClr>
            </a:solidFill>
          </p:spPr>
          <p:txBody>
            <a:bodyPr wrap="square" lIns="0" tIns="0" rIns="0" bIns="0" rtlCol="0"/>
            <a:lstStyle/>
            <a:p/>
          </p:txBody>
        </p:sp>
        <p:sp>
          <p:nvSpPr>
            <p:cNvPr id="5" name="object 5"/>
            <p:cNvSpPr/>
            <p:nvPr/>
          </p:nvSpPr>
          <p:spPr>
            <a:xfrm>
              <a:off x="7982711" y="1996439"/>
              <a:ext cx="3689985" cy="3482340"/>
            </a:xfrm>
            <a:custGeom>
              <a:avLst/>
              <a:gdLst/>
              <a:ahLst/>
              <a:cxnLst/>
              <a:rect l="l" t="t" r="r" b="b"/>
              <a:pathLst>
                <a:path w="3689984" h="3482340">
                  <a:moveTo>
                    <a:pt x="3689858" y="0"/>
                  </a:moveTo>
                  <a:lnTo>
                    <a:pt x="3689858" y="3482086"/>
                  </a:lnTo>
                  <a:lnTo>
                    <a:pt x="0" y="0"/>
                  </a:lnTo>
                  <a:lnTo>
                    <a:pt x="3689858" y="0"/>
                  </a:lnTo>
                  <a:close/>
                </a:path>
              </a:pathLst>
            </a:custGeom>
            <a:ln w="12700">
              <a:solidFill>
                <a:srgbClr val="172C51"/>
              </a:solidFill>
            </a:ln>
          </p:spPr>
          <p:txBody>
            <a:bodyPr wrap="square" lIns="0" tIns="0" rIns="0" bIns="0" rtlCol="0"/>
            <a:lstStyle/>
            <a:p/>
          </p:txBody>
        </p:sp>
      </p:grpSp>
      <p:sp>
        <p:nvSpPr>
          <p:cNvPr id="6" name="object 6"/>
          <p:cNvSpPr txBox="1"/>
          <p:nvPr/>
        </p:nvSpPr>
        <p:spPr>
          <a:xfrm>
            <a:off x="9117583" y="2308047"/>
            <a:ext cx="2439670" cy="635000"/>
          </a:xfrm>
          <a:prstGeom prst="rect">
            <a:avLst/>
          </a:prstGeom>
        </p:spPr>
        <p:txBody>
          <a:bodyPr vert="horz" wrap="square" lIns="0" tIns="12065" rIns="0" bIns="0" rtlCol="0">
            <a:spAutoFit/>
          </a:bodyPr>
          <a:lstStyle/>
          <a:p>
            <a:pPr marL="12700">
              <a:lnSpc>
                <a:spcPct val="100000"/>
              </a:lnSpc>
              <a:spcBef>
                <a:spcPts val="95"/>
              </a:spcBef>
            </a:pPr>
            <a:r>
              <a:rPr sz="4000">
                <a:solidFill>
                  <a:srgbClr val="FFFFFF"/>
                </a:solidFill>
                <a:latin typeface="等线" panose="02010600030101010101" charset="-122"/>
                <a:cs typeface="等线" panose="02010600030101010101" charset="-122"/>
              </a:rPr>
              <a:t>PART</a:t>
            </a:r>
            <a:r>
              <a:rPr sz="4000" spc="-75">
                <a:solidFill>
                  <a:srgbClr val="FFFFFF"/>
                </a:solidFill>
                <a:latin typeface="等线" panose="02010600030101010101" charset="-122"/>
                <a:cs typeface="等线" panose="02010600030101010101" charset="-122"/>
              </a:rPr>
              <a:t> </a:t>
            </a:r>
            <a:r>
              <a:rPr sz="4000" spc="-25">
                <a:solidFill>
                  <a:srgbClr val="FFFFFF"/>
                </a:solidFill>
                <a:latin typeface="等线" panose="02010600030101010101" charset="-122"/>
                <a:cs typeface="等线" panose="02010600030101010101" charset="-122"/>
              </a:rPr>
              <a:t>TWO</a:t>
            </a:r>
            <a:endParaRPr sz="4000">
              <a:latin typeface="等线" panose="02010600030101010101" charset="-122"/>
              <a:cs typeface="等线" panose="02010600030101010101" charset="-122"/>
            </a:endParaRPr>
          </a:p>
        </p:txBody>
      </p:sp>
      <p:pic>
        <p:nvPicPr>
          <p:cNvPr id="7" name="object 7"/>
          <p:cNvPicPr/>
          <p:nvPr/>
        </p:nvPicPr>
        <p:blipFill>
          <a:blip r:embed="rId1"/>
          <a:stretch>
            <a:fillRect/>
          </a:stretch>
        </p:blipFill>
        <p:spPr>
          <a:xfrm>
            <a:off x="132348" y="114384"/>
            <a:ext cx="741145" cy="740188"/>
          </a:xfrm>
          <a:prstGeom prst="rect">
            <a:avLst/>
          </a:prstGeom>
        </p:spPr>
      </p:pic>
      <p:sp>
        <p:nvSpPr>
          <p:cNvPr id="8" name="object 8"/>
          <p:cNvSpPr txBox="1"/>
          <p:nvPr/>
        </p:nvSpPr>
        <p:spPr>
          <a:xfrm>
            <a:off x="938580" y="56923"/>
            <a:ext cx="2463800" cy="730885"/>
          </a:xfrm>
          <a:prstGeom prst="rect">
            <a:avLst/>
          </a:prstGeom>
        </p:spPr>
        <p:txBody>
          <a:bodyPr vert="horz" wrap="square" lIns="0" tIns="145415" rIns="0" bIns="0" rtlCol="0">
            <a:spAutoFit/>
          </a:bodyPr>
          <a:lstStyle/>
          <a:p>
            <a:pPr marL="12700">
              <a:lnSpc>
                <a:spcPct val="100000"/>
              </a:lnSpc>
              <a:spcBef>
                <a:spcPts val="1145"/>
              </a:spcBef>
            </a:pPr>
            <a:r>
              <a:rPr sz="2400" spc="-10">
                <a:latin typeface="PMingLiU"/>
                <a:cs typeface="PMingLiU"/>
              </a:rPr>
              <a:t>上海应用技术大学</a:t>
            </a:r>
            <a:endParaRPr sz="2400">
              <a:latin typeface="PMingLiU"/>
              <a:cs typeface="PMingLiU"/>
            </a:endParaRPr>
          </a:p>
          <a:p>
            <a:pPr marL="48895">
              <a:lnSpc>
                <a:spcPct val="100000"/>
              </a:lnSpc>
              <a:spcBef>
                <a:spcPts val="430"/>
              </a:spcBef>
            </a:pPr>
            <a:r>
              <a:rPr sz="1000" b="1">
                <a:latin typeface="微软雅黑" panose="020B0503020204020204" charset="-122"/>
                <a:cs typeface="微软雅黑" panose="020B0503020204020204" charset="-122"/>
              </a:rPr>
              <a:t>Shanghai</a:t>
            </a:r>
            <a:r>
              <a:rPr sz="1000" b="1" spc="280">
                <a:latin typeface="微软雅黑" panose="020B0503020204020204" charset="-122"/>
                <a:cs typeface="微软雅黑" panose="020B0503020204020204" charset="-122"/>
              </a:rPr>
              <a:t> </a:t>
            </a:r>
            <a:r>
              <a:rPr sz="1000" b="1">
                <a:latin typeface="微软雅黑" panose="020B0503020204020204" charset="-122"/>
                <a:cs typeface="微软雅黑" panose="020B0503020204020204" charset="-122"/>
              </a:rPr>
              <a:t>Institute</a:t>
            </a:r>
            <a:r>
              <a:rPr sz="1000" b="1" spc="290">
                <a:latin typeface="微软雅黑" panose="020B0503020204020204" charset="-122"/>
                <a:cs typeface="微软雅黑" panose="020B0503020204020204" charset="-122"/>
              </a:rPr>
              <a:t> </a:t>
            </a:r>
            <a:r>
              <a:rPr sz="1000" b="1">
                <a:latin typeface="微软雅黑" panose="020B0503020204020204" charset="-122"/>
                <a:cs typeface="微软雅黑" panose="020B0503020204020204" charset="-122"/>
              </a:rPr>
              <a:t>of</a:t>
            </a:r>
            <a:r>
              <a:rPr sz="1000" b="1" spc="120">
                <a:latin typeface="微软雅黑" panose="020B0503020204020204" charset="-122"/>
                <a:cs typeface="微软雅黑" panose="020B0503020204020204" charset="-122"/>
              </a:rPr>
              <a:t>  </a:t>
            </a:r>
            <a:r>
              <a:rPr sz="1000" b="1" spc="-10">
                <a:latin typeface="微软雅黑" panose="020B0503020204020204" charset="-122"/>
                <a:cs typeface="微软雅黑" panose="020B0503020204020204" charset="-122"/>
              </a:rPr>
              <a:t>Technology</a:t>
            </a:r>
            <a:endParaRPr sz="1000">
              <a:latin typeface="微软雅黑" panose="020B0503020204020204" charset="-122"/>
              <a:cs typeface="微软雅黑" panose="020B0503020204020204" charset="-122"/>
            </a:endParaRPr>
          </a:p>
        </p:txBody>
      </p:sp>
      <p:grpSp>
        <p:nvGrpSpPr>
          <p:cNvPr id="9" name="object 9"/>
          <p:cNvGrpSpPr/>
          <p:nvPr/>
        </p:nvGrpSpPr>
        <p:grpSpPr>
          <a:xfrm>
            <a:off x="9336023" y="3715524"/>
            <a:ext cx="2557145" cy="2444115"/>
            <a:chOff x="9336023" y="3715524"/>
            <a:chExt cx="2557145" cy="2444115"/>
          </a:xfrm>
        </p:grpSpPr>
        <p:pic>
          <p:nvPicPr>
            <p:cNvPr id="10" name="object 10"/>
            <p:cNvPicPr/>
            <p:nvPr/>
          </p:nvPicPr>
          <p:blipFill>
            <a:blip r:embed="rId2"/>
            <a:stretch>
              <a:fillRect/>
            </a:stretch>
          </p:blipFill>
          <p:spPr>
            <a:xfrm>
              <a:off x="9480803" y="4000500"/>
              <a:ext cx="2267330" cy="1554099"/>
            </a:xfrm>
            <a:prstGeom prst="rect">
              <a:avLst/>
            </a:prstGeom>
          </p:spPr>
        </p:pic>
        <p:pic>
          <p:nvPicPr>
            <p:cNvPr id="11" name="object 11"/>
            <p:cNvPicPr/>
            <p:nvPr/>
          </p:nvPicPr>
          <p:blipFill>
            <a:blip r:embed="rId3"/>
            <a:stretch>
              <a:fillRect/>
            </a:stretch>
          </p:blipFill>
          <p:spPr>
            <a:xfrm>
              <a:off x="9336023" y="3715524"/>
              <a:ext cx="2556891" cy="2444115"/>
            </a:xfrm>
            <a:prstGeom prst="rect">
              <a:avLst/>
            </a:prstGeom>
          </p:spPr>
        </p:pic>
      </p:grpSp>
      <p:sp>
        <p:nvSpPr>
          <p:cNvPr id="12" name="object 12"/>
          <p:cNvSpPr txBox="1"/>
          <p:nvPr/>
        </p:nvSpPr>
        <p:spPr>
          <a:xfrm>
            <a:off x="9512554" y="4031996"/>
            <a:ext cx="2160270" cy="1446530"/>
          </a:xfrm>
          <a:prstGeom prst="rect">
            <a:avLst/>
          </a:prstGeom>
          <a:solidFill>
            <a:srgbClr val="435D4E"/>
          </a:solidFill>
          <a:ln w="9525">
            <a:solidFill>
              <a:srgbClr val="A6A6A6"/>
            </a:solidFill>
          </a:ln>
        </p:spPr>
        <p:txBody>
          <a:bodyPr vert="horz" wrap="square" lIns="0" tIns="8255" rIns="0" bIns="0" rtlCol="0">
            <a:spAutoFit/>
          </a:bodyPr>
          <a:lstStyle/>
          <a:p>
            <a:pPr marL="521335">
              <a:lnSpc>
                <a:spcPct val="100000"/>
              </a:lnSpc>
              <a:spcBef>
                <a:spcPts val="65"/>
              </a:spcBef>
            </a:pPr>
            <a:r>
              <a:rPr sz="8800" b="1" spc="-25">
                <a:solidFill>
                  <a:srgbClr val="FFFFFF"/>
                </a:solidFill>
                <a:latin typeface="Times New Roman" panose="02020603050405020304"/>
                <a:cs typeface="Times New Roman" panose="02020603050405020304"/>
              </a:rPr>
              <a:t>02</a:t>
            </a:r>
            <a:endParaRPr sz="8800">
              <a:latin typeface="Times New Roman" panose="02020603050405020304"/>
              <a:cs typeface="Times New Roman" panose="02020603050405020304"/>
            </a:endParaRPr>
          </a:p>
        </p:txBody>
      </p:sp>
      <p:pic>
        <p:nvPicPr>
          <p:cNvPr id="13" name="图片 12" descr="机械臂"/>
          <p:cNvPicPr>
            <a:picLocks noChangeAspect="1"/>
          </p:cNvPicPr>
          <p:nvPr/>
        </p:nvPicPr>
        <p:blipFill>
          <a:blip r:embed="rId4"/>
          <a:stretch>
            <a:fillRect/>
          </a:stretch>
        </p:blipFill>
        <p:spPr>
          <a:xfrm>
            <a:off x="4417695" y="-166370"/>
            <a:ext cx="5143500" cy="6858000"/>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6497999"/>
            <a:ext cx="12192000" cy="360045"/>
            <a:chOff x="0" y="6497999"/>
            <a:chExt cx="12192000" cy="360045"/>
          </a:xfrm>
        </p:grpSpPr>
        <p:sp>
          <p:nvSpPr>
            <p:cNvPr id="3" name="object 3"/>
            <p:cNvSpPr/>
            <p:nvPr/>
          </p:nvSpPr>
          <p:spPr>
            <a:xfrm>
              <a:off x="0" y="6497999"/>
              <a:ext cx="10434320" cy="360045"/>
            </a:xfrm>
            <a:custGeom>
              <a:avLst/>
              <a:gdLst/>
              <a:ahLst/>
              <a:cxnLst/>
              <a:rect l="l" t="t" r="r" b="b"/>
              <a:pathLst>
                <a:path w="10434320" h="360045">
                  <a:moveTo>
                    <a:pt x="10434066" y="0"/>
                  </a:moveTo>
                  <a:lnTo>
                    <a:pt x="0" y="0"/>
                  </a:lnTo>
                  <a:lnTo>
                    <a:pt x="0" y="359997"/>
                  </a:lnTo>
                  <a:lnTo>
                    <a:pt x="10434066" y="359997"/>
                  </a:lnTo>
                  <a:lnTo>
                    <a:pt x="10434066" y="0"/>
                  </a:lnTo>
                  <a:close/>
                </a:path>
              </a:pathLst>
            </a:custGeom>
            <a:solidFill>
              <a:srgbClr val="435D4E"/>
            </a:solidFill>
          </p:spPr>
          <p:txBody>
            <a:bodyPr wrap="square" lIns="0" tIns="0" rIns="0" bIns="0" rtlCol="0"/>
            <a:lstStyle/>
            <a:p/>
          </p:txBody>
        </p:sp>
        <p:sp>
          <p:nvSpPr>
            <p:cNvPr id="4" name="object 4"/>
            <p:cNvSpPr/>
            <p:nvPr/>
          </p:nvSpPr>
          <p:spPr>
            <a:xfrm>
              <a:off x="10434066" y="6497999"/>
              <a:ext cx="1758314" cy="360045"/>
            </a:xfrm>
            <a:custGeom>
              <a:avLst/>
              <a:gdLst/>
              <a:ahLst/>
              <a:cxnLst/>
              <a:rect l="l" t="t" r="r" b="b"/>
              <a:pathLst>
                <a:path w="1758314" h="360045">
                  <a:moveTo>
                    <a:pt x="1757933" y="0"/>
                  </a:moveTo>
                  <a:lnTo>
                    <a:pt x="0" y="0"/>
                  </a:lnTo>
                  <a:lnTo>
                    <a:pt x="0" y="359997"/>
                  </a:lnTo>
                  <a:lnTo>
                    <a:pt x="1757933" y="359997"/>
                  </a:lnTo>
                  <a:lnTo>
                    <a:pt x="1757933" y="0"/>
                  </a:lnTo>
                  <a:close/>
                </a:path>
              </a:pathLst>
            </a:custGeom>
            <a:solidFill>
              <a:srgbClr val="385622"/>
            </a:solidFill>
          </p:spPr>
          <p:txBody>
            <a:bodyPr wrap="square" lIns="0" tIns="0" rIns="0" bIns="0" rtlCol="0"/>
            <a:lstStyle/>
            <a:p/>
          </p:txBody>
        </p:sp>
      </p:grpSp>
      <p:sp>
        <p:nvSpPr>
          <p:cNvPr id="6" name="object 6"/>
          <p:cNvSpPr txBox="1"/>
          <p:nvPr/>
        </p:nvSpPr>
        <p:spPr>
          <a:xfrm>
            <a:off x="1401445" y="970915"/>
            <a:ext cx="7919720" cy="505460"/>
          </a:xfrm>
          <a:prstGeom prst="rect">
            <a:avLst/>
          </a:prstGeom>
        </p:spPr>
        <p:txBody>
          <a:bodyPr vert="horz" wrap="square" lIns="0" tIns="13335" rIns="0" bIns="0" rtlCol="0">
            <a:spAutoFit/>
          </a:bodyPr>
          <a:lstStyle/>
          <a:p>
            <a:pPr>
              <a:lnSpc>
                <a:spcPct val="100000"/>
              </a:lnSpc>
              <a:spcBef>
                <a:spcPts val="780"/>
              </a:spcBef>
              <a:tabLst>
                <a:tab pos="379095" algn="l"/>
              </a:tabLst>
            </a:pPr>
            <a:r>
              <a:rPr lang="zh-CN" altLang="en-US" sz="3200" b="1" dirty="0">
                <a:solidFill>
                  <a:schemeClr val="tx1"/>
                </a:solidFill>
                <a:latin typeface="黑体" panose="02010609060101010101" charset="-122"/>
                <a:ea typeface="黑体" panose="02010609060101010101" charset="-122"/>
                <a:cs typeface="+mn-ea"/>
                <a:sym typeface="+mn-ea"/>
              </a:rPr>
              <a:t>穴位像素坐标转三维点云计算量过大</a:t>
            </a:r>
            <a:r>
              <a:rPr lang="zh-CN" altLang="en-US" sz="3200" b="1" dirty="0">
                <a:solidFill>
                  <a:schemeClr val="tx1"/>
                </a:solidFill>
                <a:latin typeface="黑体" panose="02010609060101010101" charset="-122"/>
                <a:ea typeface="黑体" panose="02010609060101010101" charset="-122"/>
                <a:cs typeface="+mn-ea"/>
                <a:sym typeface="+mn-ea"/>
              </a:rPr>
              <a:t>问题</a:t>
            </a:r>
            <a:endParaRPr lang="zh-CN" altLang="en-US" sz="3200" b="1" dirty="0">
              <a:solidFill>
                <a:schemeClr val="tx1"/>
              </a:solidFill>
              <a:latin typeface="黑体" panose="02010609060101010101" charset="-122"/>
              <a:ea typeface="黑体" panose="02010609060101010101" charset="-122"/>
              <a:cs typeface="+mn-ea"/>
              <a:sym typeface="+mn-ea"/>
            </a:endParaRPr>
          </a:p>
        </p:txBody>
      </p:sp>
      <p:pic>
        <p:nvPicPr>
          <p:cNvPr id="7" name="object 7"/>
          <p:cNvPicPr/>
          <p:nvPr/>
        </p:nvPicPr>
        <p:blipFill>
          <a:blip r:embed="rId1"/>
          <a:stretch>
            <a:fillRect/>
          </a:stretch>
        </p:blipFill>
        <p:spPr>
          <a:xfrm>
            <a:off x="952222" y="1023176"/>
            <a:ext cx="265938" cy="233773"/>
          </a:xfrm>
          <a:prstGeom prst="rect">
            <a:avLst/>
          </a:prstGeom>
        </p:spPr>
      </p:pic>
      <p:sp>
        <p:nvSpPr>
          <p:cNvPr id="9" name="object 9"/>
          <p:cNvSpPr txBox="1"/>
          <p:nvPr/>
        </p:nvSpPr>
        <p:spPr>
          <a:xfrm>
            <a:off x="6019165" y="5859145"/>
            <a:ext cx="5975985" cy="443230"/>
          </a:xfrm>
          <a:prstGeom prst="rect">
            <a:avLst/>
          </a:prstGeom>
        </p:spPr>
        <p:txBody>
          <a:bodyPr vert="horz" wrap="square" lIns="0" tIns="12700" rIns="0" bIns="0" rtlCol="0">
            <a:spAutoFit/>
          </a:bodyPr>
          <a:lstStyle/>
          <a:p>
            <a:pPr marL="12700" algn="ctr">
              <a:lnSpc>
                <a:spcPct val="100000"/>
              </a:lnSpc>
              <a:spcBef>
                <a:spcPts val="100"/>
              </a:spcBef>
            </a:pPr>
            <a:r>
              <a:rPr lang="zh-CN" altLang="en-US" sz="2800" spc="-10">
                <a:latin typeface="等线" panose="02010600030101010101" charset="-122"/>
                <a:cs typeface="等线" panose="02010600030101010101" charset="-122"/>
              </a:rPr>
              <a:t>图</a:t>
            </a:r>
            <a:r>
              <a:rPr lang="en-US" altLang="zh-CN" sz="2800" spc="-10">
                <a:latin typeface="等线" panose="02010600030101010101" charset="-122"/>
                <a:cs typeface="等线" panose="02010600030101010101" charset="-122"/>
              </a:rPr>
              <a:t>2 </a:t>
            </a:r>
            <a:r>
              <a:rPr lang="zh-CN" altLang="en-US" sz="2800" spc="-10">
                <a:latin typeface="等线" panose="02010600030101010101" charset="-122"/>
                <a:cs typeface="等线" panose="02010600030101010101" charset="-122"/>
              </a:rPr>
              <a:t>点云滤波后</a:t>
            </a:r>
            <a:endParaRPr lang="zh-CN" altLang="en-US" sz="2800" spc="-10">
              <a:latin typeface="等线" panose="02010600030101010101" charset="-122"/>
              <a:cs typeface="等线" panose="02010600030101010101" charset="-122"/>
            </a:endParaRPr>
          </a:p>
        </p:txBody>
      </p:sp>
      <p:grpSp>
        <p:nvGrpSpPr>
          <p:cNvPr id="13" name="object 13"/>
          <p:cNvGrpSpPr/>
          <p:nvPr/>
        </p:nvGrpSpPr>
        <p:grpSpPr>
          <a:xfrm>
            <a:off x="346075" y="113664"/>
            <a:ext cx="3082290" cy="788035"/>
            <a:chOff x="346075" y="113664"/>
            <a:chExt cx="3082290" cy="788035"/>
          </a:xfrm>
        </p:grpSpPr>
        <p:sp>
          <p:nvSpPr>
            <p:cNvPr id="14" name="object 14"/>
            <p:cNvSpPr/>
            <p:nvPr/>
          </p:nvSpPr>
          <p:spPr>
            <a:xfrm>
              <a:off x="365125" y="132714"/>
              <a:ext cx="3044190" cy="749935"/>
            </a:xfrm>
            <a:custGeom>
              <a:avLst/>
              <a:gdLst/>
              <a:ahLst/>
              <a:cxnLst/>
              <a:rect l="l" t="t" r="r" b="b"/>
              <a:pathLst>
                <a:path w="3044190" h="749935">
                  <a:moveTo>
                    <a:pt x="2716276" y="0"/>
                  </a:moveTo>
                  <a:lnTo>
                    <a:pt x="2702306" y="1650"/>
                  </a:lnTo>
                  <a:lnTo>
                    <a:pt x="2702306" y="0"/>
                  </a:lnTo>
                  <a:lnTo>
                    <a:pt x="327812" y="0"/>
                  </a:lnTo>
                  <a:lnTo>
                    <a:pt x="283329" y="3423"/>
                  </a:lnTo>
                  <a:lnTo>
                    <a:pt x="240664" y="13394"/>
                  </a:lnTo>
                  <a:lnTo>
                    <a:pt x="200210" y="29467"/>
                  </a:lnTo>
                  <a:lnTo>
                    <a:pt x="162356" y="51195"/>
                  </a:lnTo>
                  <a:lnTo>
                    <a:pt x="127493" y="78129"/>
                  </a:lnTo>
                  <a:lnTo>
                    <a:pt x="96011" y="109823"/>
                  </a:lnTo>
                  <a:lnTo>
                    <a:pt x="68302" y="145829"/>
                  </a:lnTo>
                  <a:lnTo>
                    <a:pt x="44754" y="185702"/>
                  </a:lnTo>
                  <a:lnTo>
                    <a:pt x="25760" y="228992"/>
                  </a:lnTo>
                  <a:lnTo>
                    <a:pt x="11709" y="275254"/>
                  </a:lnTo>
                  <a:lnTo>
                    <a:pt x="2992" y="324040"/>
                  </a:lnTo>
                  <a:lnTo>
                    <a:pt x="0" y="374903"/>
                  </a:lnTo>
                  <a:lnTo>
                    <a:pt x="2992" y="425796"/>
                  </a:lnTo>
                  <a:lnTo>
                    <a:pt x="11709" y="474606"/>
                  </a:lnTo>
                  <a:lnTo>
                    <a:pt x="25760" y="520888"/>
                  </a:lnTo>
                  <a:lnTo>
                    <a:pt x="44754" y="564195"/>
                  </a:lnTo>
                  <a:lnTo>
                    <a:pt x="68302" y="604079"/>
                  </a:lnTo>
                  <a:lnTo>
                    <a:pt x="96011" y="640095"/>
                  </a:lnTo>
                  <a:lnTo>
                    <a:pt x="127493" y="671796"/>
                  </a:lnTo>
                  <a:lnTo>
                    <a:pt x="162356" y="698735"/>
                  </a:lnTo>
                  <a:lnTo>
                    <a:pt x="200210" y="720465"/>
                  </a:lnTo>
                  <a:lnTo>
                    <a:pt x="240664" y="736539"/>
                  </a:lnTo>
                  <a:lnTo>
                    <a:pt x="283329" y="746511"/>
                  </a:lnTo>
                  <a:lnTo>
                    <a:pt x="327812" y="749934"/>
                  </a:lnTo>
                  <a:lnTo>
                    <a:pt x="2702306" y="749934"/>
                  </a:lnTo>
                  <a:lnTo>
                    <a:pt x="2702306" y="748283"/>
                  </a:lnTo>
                  <a:lnTo>
                    <a:pt x="2716276" y="749934"/>
                  </a:lnTo>
                  <a:lnTo>
                    <a:pt x="2760742" y="746511"/>
                  </a:lnTo>
                  <a:lnTo>
                    <a:pt x="2803395" y="736540"/>
                  </a:lnTo>
                  <a:lnTo>
                    <a:pt x="2843841" y="720467"/>
                  </a:lnTo>
                  <a:lnTo>
                    <a:pt x="2881691" y="698739"/>
                  </a:lnTo>
                  <a:lnTo>
                    <a:pt x="2916552" y="671805"/>
                  </a:lnTo>
                  <a:lnTo>
                    <a:pt x="2948035" y="640111"/>
                  </a:lnTo>
                  <a:lnTo>
                    <a:pt x="2975747" y="604105"/>
                  </a:lnTo>
                  <a:lnTo>
                    <a:pt x="2999297" y="564232"/>
                  </a:lnTo>
                  <a:lnTo>
                    <a:pt x="3018295" y="520942"/>
                  </a:lnTo>
                  <a:lnTo>
                    <a:pt x="3032350" y="474680"/>
                  </a:lnTo>
                  <a:lnTo>
                    <a:pt x="3041069" y="425894"/>
                  </a:lnTo>
                  <a:lnTo>
                    <a:pt x="3044063" y="375030"/>
                  </a:lnTo>
                  <a:lnTo>
                    <a:pt x="3041069" y="324138"/>
                  </a:lnTo>
                  <a:lnTo>
                    <a:pt x="3032350" y="275328"/>
                  </a:lnTo>
                  <a:lnTo>
                    <a:pt x="3018295" y="229046"/>
                  </a:lnTo>
                  <a:lnTo>
                    <a:pt x="2999297" y="185739"/>
                  </a:lnTo>
                  <a:lnTo>
                    <a:pt x="2975747" y="145855"/>
                  </a:lnTo>
                  <a:lnTo>
                    <a:pt x="2948035" y="109839"/>
                  </a:lnTo>
                  <a:lnTo>
                    <a:pt x="2916552" y="78138"/>
                  </a:lnTo>
                  <a:lnTo>
                    <a:pt x="2881691" y="51199"/>
                  </a:lnTo>
                  <a:lnTo>
                    <a:pt x="2843841" y="29469"/>
                  </a:lnTo>
                  <a:lnTo>
                    <a:pt x="2803395" y="13395"/>
                  </a:lnTo>
                  <a:lnTo>
                    <a:pt x="2760742" y="3423"/>
                  </a:lnTo>
                  <a:lnTo>
                    <a:pt x="2716276" y="0"/>
                  </a:lnTo>
                  <a:close/>
                </a:path>
              </a:pathLst>
            </a:custGeom>
            <a:solidFill>
              <a:srgbClr val="39877A"/>
            </a:solidFill>
          </p:spPr>
          <p:txBody>
            <a:bodyPr wrap="square" lIns="0" tIns="0" rIns="0" bIns="0" rtlCol="0"/>
            <a:lstStyle/>
            <a:p/>
          </p:txBody>
        </p:sp>
        <p:sp>
          <p:nvSpPr>
            <p:cNvPr id="15" name="object 15"/>
            <p:cNvSpPr/>
            <p:nvPr/>
          </p:nvSpPr>
          <p:spPr>
            <a:xfrm>
              <a:off x="365125" y="132714"/>
              <a:ext cx="3044190" cy="749935"/>
            </a:xfrm>
            <a:custGeom>
              <a:avLst/>
              <a:gdLst/>
              <a:ahLst/>
              <a:cxnLst/>
              <a:rect l="l" t="t" r="r" b="b"/>
              <a:pathLst>
                <a:path w="3044190" h="749935">
                  <a:moveTo>
                    <a:pt x="327812" y="0"/>
                  </a:moveTo>
                  <a:lnTo>
                    <a:pt x="2702306" y="0"/>
                  </a:lnTo>
                  <a:lnTo>
                    <a:pt x="2702306" y="1650"/>
                  </a:lnTo>
                  <a:lnTo>
                    <a:pt x="2760742" y="3423"/>
                  </a:lnTo>
                  <a:lnTo>
                    <a:pt x="2803395" y="13395"/>
                  </a:lnTo>
                  <a:lnTo>
                    <a:pt x="2843841" y="29469"/>
                  </a:lnTo>
                  <a:lnTo>
                    <a:pt x="2881691" y="51199"/>
                  </a:lnTo>
                  <a:lnTo>
                    <a:pt x="2916552" y="78138"/>
                  </a:lnTo>
                  <a:lnTo>
                    <a:pt x="2948035" y="109839"/>
                  </a:lnTo>
                  <a:lnTo>
                    <a:pt x="2975747" y="145855"/>
                  </a:lnTo>
                  <a:lnTo>
                    <a:pt x="2999297" y="185739"/>
                  </a:lnTo>
                  <a:lnTo>
                    <a:pt x="3018295" y="229046"/>
                  </a:lnTo>
                  <a:lnTo>
                    <a:pt x="3032350" y="275328"/>
                  </a:lnTo>
                  <a:lnTo>
                    <a:pt x="3041069" y="324138"/>
                  </a:lnTo>
                  <a:lnTo>
                    <a:pt x="3044063" y="375030"/>
                  </a:lnTo>
                  <a:lnTo>
                    <a:pt x="3041069" y="425894"/>
                  </a:lnTo>
                  <a:lnTo>
                    <a:pt x="3032350" y="474680"/>
                  </a:lnTo>
                  <a:lnTo>
                    <a:pt x="3018295" y="520942"/>
                  </a:lnTo>
                  <a:lnTo>
                    <a:pt x="2999297" y="564232"/>
                  </a:lnTo>
                  <a:lnTo>
                    <a:pt x="2975747" y="604105"/>
                  </a:lnTo>
                  <a:lnTo>
                    <a:pt x="2948035" y="640111"/>
                  </a:lnTo>
                  <a:lnTo>
                    <a:pt x="2916552" y="671805"/>
                  </a:lnTo>
                  <a:lnTo>
                    <a:pt x="2881691" y="698739"/>
                  </a:lnTo>
                  <a:lnTo>
                    <a:pt x="2843841" y="720467"/>
                  </a:lnTo>
                  <a:lnTo>
                    <a:pt x="2803395" y="736540"/>
                  </a:lnTo>
                  <a:lnTo>
                    <a:pt x="2760742" y="746511"/>
                  </a:lnTo>
                  <a:lnTo>
                    <a:pt x="2716276" y="749934"/>
                  </a:lnTo>
                  <a:lnTo>
                    <a:pt x="2702306" y="748283"/>
                  </a:lnTo>
                  <a:lnTo>
                    <a:pt x="2702306" y="749934"/>
                  </a:lnTo>
                  <a:lnTo>
                    <a:pt x="327812" y="749934"/>
                  </a:lnTo>
                  <a:lnTo>
                    <a:pt x="283329" y="746511"/>
                  </a:lnTo>
                  <a:lnTo>
                    <a:pt x="240664" y="736539"/>
                  </a:lnTo>
                  <a:lnTo>
                    <a:pt x="200210" y="720465"/>
                  </a:lnTo>
                  <a:lnTo>
                    <a:pt x="162356" y="698735"/>
                  </a:lnTo>
                  <a:lnTo>
                    <a:pt x="127493" y="671796"/>
                  </a:lnTo>
                  <a:lnTo>
                    <a:pt x="96011" y="640095"/>
                  </a:lnTo>
                  <a:lnTo>
                    <a:pt x="68302" y="604079"/>
                  </a:lnTo>
                  <a:lnTo>
                    <a:pt x="44754" y="564195"/>
                  </a:lnTo>
                  <a:lnTo>
                    <a:pt x="25760" y="520888"/>
                  </a:lnTo>
                  <a:lnTo>
                    <a:pt x="11709" y="474606"/>
                  </a:lnTo>
                  <a:lnTo>
                    <a:pt x="2992" y="425796"/>
                  </a:lnTo>
                  <a:lnTo>
                    <a:pt x="0" y="374903"/>
                  </a:lnTo>
                  <a:lnTo>
                    <a:pt x="2992" y="324040"/>
                  </a:lnTo>
                  <a:lnTo>
                    <a:pt x="11709" y="275254"/>
                  </a:lnTo>
                  <a:lnTo>
                    <a:pt x="25760" y="228992"/>
                  </a:lnTo>
                  <a:lnTo>
                    <a:pt x="44754" y="185702"/>
                  </a:lnTo>
                  <a:lnTo>
                    <a:pt x="68302" y="145829"/>
                  </a:lnTo>
                  <a:lnTo>
                    <a:pt x="96011" y="109823"/>
                  </a:lnTo>
                  <a:lnTo>
                    <a:pt x="127493" y="78129"/>
                  </a:lnTo>
                  <a:lnTo>
                    <a:pt x="162356" y="51195"/>
                  </a:lnTo>
                  <a:lnTo>
                    <a:pt x="200210" y="29467"/>
                  </a:lnTo>
                  <a:lnTo>
                    <a:pt x="240664" y="13394"/>
                  </a:lnTo>
                  <a:lnTo>
                    <a:pt x="283329" y="3423"/>
                  </a:lnTo>
                  <a:lnTo>
                    <a:pt x="327812" y="0"/>
                  </a:lnTo>
                  <a:close/>
                </a:path>
              </a:pathLst>
            </a:custGeom>
            <a:ln w="38099">
              <a:solidFill>
                <a:srgbClr val="006453"/>
              </a:solidFill>
            </a:ln>
          </p:spPr>
          <p:txBody>
            <a:bodyPr wrap="square" lIns="0" tIns="0" rIns="0" bIns="0" rtlCol="0"/>
            <a:lstStyle/>
            <a:p/>
          </p:txBody>
        </p:sp>
        <p:pic>
          <p:nvPicPr>
            <p:cNvPr id="16" name="object 16"/>
            <p:cNvPicPr/>
            <p:nvPr/>
          </p:nvPicPr>
          <p:blipFill>
            <a:blip r:embed="rId2"/>
            <a:stretch>
              <a:fillRect/>
            </a:stretch>
          </p:blipFill>
          <p:spPr>
            <a:xfrm>
              <a:off x="493077" y="198704"/>
              <a:ext cx="485419" cy="617905"/>
            </a:xfrm>
            <a:prstGeom prst="rect">
              <a:avLst/>
            </a:prstGeom>
          </p:spPr>
        </p:pic>
        <p:sp>
          <p:nvSpPr>
            <p:cNvPr id="17" name="object 17"/>
            <p:cNvSpPr/>
            <p:nvPr/>
          </p:nvSpPr>
          <p:spPr>
            <a:xfrm>
              <a:off x="977900" y="276860"/>
              <a:ext cx="2329180" cy="460375"/>
            </a:xfrm>
            <a:custGeom>
              <a:avLst/>
              <a:gdLst/>
              <a:ahLst/>
              <a:cxnLst/>
              <a:rect l="l" t="t" r="r" b="b"/>
              <a:pathLst>
                <a:path w="2329179" h="460375">
                  <a:moveTo>
                    <a:pt x="2329179" y="0"/>
                  </a:moveTo>
                  <a:lnTo>
                    <a:pt x="0" y="0"/>
                  </a:lnTo>
                  <a:lnTo>
                    <a:pt x="0" y="460375"/>
                  </a:lnTo>
                  <a:lnTo>
                    <a:pt x="2329179" y="460375"/>
                  </a:lnTo>
                  <a:lnTo>
                    <a:pt x="2329179" y="0"/>
                  </a:lnTo>
                  <a:close/>
                </a:path>
              </a:pathLst>
            </a:custGeom>
            <a:solidFill>
              <a:srgbClr val="39877A"/>
            </a:solidFill>
          </p:spPr>
          <p:txBody>
            <a:bodyPr wrap="square" lIns="0" tIns="0" rIns="0" bIns="0" rtlCol="0"/>
            <a:lstStyle/>
            <a:p/>
          </p:txBody>
        </p:sp>
      </p:grpSp>
      <p:sp>
        <p:nvSpPr>
          <p:cNvPr id="18" name="object 18"/>
          <p:cNvSpPr txBox="1">
            <a:spLocks noGrp="1"/>
          </p:cNvSpPr>
          <p:nvPr>
            <p:ph type="title"/>
          </p:nvPr>
        </p:nvSpPr>
        <p:spPr>
          <a:xfrm>
            <a:off x="1056843" y="319278"/>
            <a:ext cx="2169795" cy="391160"/>
          </a:xfrm>
          <a:prstGeom prst="rect">
            <a:avLst/>
          </a:prstGeom>
        </p:spPr>
        <p:txBody>
          <a:bodyPr vert="horz" wrap="square" lIns="0" tIns="12700" rIns="0" bIns="0" rtlCol="0">
            <a:spAutoFit/>
          </a:bodyPr>
          <a:lstStyle/>
          <a:p>
            <a:pPr marL="12700">
              <a:lnSpc>
                <a:spcPct val="100000"/>
              </a:lnSpc>
              <a:spcBef>
                <a:spcPts val="100"/>
              </a:spcBef>
            </a:pPr>
            <a:r>
              <a:rPr spc="-20"/>
              <a:t>研究背景及意</a:t>
            </a:r>
            <a:r>
              <a:rPr spc="-50"/>
              <a:t>义</a:t>
            </a:r>
            <a:endParaRPr spc="-50"/>
          </a:p>
        </p:txBody>
      </p:sp>
      <p:sp>
        <p:nvSpPr>
          <p:cNvPr id="23" name="object 12"/>
          <p:cNvSpPr txBox="1"/>
          <p:nvPr/>
        </p:nvSpPr>
        <p:spPr>
          <a:xfrm>
            <a:off x="59690" y="6523355"/>
            <a:ext cx="7989570" cy="289560"/>
          </a:xfrm>
          <a:prstGeom prst="rect">
            <a:avLst/>
          </a:prstGeom>
        </p:spPr>
        <p:txBody>
          <a:bodyPr vert="horz" wrap="square" lIns="0" tIns="12700" rIns="0" bIns="0" rtlCol="0">
            <a:spAutoFit/>
          </a:bodyPr>
          <a:lstStyle/>
          <a:p>
            <a:pPr marL="12700">
              <a:lnSpc>
                <a:spcPct val="100000"/>
              </a:lnSpc>
              <a:spcBef>
                <a:spcPts val="100"/>
              </a:spcBef>
            </a:pPr>
            <a:r>
              <a:rPr kumimoji="0" sz="1800" b="1" i="0" u="none" strike="noStrike" kern="0" cap="none" spc="265" normalizeH="0" baseline="0" noProof="1">
                <a:solidFill>
                  <a:srgbClr val="FFFFFF"/>
                </a:solidFill>
                <a:latin typeface="宋体" panose="02010600030101010101" pitchFamily="2" charset="-122"/>
                <a:ea typeface="Arial" panose="020B0604020202020204" pitchFamily="34" charset="0"/>
                <a:cs typeface="宋体" panose="02010600030101010101" pitchFamily="2" charset="-122"/>
                <a:sym typeface="+mn-ea"/>
              </a:rPr>
              <a:t>基于视觉感知与自适应双向超椭球体RRT的机械臂运动规划研究</a:t>
            </a:r>
            <a:endParaRPr sz="1800">
              <a:latin typeface="微软雅黑" panose="020B0503020204020204" charset="-122"/>
              <a:cs typeface="微软雅黑" panose="020B0503020204020204" charset="-122"/>
            </a:endParaRPr>
          </a:p>
        </p:txBody>
      </p:sp>
      <p:sp>
        <p:nvSpPr>
          <p:cNvPr id="25" name="文本框 24"/>
          <p:cNvSpPr txBox="1"/>
          <p:nvPr/>
        </p:nvSpPr>
        <p:spPr>
          <a:xfrm>
            <a:off x="455930" y="1600200"/>
            <a:ext cx="5377180" cy="4740275"/>
          </a:xfrm>
          <a:prstGeom prst="rect">
            <a:avLst/>
          </a:prstGeom>
          <a:noFill/>
        </p:spPr>
        <p:txBody>
          <a:bodyPr wrap="square" rtlCol="0">
            <a:noAutofit/>
          </a:bodyPr>
          <a:p>
            <a:r>
              <a:rPr kumimoji="0" lang="zh-CN" altLang="en-US" sz="2400" b="0" i="0" u="none" strike="noStrike" kern="0" cap="none" spc="0" normalizeH="0" baseline="0" noProof="1">
                <a:latin typeface="Bahnschrift Light SemiCondensed" panose="020B0502040204020203" charset="0"/>
                <a:ea typeface="Arial" panose="020B0604020202020204" pitchFamily="34" charset="0"/>
                <a:cs typeface="Times New Roman" panose="02020603050405020304"/>
              </a:rPr>
              <a:t>针对双目相机采集到的穴位图片，利用视差图生成初始点云数据。针对人体表面高度差导致的冗余数据，提出自适应深度滤波算法：基于躯干高度范围设置动态阈值，剔除背景及非目标区域点云；其次，采用基于法向量的区域生长算法对点云进行分割，保留与穴位定位相关的体表区域。为进一步提升计算效率，引入点云下采样与体素网格滤波技术，将点云数据量压缩至原数据的</a:t>
            </a:r>
            <a:r>
              <a:rPr kumimoji="0" lang="en-US" altLang="zh-CN" sz="2400" b="0" i="0" u="none" strike="noStrike" kern="0" cap="none" spc="0" normalizeH="0" baseline="0" noProof="1">
                <a:latin typeface="Bahnschrift Light SemiCondensed" panose="020B0502040204020203" charset="0"/>
                <a:ea typeface="Arial" panose="020B0604020202020204" pitchFamily="34" charset="0"/>
                <a:cs typeface="Times New Roman" panose="02020603050405020304"/>
              </a:rPr>
              <a:t>20%</a:t>
            </a:r>
            <a:r>
              <a:rPr kumimoji="0" lang="zh-CN" altLang="en-US" sz="2400" b="0" i="0" u="none" strike="noStrike" kern="0" cap="none" spc="0" normalizeH="0" baseline="0" noProof="1">
                <a:latin typeface="Bahnschrift Light SemiCondensed" panose="020B0502040204020203" charset="0"/>
                <a:ea typeface="Arial" panose="020B0604020202020204" pitchFamily="34" charset="0"/>
                <a:cs typeface="Times New Roman" panose="02020603050405020304"/>
              </a:rPr>
              <a:t>以下，同时保证关键特征不丢失。</a:t>
            </a:r>
            <a:endParaRPr kumimoji="0" lang="zh-CN" altLang="en-US" sz="2400" b="0" i="0" u="none" strike="noStrike" kern="0" cap="none" spc="0" normalizeH="0" baseline="0" noProof="1">
              <a:latin typeface="Bahnschrift Light SemiCondensed" panose="020B0502040204020203" charset="0"/>
              <a:ea typeface="Arial" panose="020B0604020202020204" pitchFamily="34" charset="0"/>
              <a:cs typeface="Times New Roman" panose="02020603050405020304"/>
            </a:endParaRPr>
          </a:p>
        </p:txBody>
      </p:sp>
      <p:pic>
        <p:nvPicPr>
          <p:cNvPr id="5" name="图片 4" descr="三维点云"/>
          <p:cNvPicPr>
            <a:picLocks noChangeAspect="1"/>
          </p:cNvPicPr>
          <p:nvPr/>
        </p:nvPicPr>
        <p:blipFill>
          <a:blip r:embed="rId3"/>
          <a:stretch>
            <a:fillRect/>
          </a:stretch>
        </p:blipFill>
        <p:spPr>
          <a:xfrm>
            <a:off x="6019800" y="1731645"/>
            <a:ext cx="5975985" cy="4039235"/>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497999"/>
            <a:ext cx="12192000" cy="360045"/>
            <a:chOff x="0" y="6497999"/>
            <a:chExt cx="12192000" cy="360045"/>
          </a:xfrm>
        </p:grpSpPr>
        <p:sp>
          <p:nvSpPr>
            <p:cNvPr id="3" name="object 3"/>
            <p:cNvSpPr/>
            <p:nvPr/>
          </p:nvSpPr>
          <p:spPr>
            <a:xfrm>
              <a:off x="0" y="6497999"/>
              <a:ext cx="10434320" cy="360045"/>
            </a:xfrm>
            <a:custGeom>
              <a:avLst/>
              <a:gdLst/>
              <a:ahLst/>
              <a:cxnLst/>
              <a:rect l="l" t="t" r="r" b="b"/>
              <a:pathLst>
                <a:path w="10434320" h="360045">
                  <a:moveTo>
                    <a:pt x="10434066" y="0"/>
                  </a:moveTo>
                  <a:lnTo>
                    <a:pt x="0" y="0"/>
                  </a:lnTo>
                  <a:lnTo>
                    <a:pt x="0" y="359997"/>
                  </a:lnTo>
                  <a:lnTo>
                    <a:pt x="10434066" y="359997"/>
                  </a:lnTo>
                  <a:lnTo>
                    <a:pt x="10434066" y="0"/>
                  </a:lnTo>
                  <a:close/>
                </a:path>
              </a:pathLst>
            </a:custGeom>
            <a:solidFill>
              <a:srgbClr val="435D4E"/>
            </a:solidFill>
          </p:spPr>
          <p:txBody>
            <a:bodyPr wrap="square" lIns="0" tIns="0" rIns="0" bIns="0" rtlCol="0"/>
            <a:lstStyle/>
            <a:p/>
          </p:txBody>
        </p:sp>
        <p:sp>
          <p:nvSpPr>
            <p:cNvPr id="4" name="object 4"/>
            <p:cNvSpPr/>
            <p:nvPr/>
          </p:nvSpPr>
          <p:spPr>
            <a:xfrm>
              <a:off x="10434066" y="6497999"/>
              <a:ext cx="1758314" cy="360045"/>
            </a:xfrm>
            <a:custGeom>
              <a:avLst/>
              <a:gdLst/>
              <a:ahLst/>
              <a:cxnLst/>
              <a:rect l="l" t="t" r="r" b="b"/>
              <a:pathLst>
                <a:path w="1758314" h="360045">
                  <a:moveTo>
                    <a:pt x="1757933" y="0"/>
                  </a:moveTo>
                  <a:lnTo>
                    <a:pt x="0" y="0"/>
                  </a:lnTo>
                  <a:lnTo>
                    <a:pt x="0" y="359997"/>
                  </a:lnTo>
                  <a:lnTo>
                    <a:pt x="1757933" y="359997"/>
                  </a:lnTo>
                  <a:lnTo>
                    <a:pt x="1757933" y="0"/>
                  </a:lnTo>
                  <a:close/>
                </a:path>
              </a:pathLst>
            </a:custGeom>
            <a:solidFill>
              <a:srgbClr val="385622"/>
            </a:solidFill>
          </p:spPr>
          <p:txBody>
            <a:bodyPr wrap="square" lIns="0" tIns="0" rIns="0" bIns="0" rtlCol="0"/>
            <a:lstStyle/>
            <a:p/>
          </p:txBody>
        </p:sp>
      </p:grpSp>
      <p:sp>
        <p:nvSpPr>
          <p:cNvPr id="5" name="object 5"/>
          <p:cNvSpPr txBox="1"/>
          <p:nvPr/>
        </p:nvSpPr>
        <p:spPr>
          <a:xfrm>
            <a:off x="1401445" y="1275715"/>
            <a:ext cx="3228975" cy="628650"/>
          </a:xfrm>
          <a:prstGeom prst="rect">
            <a:avLst/>
          </a:prstGeom>
        </p:spPr>
        <p:txBody>
          <a:bodyPr vert="horz" wrap="square" lIns="0" tIns="13335" rIns="0" bIns="0" rtlCol="0">
            <a:spAutoFit/>
          </a:bodyPr>
          <a:lstStyle/>
          <a:p>
            <a:pPr marL="12700">
              <a:lnSpc>
                <a:spcPct val="100000"/>
              </a:lnSpc>
              <a:spcBef>
                <a:spcPts val="105"/>
              </a:spcBef>
            </a:pPr>
            <a:r>
              <a:rPr lang="zh-CN" altLang="en-US" sz="2000" b="1" spc="-10">
                <a:latin typeface="微软雅黑" panose="020B0503020204020204" charset="-122"/>
                <a:cs typeface="微软雅黑" panose="020B0503020204020204" charset="-122"/>
              </a:rPr>
              <a:t>二维穴位数据转三维点云</a:t>
            </a:r>
            <a:r>
              <a:rPr lang="zh-CN" altLang="en-US" sz="2000" b="1" spc="-10">
                <a:latin typeface="微软雅黑" panose="020B0503020204020204" charset="-122"/>
                <a:cs typeface="微软雅黑" panose="020B0503020204020204" charset="-122"/>
              </a:rPr>
              <a:t>的实现</a:t>
            </a:r>
            <a:r>
              <a:rPr lang="zh-CN" altLang="en-US" sz="2000" b="1" spc="-10">
                <a:latin typeface="微软雅黑" panose="020B0503020204020204" charset="-122"/>
                <a:cs typeface="微软雅黑" panose="020B0503020204020204" charset="-122"/>
              </a:rPr>
              <a:t>意义</a:t>
            </a:r>
            <a:endParaRPr lang="zh-CN" altLang="en-US" sz="2000" b="1" spc="-10">
              <a:latin typeface="微软雅黑" panose="020B0503020204020204" charset="-122"/>
              <a:cs typeface="微软雅黑" panose="020B0503020204020204" charset="-122"/>
            </a:endParaRPr>
          </a:p>
        </p:txBody>
      </p:sp>
      <p:pic>
        <p:nvPicPr>
          <p:cNvPr id="6" name="object 6"/>
          <p:cNvPicPr/>
          <p:nvPr/>
        </p:nvPicPr>
        <p:blipFill>
          <a:blip r:embed="rId1"/>
          <a:stretch>
            <a:fillRect/>
          </a:stretch>
        </p:blipFill>
        <p:spPr>
          <a:xfrm>
            <a:off x="952222" y="1327976"/>
            <a:ext cx="265938" cy="233773"/>
          </a:xfrm>
          <a:prstGeom prst="rect">
            <a:avLst/>
          </a:prstGeom>
        </p:spPr>
      </p:pic>
      <p:grpSp>
        <p:nvGrpSpPr>
          <p:cNvPr id="9" name="object 9"/>
          <p:cNvGrpSpPr/>
          <p:nvPr/>
        </p:nvGrpSpPr>
        <p:grpSpPr>
          <a:xfrm>
            <a:off x="346075" y="113664"/>
            <a:ext cx="3082290" cy="788035"/>
            <a:chOff x="346075" y="113664"/>
            <a:chExt cx="3082290" cy="788035"/>
          </a:xfrm>
        </p:grpSpPr>
        <p:sp>
          <p:nvSpPr>
            <p:cNvPr id="10" name="object 10"/>
            <p:cNvSpPr/>
            <p:nvPr/>
          </p:nvSpPr>
          <p:spPr>
            <a:xfrm>
              <a:off x="365125" y="132714"/>
              <a:ext cx="3044190" cy="749935"/>
            </a:xfrm>
            <a:custGeom>
              <a:avLst/>
              <a:gdLst/>
              <a:ahLst/>
              <a:cxnLst/>
              <a:rect l="l" t="t" r="r" b="b"/>
              <a:pathLst>
                <a:path w="3044190" h="749935">
                  <a:moveTo>
                    <a:pt x="2716276" y="0"/>
                  </a:moveTo>
                  <a:lnTo>
                    <a:pt x="2702306" y="1650"/>
                  </a:lnTo>
                  <a:lnTo>
                    <a:pt x="2702306" y="0"/>
                  </a:lnTo>
                  <a:lnTo>
                    <a:pt x="327812" y="0"/>
                  </a:lnTo>
                  <a:lnTo>
                    <a:pt x="283329" y="3423"/>
                  </a:lnTo>
                  <a:lnTo>
                    <a:pt x="240664" y="13394"/>
                  </a:lnTo>
                  <a:lnTo>
                    <a:pt x="200210" y="29467"/>
                  </a:lnTo>
                  <a:lnTo>
                    <a:pt x="162356" y="51195"/>
                  </a:lnTo>
                  <a:lnTo>
                    <a:pt x="127493" y="78129"/>
                  </a:lnTo>
                  <a:lnTo>
                    <a:pt x="96011" y="109823"/>
                  </a:lnTo>
                  <a:lnTo>
                    <a:pt x="68302" y="145829"/>
                  </a:lnTo>
                  <a:lnTo>
                    <a:pt x="44754" y="185702"/>
                  </a:lnTo>
                  <a:lnTo>
                    <a:pt x="25760" y="228992"/>
                  </a:lnTo>
                  <a:lnTo>
                    <a:pt x="11709" y="275254"/>
                  </a:lnTo>
                  <a:lnTo>
                    <a:pt x="2992" y="324040"/>
                  </a:lnTo>
                  <a:lnTo>
                    <a:pt x="0" y="374903"/>
                  </a:lnTo>
                  <a:lnTo>
                    <a:pt x="2992" y="425796"/>
                  </a:lnTo>
                  <a:lnTo>
                    <a:pt x="11709" y="474606"/>
                  </a:lnTo>
                  <a:lnTo>
                    <a:pt x="25760" y="520888"/>
                  </a:lnTo>
                  <a:lnTo>
                    <a:pt x="44754" y="564195"/>
                  </a:lnTo>
                  <a:lnTo>
                    <a:pt x="68302" y="604079"/>
                  </a:lnTo>
                  <a:lnTo>
                    <a:pt x="96011" y="640095"/>
                  </a:lnTo>
                  <a:lnTo>
                    <a:pt x="127493" y="671796"/>
                  </a:lnTo>
                  <a:lnTo>
                    <a:pt x="162356" y="698735"/>
                  </a:lnTo>
                  <a:lnTo>
                    <a:pt x="200210" y="720465"/>
                  </a:lnTo>
                  <a:lnTo>
                    <a:pt x="240664" y="736539"/>
                  </a:lnTo>
                  <a:lnTo>
                    <a:pt x="283329" y="746511"/>
                  </a:lnTo>
                  <a:lnTo>
                    <a:pt x="327812" y="749934"/>
                  </a:lnTo>
                  <a:lnTo>
                    <a:pt x="2702306" y="749934"/>
                  </a:lnTo>
                  <a:lnTo>
                    <a:pt x="2702306" y="748283"/>
                  </a:lnTo>
                  <a:lnTo>
                    <a:pt x="2716276" y="749934"/>
                  </a:lnTo>
                  <a:lnTo>
                    <a:pt x="2760742" y="746511"/>
                  </a:lnTo>
                  <a:lnTo>
                    <a:pt x="2803395" y="736540"/>
                  </a:lnTo>
                  <a:lnTo>
                    <a:pt x="2843841" y="720467"/>
                  </a:lnTo>
                  <a:lnTo>
                    <a:pt x="2881691" y="698739"/>
                  </a:lnTo>
                  <a:lnTo>
                    <a:pt x="2916552" y="671805"/>
                  </a:lnTo>
                  <a:lnTo>
                    <a:pt x="2948035" y="640111"/>
                  </a:lnTo>
                  <a:lnTo>
                    <a:pt x="2975747" y="604105"/>
                  </a:lnTo>
                  <a:lnTo>
                    <a:pt x="2999297" y="564232"/>
                  </a:lnTo>
                  <a:lnTo>
                    <a:pt x="3018295" y="520942"/>
                  </a:lnTo>
                  <a:lnTo>
                    <a:pt x="3032350" y="474680"/>
                  </a:lnTo>
                  <a:lnTo>
                    <a:pt x="3041069" y="425894"/>
                  </a:lnTo>
                  <a:lnTo>
                    <a:pt x="3044063" y="375030"/>
                  </a:lnTo>
                  <a:lnTo>
                    <a:pt x="3041069" y="324138"/>
                  </a:lnTo>
                  <a:lnTo>
                    <a:pt x="3032350" y="275328"/>
                  </a:lnTo>
                  <a:lnTo>
                    <a:pt x="3018295" y="229046"/>
                  </a:lnTo>
                  <a:lnTo>
                    <a:pt x="2999297" y="185739"/>
                  </a:lnTo>
                  <a:lnTo>
                    <a:pt x="2975747" y="145855"/>
                  </a:lnTo>
                  <a:lnTo>
                    <a:pt x="2948035" y="109839"/>
                  </a:lnTo>
                  <a:lnTo>
                    <a:pt x="2916552" y="78138"/>
                  </a:lnTo>
                  <a:lnTo>
                    <a:pt x="2881691" y="51199"/>
                  </a:lnTo>
                  <a:lnTo>
                    <a:pt x="2843841" y="29469"/>
                  </a:lnTo>
                  <a:lnTo>
                    <a:pt x="2803395" y="13395"/>
                  </a:lnTo>
                  <a:lnTo>
                    <a:pt x="2760742" y="3423"/>
                  </a:lnTo>
                  <a:lnTo>
                    <a:pt x="2716276" y="0"/>
                  </a:lnTo>
                  <a:close/>
                </a:path>
              </a:pathLst>
            </a:custGeom>
            <a:solidFill>
              <a:srgbClr val="39877A"/>
            </a:solidFill>
          </p:spPr>
          <p:txBody>
            <a:bodyPr wrap="square" lIns="0" tIns="0" rIns="0" bIns="0" rtlCol="0"/>
            <a:lstStyle/>
            <a:p/>
          </p:txBody>
        </p:sp>
        <p:sp>
          <p:nvSpPr>
            <p:cNvPr id="11" name="object 11"/>
            <p:cNvSpPr/>
            <p:nvPr/>
          </p:nvSpPr>
          <p:spPr>
            <a:xfrm>
              <a:off x="365125" y="132714"/>
              <a:ext cx="3044190" cy="749935"/>
            </a:xfrm>
            <a:custGeom>
              <a:avLst/>
              <a:gdLst/>
              <a:ahLst/>
              <a:cxnLst/>
              <a:rect l="l" t="t" r="r" b="b"/>
              <a:pathLst>
                <a:path w="3044190" h="749935">
                  <a:moveTo>
                    <a:pt x="327812" y="0"/>
                  </a:moveTo>
                  <a:lnTo>
                    <a:pt x="2702306" y="0"/>
                  </a:lnTo>
                  <a:lnTo>
                    <a:pt x="2702306" y="1650"/>
                  </a:lnTo>
                  <a:lnTo>
                    <a:pt x="2760742" y="3423"/>
                  </a:lnTo>
                  <a:lnTo>
                    <a:pt x="2803395" y="13395"/>
                  </a:lnTo>
                  <a:lnTo>
                    <a:pt x="2843841" y="29469"/>
                  </a:lnTo>
                  <a:lnTo>
                    <a:pt x="2881691" y="51199"/>
                  </a:lnTo>
                  <a:lnTo>
                    <a:pt x="2916552" y="78138"/>
                  </a:lnTo>
                  <a:lnTo>
                    <a:pt x="2948035" y="109839"/>
                  </a:lnTo>
                  <a:lnTo>
                    <a:pt x="2975747" y="145855"/>
                  </a:lnTo>
                  <a:lnTo>
                    <a:pt x="2999297" y="185739"/>
                  </a:lnTo>
                  <a:lnTo>
                    <a:pt x="3018295" y="229046"/>
                  </a:lnTo>
                  <a:lnTo>
                    <a:pt x="3032350" y="275328"/>
                  </a:lnTo>
                  <a:lnTo>
                    <a:pt x="3041069" y="324138"/>
                  </a:lnTo>
                  <a:lnTo>
                    <a:pt x="3044063" y="375030"/>
                  </a:lnTo>
                  <a:lnTo>
                    <a:pt x="3041069" y="425894"/>
                  </a:lnTo>
                  <a:lnTo>
                    <a:pt x="3032350" y="474680"/>
                  </a:lnTo>
                  <a:lnTo>
                    <a:pt x="3018295" y="520942"/>
                  </a:lnTo>
                  <a:lnTo>
                    <a:pt x="2999297" y="564232"/>
                  </a:lnTo>
                  <a:lnTo>
                    <a:pt x="2975747" y="604105"/>
                  </a:lnTo>
                  <a:lnTo>
                    <a:pt x="2948035" y="640111"/>
                  </a:lnTo>
                  <a:lnTo>
                    <a:pt x="2916552" y="671805"/>
                  </a:lnTo>
                  <a:lnTo>
                    <a:pt x="2881691" y="698739"/>
                  </a:lnTo>
                  <a:lnTo>
                    <a:pt x="2843841" y="720467"/>
                  </a:lnTo>
                  <a:lnTo>
                    <a:pt x="2803395" y="736540"/>
                  </a:lnTo>
                  <a:lnTo>
                    <a:pt x="2760742" y="746511"/>
                  </a:lnTo>
                  <a:lnTo>
                    <a:pt x="2716276" y="749934"/>
                  </a:lnTo>
                  <a:lnTo>
                    <a:pt x="2702306" y="748283"/>
                  </a:lnTo>
                  <a:lnTo>
                    <a:pt x="2702306" y="749934"/>
                  </a:lnTo>
                  <a:lnTo>
                    <a:pt x="327812" y="749934"/>
                  </a:lnTo>
                  <a:lnTo>
                    <a:pt x="283329" y="746511"/>
                  </a:lnTo>
                  <a:lnTo>
                    <a:pt x="240664" y="736539"/>
                  </a:lnTo>
                  <a:lnTo>
                    <a:pt x="200210" y="720465"/>
                  </a:lnTo>
                  <a:lnTo>
                    <a:pt x="162356" y="698735"/>
                  </a:lnTo>
                  <a:lnTo>
                    <a:pt x="127493" y="671796"/>
                  </a:lnTo>
                  <a:lnTo>
                    <a:pt x="96011" y="640095"/>
                  </a:lnTo>
                  <a:lnTo>
                    <a:pt x="68302" y="604079"/>
                  </a:lnTo>
                  <a:lnTo>
                    <a:pt x="44754" y="564195"/>
                  </a:lnTo>
                  <a:lnTo>
                    <a:pt x="25760" y="520888"/>
                  </a:lnTo>
                  <a:lnTo>
                    <a:pt x="11709" y="474606"/>
                  </a:lnTo>
                  <a:lnTo>
                    <a:pt x="2992" y="425796"/>
                  </a:lnTo>
                  <a:lnTo>
                    <a:pt x="0" y="374903"/>
                  </a:lnTo>
                  <a:lnTo>
                    <a:pt x="2992" y="324040"/>
                  </a:lnTo>
                  <a:lnTo>
                    <a:pt x="11709" y="275254"/>
                  </a:lnTo>
                  <a:lnTo>
                    <a:pt x="25760" y="228992"/>
                  </a:lnTo>
                  <a:lnTo>
                    <a:pt x="44754" y="185702"/>
                  </a:lnTo>
                  <a:lnTo>
                    <a:pt x="68302" y="145829"/>
                  </a:lnTo>
                  <a:lnTo>
                    <a:pt x="96011" y="109823"/>
                  </a:lnTo>
                  <a:lnTo>
                    <a:pt x="127493" y="78129"/>
                  </a:lnTo>
                  <a:lnTo>
                    <a:pt x="162356" y="51195"/>
                  </a:lnTo>
                  <a:lnTo>
                    <a:pt x="200210" y="29467"/>
                  </a:lnTo>
                  <a:lnTo>
                    <a:pt x="240664" y="13394"/>
                  </a:lnTo>
                  <a:lnTo>
                    <a:pt x="283329" y="3423"/>
                  </a:lnTo>
                  <a:lnTo>
                    <a:pt x="327812" y="0"/>
                  </a:lnTo>
                  <a:close/>
                </a:path>
              </a:pathLst>
            </a:custGeom>
            <a:ln w="38099">
              <a:solidFill>
                <a:srgbClr val="006453"/>
              </a:solidFill>
            </a:ln>
          </p:spPr>
          <p:txBody>
            <a:bodyPr wrap="square" lIns="0" tIns="0" rIns="0" bIns="0" rtlCol="0"/>
            <a:lstStyle/>
            <a:p/>
          </p:txBody>
        </p:sp>
        <p:pic>
          <p:nvPicPr>
            <p:cNvPr id="12" name="object 12"/>
            <p:cNvPicPr/>
            <p:nvPr/>
          </p:nvPicPr>
          <p:blipFill>
            <a:blip r:embed="rId2"/>
            <a:stretch>
              <a:fillRect/>
            </a:stretch>
          </p:blipFill>
          <p:spPr>
            <a:xfrm>
              <a:off x="493077" y="198704"/>
              <a:ext cx="485419" cy="617905"/>
            </a:xfrm>
            <a:prstGeom prst="rect">
              <a:avLst/>
            </a:prstGeom>
          </p:spPr>
        </p:pic>
        <p:sp>
          <p:nvSpPr>
            <p:cNvPr id="13" name="object 13"/>
            <p:cNvSpPr/>
            <p:nvPr/>
          </p:nvSpPr>
          <p:spPr>
            <a:xfrm>
              <a:off x="977900" y="276860"/>
              <a:ext cx="2329180" cy="460375"/>
            </a:xfrm>
            <a:custGeom>
              <a:avLst/>
              <a:gdLst/>
              <a:ahLst/>
              <a:cxnLst/>
              <a:rect l="l" t="t" r="r" b="b"/>
              <a:pathLst>
                <a:path w="2329179" h="460375">
                  <a:moveTo>
                    <a:pt x="2329179" y="0"/>
                  </a:moveTo>
                  <a:lnTo>
                    <a:pt x="0" y="0"/>
                  </a:lnTo>
                  <a:lnTo>
                    <a:pt x="0" y="460375"/>
                  </a:lnTo>
                  <a:lnTo>
                    <a:pt x="2329179" y="460375"/>
                  </a:lnTo>
                  <a:lnTo>
                    <a:pt x="2329179" y="0"/>
                  </a:lnTo>
                  <a:close/>
                </a:path>
              </a:pathLst>
            </a:custGeom>
            <a:solidFill>
              <a:srgbClr val="39877A"/>
            </a:solidFill>
          </p:spPr>
          <p:txBody>
            <a:bodyPr wrap="square" lIns="0" tIns="0" rIns="0" bIns="0" rtlCol="0"/>
            <a:lstStyle/>
            <a:p/>
          </p:txBody>
        </p:sp>
      </p:grpSp>
      <p:sp>
        <p:nvSpPr>
          <p:cNvPr id="14" name="object 14"/>
          <p:cNvSpPr txBox="1">
            <a:spLocks noGrp="1"/>
          </p:cNvSpPr>
          <p:nvPr>
            <p:ph type="title"/>
          </p:nvPr>
        </p:nvSpPr>
        <p:spPr>
          <a:xfrm>
            <a:off x="1056843" y="319278"/>
            <a:ext cx="2169795" cy="391160"/>
          </a:xfrm>
          <a:prstGeom prst="rect">
            <a:avLst/>
          </a:prstGeom>
        </p:spPr>
        <p:txBody>
          <a:bodyPr vert="horz" wrap="square" lIns="0" tIns="12700" rIns="0" bIns="0" rtlCol="0">
            <a:spAutoFit/>
          </a:bodyPr>
          <a:lstStyle/>
          <a:p>
            <a:pPr marL="12700">
              <a:lnSpc>
                <a:spcPct val="100000"/>
              </a:lnSpc>
              <a:spcBef>
                <a:spcPts val="100"/>
              </a:spcBef>
            </a:pPr>
            <a:r>
              <a:rPr spc="-20"/>
              <a:t>研究背景及意</a:t>
            </a:r>
            <a:r>
              <a:rPr spc="-50"/>
              <a:t>义</a:t>
            </a:r>
            <a:endParaRPr spc="-50"/>
          </a:p>
        </p:txBody>
      </p:sp>
      <p:sp>
        <p:nvSpPr>
          <p:cNvPr id="15" name="object 15"/>
          <p:cNvSpPr txBox="1"/>
          <p:nvPr/>
        </p:nvSpPr>
        <p:spPr>
          <a:xfrm>
            <a:off x="7315200" y="1219200"/>
            <a:ext cx="4661535" cy="788670"/>
          </a:xfrm>
          <a:prstGeom prst="rect">
            <a:avLst/>
          </a:prstGeom>
          <a:ln w="38100">
            <a:solidFill>
              <a:srgbClr val="C00000"/>
            </a:solidFill>
          </a:ln>
        </p:spPr>
        <p:txBody>
          <a:bodyPr vert="horz" wrap="square" lIns="0" tIns="26034" rIns="0" bIns="0" rtlCol="0">
            <a:noAutofit/>
          </a:bodyPr>
          <a:lstStyle/>
          <a:p>
            <a:pPr marR="5080">
              <a:lnSpc>
                <a:spcPct val="125000"/>
              </a:lnSpc>
              <a:spcBef>
                <a:spcPts val="260"/>
              </a:spcBef>
            </a:pPr>
            <a:r>
              <a:rPr kumimoji="0" lang="zh-CN" altLang="en-US" sz="1800" b="1" i="0" u="none" strike="noStrike" kern="0" cap="none" spc="-5" normalizeH="0" baseline="0" noProof="1">
                <a:latin typeface="宋体" panose="02010600030101010101" pitchFamily="2" charset="-122"/>
                <a:ea typeface="Arial" panose="020B0604020202020204" pitchFamily="34" charset="0"/>
                <a:cs typeface="宋体" panose="02010600030101010101" pitchFamily="2" charset="-122"/>
                <a:sym typeface="+mn-ea"/>
              </a:rPr>
              <a:t>机械臂将穴位识别后的二维路径点转化为三维点云后给到机械臂一串间隔合适的路径点</a:t>
            </a:r>
            <a:endParaRPr kumimoji="0" lang="zh-CN" altLang="en-US" sz="1800" b="1" i="0" u="none" strike="noStrike" kern="0" cap="none" spc="-5" normalizeH="0" baseline="0" noProof="1">
              <a:latin typeface="宋体" panose="02010600030101010101" pitchFamily="2" charset="-122"/>
              <a:ea typeface="Arial" panose="020B0604020202020204" pitchFamily="34" charset="0"/>
              <a:cs typeface="宋体" panose="02010600030101010101" pitchFamily="2" charset="-122"/>
              <a:sym typeface="+mn-ea"/>
            </a:endParaRPr>
          </a:p>
        </p:txBody>
      </p:sp>
      <p:sp>
        <p:nvSpPr>
          <p:cNvPr id="17" name="object 9"/>
          <p:cNvSpPr txBox="1"/>
          <p:nvPr/>
        </p:nvSpPr>
        <p:spPr>
          <a:xfrm>
            <a:off x="2895600" y="6096000"/>
            <a:ext cx="6602730" cy="381635"/>
          </a:xfrm>
          <a:prstGeom prst="rect">
            <a:avLst/>
          </a:prstGeom>
        </p:spPr>
        <p:txBody>
          <a:bodyPr vert="horz" wrap="square" lIns="0" tIns="12700" rIns="0" bIns="0" rtlCol="0">
            <a:spAutoFit/>
          </a:bodyPr>
          <a:lstStyle/>
          <a:p>
            <a:pPr algn="ctr">
              <a:lnSpc>
                <a:spcPct val="100000"/>
              </a:lnSpc>
              <a:spcBef>
                <a:spcPts val="835"/>
              </a:spcBef>
            </a:pPr>
            <a:r>
              <a:rPr lang="zh-CN" altLang="en-US" sz="2400" b="1" spc="-5">
                <a:latin typeface="宋体" panose="02010600030101010101" pitchFamily="2" charset="-122"/>
                <a:cs typeface="宋体" panose="02010600030101010101" pitchFamily="2" charset="-122"/>
                <a:sym typeface="+mn-ea"/>
              </a:rPr>
              <a:t>图</a:t>
            </a:r>
            <a:r>
              <a:rPr lang="en-US" altLang="zh-CN" sz="2400" b="1" spc="-5">
                <a:latin typeface="宋体" panose="02010600030101010101" pitchFamily="2" charset="-122"/>
                <a:cs typeface="宋体" panose="02010600030101010101" pitchFamily="2" charset="-122"/>
                <a:sym typeface="+mn-ea"/>
              </a:rPr>
              <a:t>4 </a:t>
            </a:r>
            <a:r>
              <a:rPr lang="zh-CN" altLang="en-US" sz="2400" b="1" spc="-5">
                <a:latin typeface="宋体" panose="02010600030101010101" pitchFamily="2" charset="-122"/>
                <a:cs typeface="宋体" panose="02010600030101010101" pitchFamily="2" charset="-122"/>
                <a:sym typeface="+mn-ea"/>
              </a:rPr>
              <a:t>基于穴位识别的机械臂控制后处理</a:t>
            </a:r>
            <a:r>
              <a:rPr lang="zh-CN" altLang="en-US" sz="2400" b="1" spc="-5">
                <a:latin typeface="宋体" panose="02010600030101010101" pitchFamily="2" charset="-122"/>
                <a:cs typeface="宋体" panose="02010600030101010101" pitchFamily="2" charset="-122"/>
                <a:sym typeface="+mn-ea"/>
              </a:rPr>
              <a:t>逻辑</a:t>
            </a:r>
            <a:endParaRPr lang="zh-CN" altLang="en-US" sz="2400" b="1" spc="-5">
              <a:latin typeface="宋体" panose="02010600030101010101" pitchFamily="2" charset="-122"/>
              <a:cs typeface="宋体" panose="02010600030101010101" pitchFamily="2" charset="-122"/>
              <a:sym typeface="+mn-ea"/>
            </a:endParaRPr>
          </a:p>
        </p:txBody>
      </p:sp>
      <p:pic>
        <p:nvPicPr>
          <p:cNvPr id="7" name="图片 6" descr="机械臂路径"/>
          <p:cNvPicPr>
            <a:picLocks noChangeAspect="1"/>
          </p:cNvPicPr>
          <p:nvPr/>
        </p:nvPicPr>
        <p:blipFill>
          <a:blip r:embed="rId3"/>
          <a:stretch>
            <a:fillRect/>
          </a:stretch>
        </p:blipFill>
        <p:spPr>
          <a:xfrm>
            <a:off x="257175" y="2214880"/>
            <a:ext cx="5743575" cy="3536315"/>
          </a:xfrm>
          <a:prstGeom prst="rect">
            <a:avLst/>
          </a:prstGeom>
        </p:spPr>
      </p:pic>
      <p:pic>
        <p:nvPicPr>
          <p:cNvPr id="19" name="图片 18" descr="例"/>
          <p:cNvPicPr>
            <a:picLocks noChangeAspect="1"/>
          </p:cNvPicPr>
          <p:nvPr/>
        </p:nvPicPr>
        <p:blipFill>
          <a:blip r:embed="rId4"/>
          <a:stretch>
            <a:fillRect/>
          </a:stretch>
        </p:blipFill>
        <p:spPr>
          <a:xfrm>
            <a:off x="6172200" y="2209800"/>
            <a:ext cx="5969000" cy="3554095"/>
          </a:xfrm>
          <a:prstGeom prst="rect">
            <a:avLst/>
          </a:prstGeom>
        </p:spPr>
      </p:pic>
      <p:sp>
        <p:nvSpPr>
          <p:cNvPr id="20" name="文本框 19"/>
          <p:cNvSpPr txBox="1"/>
          <p:nvPr/>
        </p:nvSpPr>
        <p:spPr>
          <a:xfrm>
            <a:off x="60325" y="5774055"/>
            <a:ext cx="5940425" cy="368300"/>
          </a:xfrm>
          <a:prstGeom prst="rect">
            <a:avLst/>
          </a:prstGeom>
          <a:noFill/>
        </p:spPr>
        <p:txBody>
          <a:bodyPr wrap="square" rtlCol="0">
            <a:spAutoFit/>
          </a:bodyPr>
          <a:p>
            <a:pPr algn="ctr"/>
            <a:r>
              <a:rPr lang="zh-CN" altLang="en-US"/>
              <a:t>图</a:t>
            </a:r>
            <a:r>
              <a:rPr lang="en-US" altLang="zh-CN"/>
              <a:t>A </a:t>
            </a:r>
            <a:r>
              <a:rPr lang="zh-CN" altLang="en-US"/>
              <a:t>机械臂运动轨迹</a:t>
            </a:r>
            <a:r>
              <a:rPr lang="zh-CN" altLang="en-US"/>
              <a:t>数据</a:t>
            </a:r>
            <a:endParaRPr lang="zh-CN" altLang="en-US"/>
          </a:p>
        </p:txBody>
      </p:sp>
      <p:sp>
        <p:nvSpPr>
          <p:cNvPr id="22" name="文本框 21"/>
          <p:cNvSpPr txBox="1"/>
          <p:nvPr/>
        </p:nvSpPr>
        <p:spPr>
          <a:xfrm>
            <a:off x="6400800" y="5800090"/>
            <a:ext cx="5940425" cy="368300"/>
          </a:xfrm>
          <a:prstGeom prst="rect">
            <a:avLst/>
          </a:prstGeom>
          <a:noFill/>
        </p:spPr>
        <p:txBody>
          <a:bodyPr wrap="square" rtlCol="0">
            <a:spAutoFit/>
          </a:bodyPr>
          <a:p>
            <a:pPr algn="ctr"/>
            <a:r>
              <a:rPr lang="zh-CN" altLang="en-US"/>
              <a:t>图</a:t>
            </a:r>
            <a:r>
              <a:rPr lang="en-US" altLang="zh-CN"/>
              <a:t>B </a:t>
            </a:r>
            <a:r>
              <a:rPr lang="zh-CN" altLang="en-US"/>
              <a:t>方法类</a:t>
            </a:r>
            <a:r>
              <a:rPr lang="zh-CN" altLang="en-US"/>
              <a:t>添加</a:t>
            </a:r>
            <a:endParaRPr lang="zh-CN" alt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初始状态"/>
          <p:cNvPicPr>
            <a:picLocks noChangeAspect="1"/>
          </p:cNvPicPr>
          <p:nvPr/>
        </p:nvPicPr>
        <p:blipFill>
          <a:blip r:embed="rId1"/>
          <a:stretch>
            <a:fillRect/>
          </a:stretch>
        </p:blipFill>
        <p:spPr>
          <a:xfrm>
            <a:off x="-121920" y="-281940"/>
            <a:ext cx="12416155" cy="7284720"/>
          </a:xfrm>
          <a:prstGeom prst="rect">
            <a:avLst/>
          </a:prstGeom>
        </p:spPr>
      </p:pic>
      <p:sp>
        <p:nvSpPr>
          <p:cNvPr id="5" name="object 5"/>
          <p:cNvSpPr txBox="1"/>
          <p:nvPr/>
        </p:nvSpPr>
        <p:spPr>
          <a:xfrm>
            <a:off x="1401445" y="1275715"/>
            <a:ext cx="3228975" cy="628650"/>
          </a:xfrm>
          <a:prstGeom prst="rect">
            <a:avLst/>
          </a:prstGeom>
        </p:spPr>
        <p:txBody>
          <a:bodyPr vert="horz" wrap="square" lIns="0" tIns="13335" rIns="0" bIns="0" rtlCol="0">
            <a:spAutoFit/>
          </a:bodyPr>
          <a:lstStyle/>
          <a:p>
            <a:pPr marL="12700">
              <a:lnSpc>
                <a:spcPct val="100000"/>
              </a:lnSpc>
              <a:spcBef>
                <a:spcPts val="105"/>
              </a:spcBef>
            </a:pPr>
            <a:r>
              <a:rPr lang="zh-CN" altLang="en-US" sz="2000" b="1" spc="-10">
                <a:solidFill>
                  <a:schemeClr val="bg1"/>
                </a:solidFill>
                <a:latin typeface="微软雅黑" panose="020B0503020204020204" charset="-122"/>
                <a:cs typeface="微软雅黑" panose="020B0503020204020204" charset="-122"/>
              </a:rPr>
              <a:t>二维穴位数据转三维点云的实现意义</a:t>
            </a:r>
            <a:endParaRPr lang="zh-CN" altLang="en-US" sz="2000" b="1" spc="-10">
              <a:solidFill>
                <a:schemeClr val="bg1"/>
              </a:solidFill>
              <a:latin typeface="微软雅黑" panose="020B0503020204020204" charset="-122"/>
              <a:cs typeface="微软雅黑" panose="020B0503020204020204" charset="-122"/>
            </a:endParaRPr>
          </a:p>
        </p:txBody>
      </p:sp>
      <p:pic>
        <p:nvPicPr>
          <p:cNvPr id="6" name="object 6"/>
          <p:cNvPicPr/>
          <p:nvPr/>
        </p:nvPicPr>
        <p:blipFill>
          <a:blip r:embed="rId2"/>
          <a:stretch>
            <a:fillRect/>
          </a:stretch>
        </p:blipFill>
        <p:spPr>
          <a:xfrm>
            <a:off x="952222" y="1327976"/>
            <a:ext cx="265938" cy="233773"/>
          </a:xfrm>
          <a:prstGeom prst="rect">
            <a:avLst/>
          </a:prstGeom>
        </p:spPr>
      </p:pic>
      <p:grpSp>
        <p:nvGrpSpPr>
          <p:cNvPr id="9" name="object 9"/>
          <p:cNvGrpSpPr/>
          <p:nvPr/>
        </p:nvGrpSpPr>
        <p:grpSpPr>
          <a:xfrm>
            <a:off x="346075" y="113664"/>
            <a:ext cx="3082290" cy="788035"/>
            <a:chOff x="346075" y="113664"/>
            <a:chExt cx="3082290" cy="788035"/>
          </a:xfrm>
        </p:grpSpPr>
        <p:sp>
          <p:nvSpPr>
            <p:cNvPr id="10" name="object 10"/>
            <p:cNvSpPr/>
            <p:nvPr/>
          </p:nvSpPr>
          <p:spPr>
            <a:xfrm>
              <a:off x="365125" y="132714"/>
              <a:ext cx="3044190" cy="749935"/>
            </a:xfrm>
            <a:custGeom>
              <a:avLst/>
              <a:gdLst/>
              <a:ahLst/>
              <a:cxnLst/>
              <a:rect l="l" t="t" r="r" b="b"/>
              <a:pathLst>
                <a:path w="3044190" h="749935">
                  <a:moveTo>
                    <a:pt x="2716276" y="0"/>
                  </a:moveTo>
                  <a:lnTo>
                    <a:pt x="2702306" y="1650"/>
                  </a:lnTo>
                  <a:lnTo>
                    <a:pt x="2702306" y="0"/>
                  </a:lnTo>
                  <a:lnTo>
                    <a:pt x="327812" y="0"/>
                  </a:lnTo>
                  <a:lnTo>
                    <a:pt x="283329" y="3423"/>
                  </a:lnTo>
                  <a:lnTo>
                    <a:pt x="240664" y="13394"/>
                  </a:lnTo>
                  <a:lnTo>
                    <a:pt x="200210" y="29467"/>
                  </a:lnTo>
                  <a:lnTo>
                    <a:pt x="162356" y="51195"/>
                  </a:lnTo>
                  <a:lnTo>
                    <a:pt x="127493" y="78129"/>
                  </a:lnTo>
                  <a:lnTo>
                    <a:pt x="96011" y="109823"/>
                  </a:lnTo>
                  <a:lnTo>
                    <a:pt x="68302" y="145829"/>
                  </a:lnTo>
                  <a:lnTo>
                    <a:pt x="44754" y="185702"/>
                  </a:lnTo>
                  <a:lnTo>
                    <a:pt x="25760" y="228992"/>
                  </a:lnTo>
                  <a:lnTo>
                    <a:pt x="11709" y="275254"/>
                  </a:lnTo>
                  <a:lnTo>
                    <a:pt x="2992" y="324040"/>
                  </a:lnTo>
                  <a:lnTo>
                    <a:pt x="0" y="374903"/>
                  </a:lnTo>
                  <a:lnTo>
                    <a:pt x="2992" y="425796"/>
                  </a:lnTo>
                  <a:lnTo>
                    <a:pt x="11709" y="474606"/>
                  </a:lnTo>
                  <a:lnTo>
                    <a:pt x="25760" y="520888"/>
                  </a:lnTo>
                  <a:lnTo>
                    <a:pt x="44754" y="564195"/>
                  </a:lnTo>
                  <a:lnTo>
                    <a:pt x="68302" y="604079"/>
                  </a:lnTo>
                  <a:lnTo>
                    <a:pt x="96011" y="640095"/>
                  </a:lnTo>
                  <a:lnTo>
                    <a:pt x="127493" y="671796"/>
                  </a:lnTo>
                  <a:lnTo>
                    <a:pt x="162356" y="698735"/>
                  </a:lnTo>
                  <a:lnTo>
                    <a:pt x="200210" y="720465"/>
                  </a:lnTo>
                  <a:lnTo>
                    <a:pt x="240664" y="736539"/>
                  </a:lnTo>
                  <a:lnTo>
                    <a:pt x="283329" y="746511"/>
                  </a:lnTo>
                  <a:lnTo>
                    <a:pt x="327812" y="749934"/>
                  </a:lnTo>
                  <a:lnTo>
                    <a:pt x="2702306" y="749934"/>
                  </a:lnTo>
                  <a:lnTo>
                    <a:pt x="2702306" y="748283"/>
                  </a:lnTo>
                  <a:lnTo>
                    <a:pt x="2716276" y="749934"/>
                  </a:lnTo>
                  <a:lnTo>
                    <a:pt x="2760742" y="746511"/>
                  </a:lnTo>
                  <a:lnTo>
                    <a:pt x="2803395" y="736540"/>
                  </a:lnTo>
                  <a:lnTo>
                    <a:pt x="2843841" y="720467"/>
                  </a:lnTo>
                  <a:lnTo>
                    <a:pt x="2881691" y="698739"/>
                  </a:lnTo>
                  <a:lnTo>
                    <a:pt x="2916552" y="671805"/>
                  </a:lnTo>
                  <a:lnTo>
                    <a:pt x="2948035" y="640111"/>
                  </a:lnTo>
                  <a:lnTo>
                    <a:pt x="2975747" y="604105"/>
                  </a:lnTo>
                  <a:lnTo>
                    <a:pt x="2999297" y="564232"/>
                  </a:lnTo>
                  <a:lnTo>
                    <a:pt x="3018295" y="520942"/>
                  </a:lnTo>
                  <a:lnTo>
                    <a:pt x="3032350" y="474680"/>
                  </a:lnTo>
                  <a:lnTo>
                    <a:pt x="3041069" y="425894"/>
                  </a:lnTo>
                  <a:lnTo>
                    <a:pt x="3044063" y="375030"/>
                  </a:lnTo>
                  <a:lnTo>
                    <a:pt x="3041069" y="324138"/>
                  </a:lnTo>
                  <a:lnTo>
                    <a:pt x="3032350" y="275328"/>
                  </a:lnTo>
                  <a:lnTo>
                    <a:pt x="3018295" y="229046"/>
                  </a:lnTo>
                  <a:lnTo>
                    <a:pt x="2999297" y="185739"/>
                  </a:lnTo>
                  <a:lnTo>
                    <a:pt x="2975747" y="145855"/>
                  </a:lnTo>
                  <a:lnTo>
                    <a:pt x="2948035" y="109839"/>
                  </a:lnTo>
                  <a:lnTo>
                    <a:pt x="2916552" y="78138"/>
                  </a:lnTo>
                  <a:lnTo>
                    <a:pt x="2881691" y="51199"/>
                  </a:lnTo>
                  <a:lnTo>
                    <a:pt x="2843841" y="29469"/>
                  </a:lnTo>
                  <a:lnTo>
                    <a:pt x="2803395" y="13395"/>
                  </a:lnTo>
                  <a:lnTo>
                    <a:pt x="2760742" y="3423"/>
                  </a:lnTo>
                  <a:lnTo>
                    <a:pt x="2716276" y="0"/>
                  </a:lnTo>
                  <a:close/>
                </a:path>
              </a:pathLst>
            </a:custGeom>
            <a:solidFill>
              <a:srgbClr val="39877A"/>
            </a:solidFill>
          </p:spPr>
          <p:txBody>
            <a:bodyPr wrap="square" lIns="0" tIns="0" rIns="0" bIns="0" rtlCol="0"/>
            <a:lstStyle/>
            <a:p/>
          </p:txBody>
        </p:sp>
        <p:sp>
          <p:nvSpPr>
            <p:cNvPr id="11" name="object 11"/>
            <p:cNvSpPr/>
            <p:nvPr/>
          </p:nvSpPr>
          <p:spPr>
            <a:xfrm>
              <a:off x="365125" y="132714"/>
              <a:ext cx="3044190" cy="749935"/>
            </a:xfrm>
            <a:custGeom>
              <a:avLst/>
              <a:gdLst/>
              <a:ahLst/>
              <a:cxnLst/>
              <a:rect l="l" t="t" r="r" b="b"/>
              <a:pathLst>
                <a:path w="3044190" h="749935">
                  <a:moveTo>
                    <a:pt x="327812" y="0"/>
                  </a:moveTo>
                  <a:lnTo>
                    <a:pt x="2702306" y="0"/>
                  </a:lnTo>
                  <a:lnTo>
                    <a:pt x="2702306" y="1650"/>
                  </a:lnTo>
                  <a:lnTo>
                    <a:pt x="2760742" y="3423"/>
                  </a:lnTo>
                  <a:lnTo>
                    <a:pt x="2803395" y="13395"/>
                  </a:lnTo>
                  <a:lnTo>
                    <a:pt x="2843841" y="29469"/>
                  </a:lnTo>
                  <a:lnTo>
                    <a:pt x="2881691" y="51199"/>
                  </a:lnTo>
                  <a:lnTo>
                    <a:pt x="2916552" y="78138"/>
                  </a:lnTo>
                  <a:lnTo>
                    <a:pt x="2948035" y="109839"/>
                  </a:lnTo>
                  <a:lnTo>
                    <a:pt x="2975747" y="145855"/>
                  </a:lnTo>
                  <a:lnTo>
                    <a:pt x="2999297" y="185739"/>
                  </a:lnTo>
                  <a:lnTo>
                    <a:pt x="3018295" y="229046"/>
                  </a:lnTo>
                  <a:lnTo>
                    <a:pt x="3032350" y="275328"/>
                  </a:lnTo>
                  <a:lnTo>
                    <a:pt x="3041069" y="324138"/>
                  </a:lnTo>
                  <a:lnTo>
                    <a:pt x="3044063" y="375030"/>
                  </a:lnTo>
                  <a:lnTo>
                    <a:pt x="3041069" y="425894"/>
                  </a:lnTo>
                  <a:lnTo>
                    <a:pt x="3032350" y="474680"/>
                  </a:lnTo>
                  <a:lnTo>
                    <a:pt x="3018295" y="520942"/>
                  </a:lnTo>
                  <a:lnTo>
                    <a:pt x="2999297" y="564232"/>
                  </a:lnTo>
                  <a:lnTo>
                    <a:pt x="2975747" y="604105"/>
                  </a:lnTo>
                  <a:lnTo>
                    <a:pt x="2948035" y="640111"/>
                  </a:lnTo>
                  <a:lnTo>
                    <a:pt x="2916552" y="671805"/>
                  </a:lnTo>
                  <a:lnTo>
                    <a:pt x="2881691" y="698739"/>
                  </a:lnTo>
                  <a:lnTo>
                    <a:pt x="2843841" y="720467"/>
                  </a:lnTo>
                  <a:lnTo>
                    <a:pt x="2803395" y="736540"/>
                  </a:lnTo>
                  <a:lnTo>
                    <a:pt x="2760742" y="746511"/>
                  </a:lnTo>
                  <a:lnTo>
                    <a:pt x="2716276" y="749934"/>
                  </a:lnTo>
                  <a:lnTo>
                    <a:pt x="2702306" y="748283"/>
                  </a:lnTo>
                  <a:lnTo>
                    <a:pt x="2702306" y="749934"/>
                  </a:lnTo>
                  <a:lnTo>
                    <a:pt x="327812" y="749934"/>
                  </a:lnTo>
                  <a:lnTo>
                    <a:pt x="283329" y="746511"/>
                  </a:lnTo>
                  <a:lnTo>
                    <a:pt x="240664" y="736539"/>
                  </a:lnTo>
                  <a:lnTo>
                    <a:pt x="200210" y="720465"/>
                  </a:lnTo>
                  <a:lnTo>
                    <a:pt x="162356" y="698735"/>
                  </a:lnTo>
                  <a:lnTo>
                    <a:pt x="127493" y="671796"/>
                  </a:lnTo>
                  <a:lnTo>
                    <a:pt x="96011" y="640095"/>
                  </a:lnTo>
                  <a:lnTo>
                    <a:pt x="68302" y="604079"/>
                  </a:lnTo>
                  <a:lnTo>
                    <a:pt x="44754" y="564195"/>
                  </a:lnTo>
                  <a:lnTo>
                    <a:pt x="25760" y="520888"/>
                  </a:lnTo>
                  <a:lnTo>
                    <a:pt x="11709" y="474606"/>
                  </a:lnTo>
                  <a:lnTo>
                    <a:pt x="2992" y="425796"/>
                  </a:lnTo>
                  <a:lnTo>
                    <a:pt x="0" y="374903"/>
                  </a:lnTo>
                  <a:lnTo>
                    <a:pt x="2992" y="324040"/>
                  </a:lnTo>
                  <a:lnTo>
                    <a:pt x="11709" y="275254"/>
                  </a:lnTo>
                  <a:lnTo>
                    <a:pt x="25760" y="228992"/>
                  </a:lnTo>
                  <a:lnTo>
                    <a:pt x="44754" y="185702"/>
                  </a:lnTo>
                  <a:lnTo>
                    <a:pt x="68302" y="145829"/>
                  </a:lnTo>
                  <a:lnTo>
                    <a:pt x="96011" y="109823"/>
                  </a:lnTo>
                  <a:lnTo>
                    <a:pt x="127493" y="78129"/>
                  </a:lnTo>
                  <a:lnTo>
                    <a:pt x="162356" y="51195"/>
                  </a:lnTo>
                  <a:lnTo>
                    <a:pt x="200210" y="29467"/>
                  </a:lnTo>
                  <a:lnTo>
                    <a:pt x="240664" y="13394"/>
                  </a:lnTo>
                  <a:lnTo>
                    <a:pt x="283329" y="3423"/>
                  </a:lnTo>
                  <a:lnTo>
                    <a:pt x="327812" y="0"/>
                  </a:lnTo>
                  <a:close/>
                </a:path>
              </a:pathLst>
            </a:custGeom>
            <a:ln w="38099">
              <a:solidFill>
                <a:srgbClr val="006453"/>
              </a:solidFill>
            </a:ln>
          </p:spPr>
          <p:txBody>
            <a:bodyPr wrap="square" lIns="0" tIns="0" rIns="0" bIns="0" rtlCol="0"/>
            <a:lstStyle/>
            <a:p/>
          </p:txBody>
        </p:sp>
        <p:pic>
          <p:nvPicPr>
            <p:cNvPr id="12" name="object 12"/>
            <p:cNvPicPr/>
            <p:nvPr/>
          </p:nvPicPr>
          <p:blipFill>
            <a:blip r:embed="rId3"/>
            <a:stretch>
              <a:fillRect/>
            </a:stretch>
          </p:blipFill>
          <p:spPr>
            <a:xfrm>
              <a:off x="493077" y="198704"/>
              <a:ext cx="485419" cy="617905"/>
            </a:xfrm>
            <a:prstGeom prst="rect">
              <a:avLst/>
            </a:prstGeom>
          </p:spPr>
        </p:pic>
        <p:sp>
          <p:nvSpPr>
            <p:cNvPr id="13" name="object 13"/>
            <p:cNvSpPr/>
            <p:nvPr/>
          </p:nvSpPr>
          <p:spPr>
            <a:xfrm>
              <a:off x="977900" y="276860"/>
              <a:ext cx="2329180" cy="460375"/>
            </a:xfrm>
            <a:custGeom>
              <a:avLst/>
              <a:gdLst/>
              <a:ahLst/>
              <a:cxnLst/>
              <a:rect l="l" t="t" r="r" b="b"/>
              <a:pathLst>
                <a:path w="2329179" h="460375">
                  <a:moveTo>
                    <a:pt x="2329179" y="0"/>
                  </a:moveTo>
                  <a:lnTo>
                    <a:pt x="0" y="0"/>
                  </a:lnTo>
                  <a:lnTo>
                    <a:pt x="0" y="460375"/>
                  </a:lnTo>
                  <a:lnTo>
                    <a:pt x="2329179" y="460375"/>
                  </a:lnTo>
                  <a:lnTo>
                    <a:pt x="2329179" y="0"/>
                  </a:lnTo>
                  <a:close/>
                </a:path>
              </a:pathLst>
            </a:custGeom>
            <a:solidFill>
              <a:srgbClr val="39877A"/>
            </a:solidFill>
          </p:spPr>
          <p:txBody>
            <a:bodyPr wrap="square" lIns="0" tIns="0" rIns="0" bIns="0" rtlCol="0"/>
            <a:lstStyle/>
            <a:p/>
          </p:txBody>
        </p:sp>
      </p:grpSp>
      <p:sp>
        <p:nvSpPr>
          <p:cNvPr id="14" name="object 14"/>
          <p:cNvSpPr txBox="1">
            <a:spLocks noGrp="1"/>
          </p:cNvSpPr>
          <p:nvPr>
            <p:ph type="title"/>
          </p:nvPr>
        </p:nvSpPr>
        <p:spPr>
          <a:xfrm>
            <a:off x="1056843" y="319278"/>
            <a:ext cx="2169795" cy="381635"/>
          </a:xfrm>
          <a:prstGeom prst="rect">
            <a:avLst/>
          </a:prstGeom>
        </p:spPr>
        <p:txBody>
          <a:bodyPr vert="horz" wrap="square" lIns="0" tIns="12700" rIns="0" bIns="0" rtlCol="0">
            <a:spAutoFit/>
          </a:bodyPr>
          <a:lstStyle/>
          <a:p>
            <a:pPr marL="12700">
              <a:lnSpc>
                <a:spcPct val="100000"/>
              </a:lnSpc>
              <a:spcBef>
                <a:spcPts val="100"/>
              </a:spcBef>
            </a:pPr>
            <a:r>
              <a:rPr lang="zh-CN" spc="-50"/>
              <a:t>实现</a:t>
            </a:r>
            <a:r>
              <a:rPr lang="zh-CN" spc="-50"/>
              <a:t>结果</a:t>
            </a:r>
            <a:endParaRPr lang="zh-CN" spc="-50"/>
          </a:p>
        </p:txBody>
      </p:sp>
      <p:sp>
        <p:nvSpPr>
          <p:cNvPr id="17" name="object 9"/>
          <p:cNvSpPr txBox="1"/>
          <p:nvPr/>
        </p:nvSpPr>
        <p:spPr>
          <a:xfrm>
            <a:off x="2438400" y="6401435"/>
            <a:ext cx="6602730" cy="381635"/>
          </a:xfrm>
          <a:prstGeom prst="rect">
            <a:avLst/>
          </a:prstGeom>
        </p:spPr>
        <p:txBody>
          <a:bodyPr vert="horz" wrap="square" lIns="0" tIns="12700" rIns="0" bIns="0" rtlCol="0">
            <a:spAutoFit/>
          </a:bodyPr>
          <a:lstStyle/>
          <a:p>
            <a:pPr algn="ctr">
              <a:lnSpc>
                <a:spcPct val="100000"/>
              </a:lnSpc>
              <a:spcBef>
                <a:spcPts val="835"/>
              </a:spcBef>
            </a:pPr>
            <a:r>
              <a:rPr lang="zh-CN" altLang="en-US" sz="2400" b="1" spc="-5">
                <a:solidFill>
                  <a:schemeClr val="bg1"/>
                </a:solidFill>
                <a:latin typeface="宋体" panose="02010600030101010101" pitchFamily="2" charset="-122"/>
                <a:cs typeface="宋体" panose="02010600030101010101" pitchFamily="2" charset="-122"/>
                <a:sym typeface="+mn-ea"/>
              </a:rPr>
              <a:t>例</a:t>
            </a:r>
            <a:r>
              <a:rPr lang="en-US" altLang="zh-CN" sz="2400" b="1" spc="-5">
                <a:solidFill>
                  <a:schemeClr val="bg1"/>
                </a:solidFill>
                <a:latin typeface="宋体" panose="02010600030101010101" pitchFamily="2" charset="-122"/>
                <a:cs typeface="宋体" panose="02010600030101010101" pitchFamily="2" charset="-122"/>
                <a:sym typeface="+mn-ea"/>
              </a:rPr>
              <a:t>1</a:t>
            </a:r>
            <a:r>
              <a:rPr lang="zh-CN" altLang="en-US" sz="2400" b="1" spc="-5">
                <a:solidFill>
                  <a:schemeClr val="bg1"/>
                </a:solidFill>
                <a:latin typeface="宋体" panose="02010600030101010101" pitchFamily="2" charset="-122"/>
                <a:cs typeface="宋体" panose="02010600030101010101" pitchFamily="2" charset="-122"/>
                <a:sym typeface="+mn-ea"/>
              </a:rPr>
              <a:t>：最终</a:t>
            </a:r>
            <a:r>
              <a:rPr lang="zh-CN" altLang="en-US" sz="2400" b="1" spc="-5">
                <a:solidFill>
                  <a:schemeClr val="bg1"/>
                </a:solidFill>
                <a:latin typeface="宋体" panose="02010600030101010101" pitchFamily="2" charset="-122"/>
                <a:cs typeface="宋体" panose="02010600030101010101" pitchFamily="2" charset="-122"/>
                <a:sym typeface="+mn-ea"/>
              </a:rPr>
              <a:t>效果</a:t>
            </a:r>
            <a:endParaRPr lang="zh-CN" altLang="en-US" sz="2400" b="1" spc="-5">
              <a:solidFill>
                <a:schemeClr val="bg1"/>
              </a:solidFill>
              <a:latin typeface="宋体" panose="02010600030101010101" pitchFamily="2" charset="-122"/>
              <a:cs typeface="宋体" panose="02010600030101010101" pitchFamily="2" charset="-122"/>
              <a:sym typeface="+mn-ea"/>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6350" y="1981200"/>
            <a:ext cx="12204700" cy="2441575"/>
            <a:chOff x="-6350" y="1981200"/>
            <a:chExt cx="12204700" cy="2441575"/>
          </a:xfrm>
        </p:grpSpPr>
        <p:sp>
          <p:nvSpPr>
            <p:cNvPr id="4" name="object 4"/>
            <p:cNvSpPr/>
            <p:nvPr/>
          </p:nvSpPr>
          <p:spPr>
            <a:xfrm>
              <a:off x="12164059" y="1987550"/>
              <a:ext cx="27940" cy="2428875"/>
            </a:xfrm>
            <a:custGeom>
              <a:avLst/>
              <a:gdLst/>
              <a:ahLst/>
              <a:cxnLst/>
              <a:rect l="l" t="t" r="r" b="b"/>
              <a:pathLst>
                <a:path w="27940" h="2428875">
                  <a:moveTo>
                    <a:pt x="0" y="2428875"/>
                  </a:moveTo>
                  <a:lnTo>
                    <a:pt x="27940" y="2428875"/>
                  </a:lnTo>
                  <a:lnTo>
                    <a:pt x="27940" y="0"/>
                  </a:lnTo>
                  <a:lnTo>
                    <a:pt x="0" y="0"/>
                  </a:lnTo>
                  <a:lnTo>
                    <a:pt x="0" y="2428875"/>
                  </a:lnTo>
                  <a:close/>
                </a:path>
              </a:pathLst>
            </a:custGeom>
            <a:solidFill>
              <a:srgbClr val="435D4E"/>
            </a:solidFill>
          </p:spPr>
          <p:txBody>
            <a:bodyPr wrap="square" lIns="0" tIns="0" rIns="0" bIns="0" rtlCol="0"/>
            <a:lstStyle/>
            <a:p/>
          </p:txBody>
        </p:sp>
        <p:sp>
          <p:nvSpPr>
            <p:cNvPr id="5" name="object 5"/>
            <p:cNvSpPr/>
            <p:nvPr/>
          </p:nvSpPr>
          <p:spPr>
            <a:xfrm>
              <a:off x="0" y="1987550"/>
              <a:ext cx="12192000" cy="2428875"/>
            </a:xfrm>
            <a:custGeom>
              <a:avLst/>
              <a:gdLst/>
              <a:ahLst/>
              <a:cxnLst/>
              <a:rect l="l" t="t" r="r" b="b"/>
              <a:pathLst>
                <a:path w="12192000" h="2428875">
                  <a:moveTo>
                    <a:pt x="0" y="2428875"/>
                  </a:moveTo>
                  <a:lnTo>
                    <a:pt x="12192000" y="2428875"/>
                  </a:lnTo>
                  <a:lnTo>
                    <a:pt x="12192000" y="0"/>
                  </a:lnTo>
                  <a:lnTo>
                    <a:pt x="0" y="0"/>
                  </a:lnTo>
                  <a:lnTo>
                    <a:pt x="0" y="2428875"/>
                  </a:lnTo>
                  <a:close/>
                </a:path>
              </a:pathLst>
            </a:custGeom>
            <a:ln w="12700">
              <a:solidFill>
                <a:srgbClr val="435D4E"/>
              </a:solidFill>
            </a:ln>
          </p:spPr>
          <p:txBody>
            <a:bodyPr wrap="square" lIns="0" tIns="0" rIns="0" bIns="0" rtlCol="0"/>
            <a:lstStyle/>
            <a:p/>
          </p:txBody>
        </p:sp>
        <p:sp>
          <p:nvSpPr>
            <p:cNvPr id="6" name="object 6"/>
            <p:cNvSpPr/>
            <p:nvPr/>
          </p:nvSpPr>
          <p:spPr>
            <a:xfrm>
              <a:off x="635" y="1987550"/>
              <a:ext cx="12163425" cy="2428875"/>
            </a:xfrm>
            <a:custGeom>
              <a:avLst/>
              <a:gdLst/>
              <a:ahLst/>
              <a:cxnLst/>
              <a:rect l="l" t="t" r="r" b="b"/>
              <a:pathLst>
                <a:path w="12163425" h="2428875">
                  <a:moveTo>
                    <a:pt x="12163425" y="0"/>
                  </a:moveTo>
                  <a:lnTo>
                    <a:pt x="0" y="0"/>
                  </a:lnTo>
                  <a:lnTo>
                    <a:pt x="0" y="2428875"/>
                  </a:lnTo>
                  <a:lnTo>
                    <a:pt x="12163425" y="2428875"/>
                  </a:lnTo>
                  <a:lnTo>
                    <a:pt x="12163425" y="0"/>
                  </a:lnTo>
                  <a:close/>
                </a:path>
              </a:pathLst>
            </a:custGeom>
            <a:solidFill>
              <a:srgbClr val="006453"/>
            </a:solidFill>
          </p:spPr>
          <p:txBody>
            <a:bodyPr wrap="square" lIns="0" tIns="0" rIns="0" bIns="0" rtlCol="0"/>
            <a:lstStyle/>
            <a:p/>
          </p:txBody>
        </p:sp>
      </p:grpSp>
      <p:pic>
        <p:nvPicPr>
          <p:cNvPr id="12" name="图片 11" descr="机械臂"/>
          <p:cNvPicPr>
            <a:picLocks noChangeAspect="1"/>
          </p:cNvPicPr>
          <p:nvPr/>
        </p:nvPicPr>
        <p:blipFill>
          <a:blip r:embed="rId1"/>
          <a:stretch>
            <a:fillRect/>
          </a:stretch>
        </p:blipFill>
        <p:spPr>
          <a:xfrm>
            <a:off x="7162800" y="-76200"/>
            <a:ext cx="5143500" cy="6858000"/>
          </a:xfrm>
          <a:prstGeom prst="rect">
            <a:avLst/>
          </a:prstGeom>
        </p:spPr>
      </p:pic>
      <p:sp>
        <p:nvSpPr>
          <p:cNvPr id="2" name="object 2"/>
          <p:cNvSpPr/>
          <p:nvPr/>
        </p:nvSpPr>
        <p:spPr>
          <a:xfrm>
            <a:off x="0" y="1987550"/>
            <a:ext cx="635" cy="2428875"/>
          </a:xfrm>
          <a:custGeom>
            <a:avLst/>
            <a:gdLst/>
            <a:ahLst/>
            <a:cxnLst/>
            <a:rect l="l" t="t" r="r" b="b"/>
            <a:pathLst>
              <a:path w="635" h="2428875">
                <a:moveTo>
                  <a:pt x="0" y="2428875"/>
                </a:moveTo>
                <a:lnTo>
                  <a:pt x="635" y="2428875"/>
                </a:lnTo>
                <a:lnTo>
                  <a:pt x="635" y="0"/>
                </a:lnTo>
                <a:lnTo>
                  <a:pt x="0" y="0"/>
                </a:lnTo>
                <a:lnTo>
                  <a:pt x="0" y="2428875"/>
                </a:lnTo>
                <a:close/>
              </a:path>
            </a:pathLst>
          </a:custGeom>
          <a:solidFill>
            <a:srgbClr val="435D4E"/>
          </a:solidFill>
        </p:spPr>
        <p:txBody>
          <a:bodyPr wrap="square" lIns="0" tIns="0" rIns="0" bIns="0" rtlCol="0"/>
          <a:lstStyle/>
          <a:p/>
        </p:txBody>
      </p:sp>
      <p:sp>
        <p:nvSpPr>
          <p:cNvPr id="7" name="object 7"/>
          <p:cNvSpPr txBox="1"/>
          <p:nvPr/>
        </p:nvSpPr>
        <p:spPr>
          <a:xfrm>
            <a:off x="6350" y="1868424"/>
            <a:ext cx="12157710" cy="2221230"/>
          </a:xfrm>
          <a:prstGeom prst="rect">
            <a:avLst/>
          </a:prstGeom>
        </p:spPr>
        <p:txBody>
          <a:bodyPr vert="horz" wrap="square" lIns="0" tIns="378460" rIns="0" bIns="0" rtlCol="0">
            <a:spAutoFit/>
          </a:bodyPr>
          <a:lstStyle/>
          <a:p>
            <a:pPr algn="ctr">
              <a:lnSpc>
                <a:spcPct val="100000"/>
              </a:lnSpc>
              <a:spcBef>
                <a:spcPts val="2980"/>
              </a:spcBef>
            </a:pPr>
            <a:r>
              <a:rPr sz="4800" b="1" spc="-35">
                <a:solidFill>
                  <a:srgbClr val="FFFFFF"/>
                </a:solidFill>
                <a:latin typeface="楷体" panose="02010609060101010101" charset="-122"/>
                <a:cs typeface="楷体" panose="02010609060101010101" charset="-122"/>
              </a:rPr>
              <a:t>感谢聆</a:t>
            </a:r>
            <a:r>
              <a:rPr sz="4800" b="1" spc="-50">
                <a:solidFill>
                  <a:srgbClr val="FFFFFF"/>
                </a:solidFill>
                <a:latin typeface="楷体" panose="02010609060101010101" charset="-122"/>
                <a:cs typeface="楷体" panose="02010609060101010101" charset="-122"/>
              </a:rPr>
              <a:t>听</a:t>
            </a:r>
            <a:endParaRPr sz="4800">
              <a:latin typeface="楷体" panose="02010609060101010101" charset="-122"/>
              <a:cs typeface="楷体" panose="02010609060101010101" charset="-122"/>
            </a:endParaRPr>
          </a:p>
          <a:p>
            <a:pPr algn="ctr">
              <a:lnSpc>
                <a:spcPct val="100000"/>
              </a:lnSpc>
              <a:spcBef>
                <a:spcPts val="2885"/>
              </a:spcBef>
            </a:pPr>
            <a:r>
              <a:rPr sz="4800" b="1" spc="-30">
                <a:solidFill>
                  <a:srgbClr val="FFFFFF"/>
                </a:solidFill>
                <a:latin typeface="楷体" panose="02010609060101010101" charset="-122"/>
                <a:cs typeface="楷体" panose="02010609060101010101" charset="-122"/>
              </a:rPr>
              <a:t>请各位老师批评指正</a:t>
            </a:r>
            <a:r>
              <a:rPr sz="4800" b="1" spc="-50">
                <a:solidFill>
                  <a:srgbClr val="FFFFFF"/>
                </a:solidFill>
                <a:latin typeface="楷体" panose="02010609060101010101" charset="-122"/>
                <a:cs typeface="楷体" panose="02010609060101010101" charset="-122"/>
              </a:rPr>
              <a:t>！</a:t>
            </a:r>
            <a:endParaRPr sz="4800">
              <a:latin typeface="楷体" panose="02010609060101010101" charset="-122"/>
              <a:cs typeface="楷体" panose="02010609060101010101" charset="-122"/>
            </a:endParaRPr>
          </a:p>
        </p:txBody>
      </p:sp>
      <p:pic>
        <p:nvPicPr>
          <p:cNvPr id="8" name="object 8"/>
          <p:cNvPicPr/>
          <p:nvPr/>
        </p:nvPicPr>
        <p:blipFill>
          <a:blip r:embed="rId2"/>
          <a:stretch>
            <a:fillRect/>
          </a:stretch>
        </p:blipFill>
        <p:spPr>
          <a:xfrm>
            <a:off x="132348" y="114384"/>
            <a:ext cx="741145" cy="740188"/>
          </a:xfrm>
          <a:prstGeom prst="rect">
            <a:avLst/>
          </a:prstGeom>
        </p:spPr>
      </p:pic>
      <p:sp>
        <p:nvSpPr>
          <p:cNvPr id="9" name="object 9"/>
          <p:cNvSpPr txBox="1">
            <a:spLocks noGrp="1"/>
          </p:cNvSpPr>
          <p:nvPr>
            <p:ph type="title"/>
          </p:nvPr>
        </p:nvSpPr>
        <p:spPr>
          <a:xfrm>
            <a:off x="938580" y="56923"/>
            <a:ext cx="2463800" cy="730885"/>
          </a:xfrm>
          <a:prstGeom prst="rect">
            <a:avLst/>
          </a:prstGeom>
        </p:spPr>
        <p:txBody>
          <a:bodyPr vert="horz" wrap="square" lIns="0" tIns="145415" rIns="0" bIns="0" rtlCol="0">
            <a:spAutoFit/>
          </a:bodyPr>
          <a:lstStyle/>
          <a:p>
            <a:pPr marL="12700">
              <a:lnSpc>
                <a:spcPct val="100000"/>
              </a:lnSpc>
              <a:spcBef>
                <a:spcPts val="1145"/>
              </a:spcBef>
            </a:pPr>
            <a:r>
              <a:rPr b="0" spc="-10">
                <a:solidFill>
                  <a:srgbClr val="000000"/>
                </a:solidFill>
                <a:latin typeface="PMingLiU"/>
                <a:cs typeface="PMingLiU"/>
              </a:rPr>
              <a:t>上海应用技术大学</a:t>
            </a:r>
            <a:endParaRPr b="0" spc="-10">
              <a:solidFill>
                <a:srgbClr val="000000"/>
              </a:solidFill>
              <a:latin typeface="PMingLiU"/>
              <a:cs typeface="PMingLiU"/>
            </a:endParaRPr>
          </a:p>
          <a:p>
            <a:pPr marL="48895">
              <a:lnSpc>
                <a:spcPct val="100000"/>
              </a:lnSpc>
              <a:spcBef>
                <a:spcPts val="430"/>
              </a:spcBef>
            </a:pPr>
            <a:r>
              <a:rPr sz="1000">
                <a:solidFill>
                  <a:srgbClr val="000000"/>
                </a:solidFill>
                <a:latin typeface="微软雅黑" panose="020B0503020204020204" charset="-122"/>
                <a:cs typeface="微软雅黑" panose="020B0503020204020204" charset="-122"/>
              </a:rPr>
              <a:t>Shanghai</a:t>
            </a:r>
            <a:r>
              <a:rPr sz="1000" spc="280">
                <a:solidFill>
                  <a:srgbClr val="000000"/>
                </a:solidFill>
                <a:latin typeface="微软雅黑" panose="020B0503020204020204" charset="-122"/>
                <a:cs typeface="微软雅黑" panose="020B0503020204020204" charset="-122"/>
              </a:rPr>
              <a:t> </a:t>
            </a:r>
            <a:r>
              <a:rPr sz="1000">
                <a:solidFill>
                  <a:srgbClr val="000000"/>
                </a:solidFill>
                <a:latin typeface="微软雅黑" panose="020B0503020204020204" charset="-122"/>
                <a:cs typeface="微软雅黑" panose="020B0503020204020204" charset="-122"/>
              </a:rPr>
              <a:t>Institute</a:t>
            </a:r>
            <a:r>
              <a:rPr sz="1000" spc="290">
                <a:solidFill>
                  <a:srgbClr val="000000"/>
                </a:solidFill>
                <a:latin typeface="微软雅黑" panose="020B0503020204020204" charset="-122"/>
                <a:cs typeface="微软雅黑" panose="020B0503020204020204" charset="-122"/>
              </a:rPr>
              <a:t> </a:t>
            </a:r>
            <a:r>
              <a:rPr sz="1000">
                <a:solidFill>
                  <a:srgbClr val="000000"/>
                </a:solidFill>
                <a:latin typeface="微软雅黑" panose="020B0503020204020204" charset="-122"/>
                <a:cs typeface="微软雅黑" panose="020B0503020204020204" charset="-122"/>
              </a:rPr>
              <a:t>of</a:t>
            </a:r>
            <a:r>
              <a:rPr sz="1000" spc="120">
                <a:solidFill>
                  <a:srgbClr val="000000"/>
                </a:solidFill>
                <a:latin typeface="微软雅黑" panose="020B0503020204020204" charset="-122"/>
                <a:cs typeface="微软雅黑" panose="020B0503020204020204" charset="-122"/>
              </a:rPr>
              <a:t>  </a:t>
            </a:r>
            <a:r>
              <a:rPr sz="1000" spc="-10">
                <a:solidFill>
                  <a:srgbClr val="000000"/>
                </a:solidFill>
                <a:latin typeface="微软雅黑" panose="020B0503020204020204" charset="-122"/>
                <a:cs typeface="微软雅黑" panose="020B0503020204020204" charset="-122"/>
              </a:rPr>
              <a:t>Technology</a:t>
            </a:r>
            <a:endParaRPr sz="1000">
              <a:latin typeface="微软雅黑" panose="020B0503020204020204" charset="-122"/>
              <a:cs typeface="微软雅黑" panose="020B0503020204020204" charset="-122"/>
            </a:endParaRPr>
          </a:p>
        </p:txBody>
      </p:sp>
      <p:sp>
        <p:nvSpPr>
          <p:cNvPr id="10" name="object 10"/>
          <p:cNvSpPr txBox="1"/>
          <p:nvPr/>
        </p:nvSpPr>
        <p:spPr>
          <a:xfrm>
            <a:off x="3280028" y="4914392"/>
            <a:ext cx="2161540" cy="381635"/>
          </a:xfrm>
          <a:prstGeom prst="rect">
            <a:avLst/>
          </a:prstGeom>
        </p:spPr>
        <p:txBody>
          <a:bodyPr vert="horz" wrap="square" lIns="0" tIns="12700" rIns="0" bIns="0" rtlCol="0">
            <a:spAutoFit/>
          </a:bodyPr>
          <a:lstStyle/>
          <a:p>
            <a:pPr marL="12700">
              <a:lnSpc>
                <a:spcPct val="100000"/>
              </a:lnSpc>
              <a:spcBef>
                <a:spcPts val="100"/>
              </a:spcBef>
            </a:pPr>
            <a:r>
              <a:rPr sz="2400" spc="-10">
                <a:solidFill>
                  <a:srgbClr val="435D4E"/>
                </a:solidFill>
                <a:latin typeface="楷体" panose="02010609060101010101" charset="-122"/>
                <a:cs typeface="楷体" panose="02010609060101010101" charset="-122"/>
              </a:rPr>
              <a:t>汇报人：</a:t>
            </a:r>
            <a:r>
              <a:rPr lang="zh-CN" altLang="en-US" sz="2400" spc="-10">
                <a:solidFill>
                  <a:srgbClr val="435D4E"/>
                </a:solidFill>
                <a:latin typeface="楷体" panose="02010609060101010101" charset="-122"/>
                <a:cs typeface="楷体" panose="02010609060101010101" charset="-122"/>
              </a:rPr>
              <a:t>郭兴雨</a:t>
            </a:r>
            <a:endParaRPr lang="zh-CN" altLang="en-US" sz="2400" spc="-10">
              <a:solidFill>
                <a:srgbClr val="435D4E"/>
              </a:solidFill>
              <a:latin typeface="楷体" panose="02010609060101010101" charset="-122"/>
              <a:cs typeface="楷体" panose="02010609060101010101" charset="-122"/>
            </a:endParaRPr>
          </a:p>
        </p:txBody>
      </p:sp>
      <p:sp>
        <p:nvSpPr>
          <p:cNvPr id="11" name="object 11"/>
          <p:cNvSpPr txBox="1"/>
          <p:nvPr/>
        </p:nvSpPr>
        <p:spPr>
          <a:xfrm>
            <a:off x="6633464" y="4914392"/>
            <a:ext cx="3074035" cy="391160"/>
          </a:xfrm>
          <a:prstGeom prst="rect">
            <a:avLst/>
          </a:prstGeom>
        </p:spPr>
        <p:txBody>
          <a:bodyPr vert="horz" wrap="square" lIns="0" tIns="12700" rIns="0" bIns="0" rtlCol="0">
            <a:spAutoFit/>
          </a:bodyPr>
          <a:lstStyle/>
          <a:p>
            <a:pPr marL="12700">
              <a:lnSpc>
                <a:spcPct val="100000"/>
              </a:lnSpc>
              <a:spcBef>
                <a:spcPts val="100"/>
              </a:spcBef>
            </a:pPr>
            <a:r>
              <a:rPr sz="2400">
                <a:solidFill>
                  <a:srgbClr val="435D4E"/>
                </a:solidFill>
                <a:latin typeface="楷体" panose="02010609060101010101" charset="-122"/>
                <a:cs typeface="楷体" panose="02010609060101010101" charset="-122"/>
              </a:rPr>
              <a:t>日期：2025年11月12</a:t>
            </a:r>
            <a:r>
              <a:rPr sz="2400" spc="-50">
                <a:solidFill>
                  <a:srgbClr val="435D4E"/>
                </a:solidFill>
                <a:latin typeface="楷体" panose="02010609060101010101" charset="-122"/>
                <a:cs typeface="楷体" panose="02010609060101010101" charset="-122"/>
              </a:rPr>
              <a:t>日</a:t>
            </a:r>
            <a:endParaRPr sz="2400">
              <a:latin typeface="楷体" panose="02010609060101010101" charset="-122"/>
              <a:cs typeface="楷体" panose="02010609060101010101" charset="-122"/>
            </a:endParaRPr>
          </a:p>
        </p:txBody>
      </p:sp>
    </p:spTree>
  </p:cSld>
  <p:clrMapOvr>
    <a:masterClrMapping/>
  </p:clrMapOvr>
  <p:transition/>
</p:sld>
</file>

<file path=ppt/tags/tag1.xml><?xml version="1.0" encoding="utf-8"?>
<p:tagLst xmlns:p="http://schemas.openxmlformats.org/presentationml/2006/main">
  <p:tag name="AS_NET" val="4.0.30319.42000"/>
  <p:tag name="AS_OS" val="Microsoft Windows NT 6.2.9200.0"/>
  <p:tag name="AS_RELEASE_DATE" val="2021.08.14"/>
  <p:tag name="AS_TITLE" val="Aspose.Slides for .NET 4.0 Client Profile"/>
  <p:tag name="AS_VERSION" val="21.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1425</Words>
  <Application>WPS 演示</Application>
  <PresentationFormat/>
  <Paragraphs>109</Paragraphs>
  <Slides>11</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11</vt:i4>
      </vt:variant>
    </vt:vector>
  </HeadingPairs>
  <TitlesOfParts>
    <vt:vector size="27" baseType="lpstr">
      <vt:lpstr>Arial</vt:lpstr>
      <vt:lpstr>宋体</vt:lpstr>
      <vt:lpstr>Wingdings</vt:lpstr>
      <vt:lpstr>微软雅黑</vt:lpstr>
      <vt:lpstr>Microsoft JhengHei</vt:lpstr>
      <vt:lpstr>楷体</vt:lpstr>
      <vt:lpstr>等线</vt:lpstr>
      <vt:lpstr>PMingLiU</vt:lpstr>
      <vt:lpstr>AMGDT</vt:lpstr>
      <vt:lpstr>Times New Roman</vt:lpstr>
      <vt:lpstr>Wingdings</vt:lpstr>
      <vt:lpstr>黑体</vt:lpstr>
      <vt:lpstr>Bahnschrift Light SemiCondensed</vt:lpstr>
      <vt:lpstr>Arial Unicode MS</vt:lpstr>
      <vt:lpstr>Calibri</vt:lpstr>
      <vt:lpstr>Office Theme</vt:lpstr>
      <vt:lpstr>组会进展汇报</vt:lpstr>
      <vt:lpstr>目录</vt:lpstr>
      <vt:lpstr>PowerPoint 演示文稿</vt:lpstr>
      <vt:lpstr>总体框架</vt:lpstr>
      <vt:lpstr>已完成的工作</vt:lpstr>
      <vt:lpstr>研究背景及意义</vt:lpstr>
      <vt:lpstr>PowerPoint 演示文稿</vt:lpstr>
      <vt:lpstr>研究背景及意义</vt:lpstr>
      <vt:lpstr>研究背景及意义</vt:lpstr>
      <vt:lpstr>实现结果</vt:lpstr>
      <vt:lpstr>Shanghai Institute of  Technology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五五</cp:lastModifiedBy>
  <cp:revision>57</cp:revision>
  <cp:lastPrinted>2025-11-12T20:49:00Z</cp:lastPrinted>
  <dcterms:created xsi:type="dcterms:W3CDTF">2025-11-12T20:49:00Z</dcterms:created>
  <dcterms:modified xsi:type="dcterms:W3CDTF">2026-04-05T01:58:53Z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39DC553AEB3B4D10926F2A2F8F515072_13</vt:lpwstr>
  </property>
  <property fmtid="{D5CDD505-2E9C-101B-9397-08002B2CF9AE}" pid="3" name="KSOProductBuildVer">
    <vt:lpwstr>2052-12.1.0.25225</vt:lpwstr>
  </property>
</Properties>
</file>